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Times New Roman Bold" panose="02020803070505020304" pitchFamily="18" charset="0"/>
      <p:regular r:id="rId23"/>
      <p:bold r:id="rId24"/>
    </p:embeddedFont>
    <p:embeddedFont>
      <p:font typeface="Times New Roman MT Bold" panose="02030802070405020303" pitchFamily="18" charset="77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7" autoAdjust="0"/>
  </p:normalViewPr>
  <p:slideViewPr>
    <p:cSldViewPr>
      <p:cViewPr varScale="1">
        <p:scale>
          <a:sx n="64" d="100"/>
          <a:sy n="64" d="100"/>
        </p:scale>
        <p:origin x="200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2361D-CB71-B240-B3A9-FF3E8D629BE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DDD9F-6822-E440-8F9B-14CEA4EA3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74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DDD9F-6822-E440-8F9B-14CEA4EA35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65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585384" y="-3240527"/>
            <a:ext cx="8857621" cy="8857621"/>
          </a:xfrm>
          <a:custGeom>
            <a:avLst/>
            <a:gdLst/>
            <a:ahLst/>
            <a:cxnLst/>
            <a:rect l="l" t="t" r="r" b="b"/>
            <a:pathLst>
              <a:path w="8857621" h="8857621">
                <a:moveTo>
                  <a:pt x="0" y="0"/>
                </a:moveTo>
                <a:lnTo>
                  <a:pt x="8857621" y="0"/>
                </a:lnTo>
                <a:lnTo>
                  <a:pt x="8857621" y="8857620"/>
                </a:lnTo>
                <a:lnTo>
                  <a:pt x="0" y="8857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7978111" y="-791190"/>
            <a:ext cx="10484931" cy="11078190"/>
            <a:chOff x="0" y="0"/>
            <a:chExt cx="2761463" cy="29177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61463" cy="2917713"/>
            </a:xfrm>
            <a:custGeom>
              <a:avLst/>
              <a:gdLst/>
              <a:ahLst/>
              <a:cxnLst/>
              <a:rect l="l" t="t" r="r" b="b"/>
              <a:pathLst>
                <a:path w="2761463" h="2917713">
                  <a:moveTo>
                    <a:pt x="0" y="0"/>
                  </a:moveTo>
                  <a:lnTo>
                    <a:pt x="2761463" y="0"/>
                  </a:lnTo>
                  <a:lnTo>
                    <a:pt x="2761463" y="2917713"/>
                  </a:lnTo>
                  <a:lnTo>
                    <a:pt x="0" y="2917713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761463" cy="2965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63589" y="7627685"/>
            <a:ext cx="8724411" cy="1306549"/>
            <a:chOff x="0" y="0"/>
            <a:chExt cx="2297787" cy="3441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97787" cy="344112"/>
            </a:xfrm>
            <a:custGeom>
              <a:avLst/>
              <a:gdLst/>
              <a:ahLst/>
              <a:cxnLst/>
              <a:rect l="l" t="t" r="r" b="b"/>
              <a:pathLst>
                <a:path w="2297787" h="344112">
                  <a:moveTo>
                    <a:pt x="0" y="0"/>
                  </a:moveTo>
                  <a:lnTo>
                    <a:pt x="2297787" y="0"/>
                  </a:lnTo>
                  <a:lnTo>
                    <a:pt x="2297787" y="344112"/>
                  </a:lnTo>
                  <a:lnTo>
                    <a:pt x="0" y="344112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CEC77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297787" cy="391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42875" y="9494014"/>
            <a:ext cx="3698574" cy="645100"/>
          </a:xfrm>
          <a:custGeom>
            <a:avLst/>
            <a:gdLst/>
            <a:ahLst/>
            <a:cxnLst/>
            <a:rect l="l" t="t" r="r" b="b"/>
            <a:pathLst>
              <a:path w="3698574" h="645100">
                <a:moveTo>
                  <a:pt x="0" y="0"/>
                </a:moveTo>
                <a:lnTo>
                  <a:pt x="3698574" y="0"/>
                </a:lnTo>
                <a:lnTo>
                  <a:pt x="3698574" y="645100"/>
                </a:lnTo>
                <a:lnTo>
                  <a:pt x="0" y="645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896967" y="1054933"/>
            <a:ext cx="9391033" cy="571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0"/>
              </a:lnSpc>
            </a:pPr>
            <a:r>
              <a:rPr lang="en-US" sz="5414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 INTELLIGENT </a:t>
            </a:r>
          </a:p>
          <a:p>
            <a:pPr algn="ctr">
              <a:lnSpc>
                <a:spcPts val="7580"/>
              </a:lnSpc>
              <a:spcBef>
                <a:spcPct val="0"/>
              </a:spcBef>
            </a:pPr>
            <a:r>
              <a:rPr lang="en-US" sz="5414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Decision Support SYSTEM FOR PERSONALIZED INCOME TAX COMPLIANCE AND ADVISORY IN SRI LANKA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51202" y="7954651"/>
            <a:ext cx="8724411" cy="56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3"/>
              </a:lnSpc>
              <a:spcBef>
                <a:spcPct val="0"/>
              </a:spcBef>
            </a:pPr>
            <a:r>
              <a:rPr lang="en-US" sz="318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741829" y="1259389"/>
            <a:ext cx="13864508" cy="7798785"/>
          </a:xfrm>
          <a:custGeom>
            <a:avLst/>
            <a:gdLst/>
            <a:ahLst/>
            <a:cxnLst/>
            <a:rect l="l" t="t" r="r" b="b"/>
            <a:pathLst>
              <a:path w="13864508" h="7798785">
                <a:moveTo>
                  <a:pt x="0" y="0"/>
                </a:moveTo>
                <a:lnTo>
                  <a:pt x="13864507" y="0"/>
                </a:lnTo>
                <a:lnTo>
                  <a:pt x="13864507" y="7798786"/>
                </a:lnTo>
                <a:lnTo>
                  <a:pt x="0" y="77987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51" t="-28000" r="-78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771444" y="382028"/>
            <a:ext cx="8536112" cy="61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3929" b="1">
                <a:solidFill>
                  <a:srgbClr val="80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PP1 PANEL COMMENTS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2397871"/>
            <a:ext cx="9511139" cy="6063351"/>
          </a:xfrm>
          <a:custGeom>
            <a:avLst/>
            <a:gdLst/>
            <a:ahLst/>
            <a:cxnLst/>
            <a:rect l="l" t="t" r="r" b="b"/>
            <a:pathLst>
              <a:path w="9511139" h="6063351">
                <a:moveTo>
                  <a:pt x="0" y="0"/>
                </a:moveTo>
                <a:lnTo>
                  <a:pt x="9511139" y="0"/>
                </a:lnTo>
                <a:lnTo>
                  <a:pt x="9511139" y="6063351"/>
                </a:lnTo>
                <a:lnTo>
                  <a:pt x="0" y="60633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282401" y="696903"/>
            <a:ext cx="6050312" cy="8680346"/>
          </a:xfrm>
          <a:custGeom>
            <a:avLst/>
            <a:gdLst/>
            <a:ahLst/>
            <a:cxnLst/>
            <a:rect l="l" t="t" r="r" b="b"/>
            <a:pathLst>
              <a:path w="6050312" h="8680346">
                <a:moveTo>
                  <a:pt x="0" y="0"/>
                </a:moveTo>
                <a:lnTo>
                  <a:pt x="6050312" y="0"/>
                </a:lnTo>
                <a:lnTo>
                  <a:pt x="6050312" y="8680346"/>
                </a:lnTo>
                <a:lnTo>
                  <a:pt x="0" y="8680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392730" y="836768"/>
            <a:ext cx="8536112" cy="61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3929" b="1">
                <a:solidFill>
                  <a:srgbClr val="80161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WE ADDREESED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29011" y="1466620"/>
            <a:ext cx="471463" cy="471463"/>
          </a:xfrm>
          <a:custGeom>
            <a:avLst/>
            <a:gdLst/>
            <a:ahLst/>
            <a:cxnLst/>
            <a:rect l="l" t="t" r="r" b="b"/>
            <a:pathLst>
              <a:path w="471463" h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747392" y="611585"/>
            <a:ext cx="6299150" cy="73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3"/>
              </a:lnSpc>
              <a:spcBef>
                <a:spcPct val="0"/>
              </a:spcBef>
            </a:pPr>
            <a:r>
              <a:rPr lang="en-US" sz="4281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578457" y="0"/>
            <a:ext cx="6695505" cy="10612497"/>
            <a:chOff x="0" y="0"/>
            <a:chExt cx="406400" cy="6441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6400" cy="644151"/>
            </a:xfrm>
            <a:custGeom>
              <a:avLst/>
              <a:gdLst/>
              <a:ahLst/>
              <a:cxnLst/>
              <a:rect l="l" t="t" r="r" b="b"/>
              <a:pathLst>
                <a:path w="406400" h="644151">
                  <a:moveTo>
                    <a:pt x="203200" y="0"/>
                  </a:moveTo>
                  <a:lnTo>
                    <a:pt x="406400" y="0"/>
                  </a:lnTo>
                  <a:lnTo>
                    <a:pt x="203200" y="644151"/>
                  </a:lnTo>
                  <a:lnTo>
                    <a:pt x="0" y="64415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2899" r="-28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064742" y="-5373672"/>
            <a:ext cx="7349465" cy="11024197"/>
            <a:chOff x="0" y="0"/>
            <a:chExt cx="406400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70043" y="2664429"/>
            <a:ext cx="14892211" cy="354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65"/>
              </a:lnSpc>
              <a:spcBef>
                <a:spcPct val="0"/>
              </a:spcBef>
            </a:pPr>
            <a:r>
              <a:rPr lang="en-US" sz="333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Lankan personal income tax rules are complex and frequently change through Acts, amendments, reliefs, tax rates, and assessment-year-specific provisions. Existing tax calculators mainly provide a tax amount but often do not clearly explain which tax rules were applied, why a relief was allowed, or how the final amount was calculated.</a:t>
            </a:r>
          </a:p>
          <a:p>
            <a:pPr algn="just">
              <a:lnSpc>
                <a:spcPts val="4665"/>
              </a:lnSpc>
              <a:spcBef>
                <a:spcPct val="0"/>
              </a:spcBef>
            </a:pPr>
            <a:endParaRPr lang="en-US" sz="333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665"/>
              </a:lnSpc>
              <a:spcBef>
                <a:spcPct val="0"/>
              </a:spcBef>
            </a:pPr>
            <a:endParaRPr lang="en-US" sz="333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829011" y="1466620"/>
            <a:ext cx="471463" cy="471463"/>
          </a:xfrm>
          <a:custGeom>
            <a:avLst/>
            <a:gdLst/>
            <a:ahLst/>
            <a:cxnLst/>
            <a:rect l="l" t="t" r="r" b="b"/>
            <a:pathLst>
              <a:path w="471463" h="471463">
                <a:moveTo>
                  <a:pt x="0" y="0"/>
                </a:moveTo>
                <a:lnTo>
                  <a:pt x="471462" y="0"/>
                </a:lnTo>
                <a:lnTo>
                  <a:pt x="471462" y="471463"/>
                </a:lnTo>
                <a:lnTo>
                  <a:pt x="0" y="4714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501227" y="370793"/>
            <a:ext cx="5831889" cy="9243650"/>
            <a:chOff x="0" y="0"/>
            <a:chExt cx="406400" cy="6441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6400" cy="644151"/>
            </a:xfrm>
            <a:custGeom>
              <a:avLst/>
              <a:gdLst/>
              <a:ahLst/>
              <a:cxnLst/>
              <a:rect l="l" t="t" r="r" b="b"/>
              <a:pathLst>
                <a:path w="406400" h="644151">
                  <a:moveTo>
                    <a:pt x="203200" y="0"/>
                  </a:moveTo>
                  <a:lnTo>
                    <a:pt x="406400" y="0"/>
                  </a:lnTo>
                  <a:lnTo>
                    <a:pt x="203200" y="644151"/>
                  </a:lnTo>
                  <a:lnTo>
                    <a:pt x="0" y="64415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2899" r="-28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2616" y="1390420"/>
            <a:ext cx="16683345" cy="50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3"/>
              </a:lnSpc>
              <a:spcBef>
                <a:spcPct val="0"/>
              </a:spcBef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 project aims to develop an AI-powered, personalized and explainable tax advisory system that can: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9959" y="2792707"/>
            <a:ext cx="13308657" cy="303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1792" lvl="1" indent="-310896" algn="l">
              <a:lnSpc>
                <a:spcPts val="4031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taxpayer financial information and identify relevant income.</a:t>
            </a:r>
          </a:p>
          <a:p>
            <a:pPr marL="621792" lvl="1" indent="-310896" algn="l">
              <a:lnSpc>
                <a:spcPts val="4031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year-specific Sri Lankan tax rules.</a:t>
            </a:r>
          </a:p>
          <a:p>
            <a:pPr marL="621792" lvl="1" indent="-310896" algn="l">
              <a:lnSpc>
                <a:spcPts val="4031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tax using reliable and deterministic tax logic.</a:t>
            </a:r>
          </a:p>
          <a:p>
            <a:pPr marL="621792" lvl="1" indent="-310896" algn="l">
              <a:lnSpc>
                <a:spcPts val="4031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personalized tax recommendations based on the user's financial profile.</a:t>
            </a:r>
          </a:p>
          <a:p>
            <a:pPr marL="621792" lvl="1" indent="-310896" algn="l">
              <a:lnSpc>
                <a:spcPts val="4031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tax-law questions using retrieved and cited legal sources.</a:t>
            </a:r>
          </a:p>
          <a:p>
            <a:pPr marL="621792" lvl="1" indent="-310896" algn="l">
              <a:lnSpc>
                <a:spcPts val="4031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explanations that allow users and auditors to understand and verify the results.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830118" y="3329027"/>
            <a:ext cx="5294286" cy="6160624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-37327" r="-37327"/>
              </a:stretch>
            </a:blipFill>
            <a:ln w="47625" cap="sq">
              <a:gradFill>
                <a:gsLst>
                  <a:gs pos="0">
                    <a:srgbClr val="180F0F">
                      <a:alpha val="0"/>
                    </a:srgbClr>
                  </a:gs>
                  <a:gs pos="100000">
                    <a:srgbClr val="43401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745768" y="2327345"/>
            <a:ext cx="2088662" cy="2430443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189939" y="7768429"/>
            <a:ext cx="1280358" cy="1489871"/>
            <a:chOff x="0" y="0"/>
            <a:chExt cx="6985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9" name="Object 9"/>
          <p:cNvGraphicFramePr/>
          <p:nvPr/>
        </p:nvGraphicFramePr>
        <p:xfrm>
          <a:off x="571599" y="1008458"/>
          <a:ext cx="377190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521200" imgH="4521200" progId="Excel.Sheet.12">
                  <p:embed/>
                </p:oleObj>
              </mc:Choice>
              <mc:Fallback>
                <p:oleObj name="Worksheet" r:id="rId4" imgW="4521200" imgH="452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1599" y="1008458"/>
                        <a:ext cx="377190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571599" y="126302"/>
            <a:ext cx="5185321" cy="67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3856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STAKEHOLDERS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723093" y="-63887"/>
            <a:ext cx="6803594" cy="2185175"/>
            <a:chOff x="0" y="0"/>
            <a:chExt cx="3553076" cy="11411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53076" cy="1141175"/>
            </a:xfrm>
            <a:custGeom>
              <a:avLst/>
              <a:gdLst/>
              <a:ahLst/>
              <a:cxnLst/>
              <a:rect l="l" t="t" r="r" b="b"/>
              <a:pathLst>
                <a:path w="3553076" h="1141175">
                  <a:moveTo>
                    <a:pt x="0" y="0"/>
                  </a:moveTo>
                  <a:lnTo>
                    <a:pt x="3553076" y="0"/>
                  </a:lnTo>
                  <a:lnTo>
                    <a:pt x="3553076" y="1141175"/>
                  </a:lnTo>
                  <a:lnTo>
                    <a:pt x="0" y="1141175"/>
                  </a:lnTo>
                  <a:close/>
                </a:path>
              </a:pathLst>
            </a:custGeom>
            <a:blipFill>
              <a:blip r:embed="rId3"/>
              <a:stretch>
                <a:fillRect t="-53784" b="-537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256695" y="725810"/>
            <a:ext cx="10367665" cy="1395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sz="3934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OBJECTIVES &amp; GAP ANALYSIS</a:t>
            </a:r>
          </a:p>
          <a:p>
            <a:pPr algn="ctr">
              <a:lnSpc>
                <a:spcPts val="5508"/>
              </a:lnSpc>
              <a:spcBef>
                <a:spcPct val="0"/>
              </a:spcBef>
            </a:pPr>
            <a:endParaRPr lang="en-US" sz="3934" b="1">
              <a:solidFill>
                <a:srgbClr val="80161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465607" y="3073279"/>
            <a:ext cx="7729686" cy="70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3"/>
              </a:lnSpc>
              <a:spcBef>
                <a:spcPct val="0"/>
              </a:spcBef>
            </a:pPr>
            <a:r>
              <a:rPr lang="en-US" sz="398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A:Transaction Semantic Reasoning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956" y="4597244"/>
            <a:ext cx="18097301" cy="239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Gap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Bank statements contain unstructured and ambiguous transactions, making it difficult to accurately identify income types and taxable transactions.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Objective: 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classify financial transactions into relevant income and taxability categories while allowing auditor review and correction.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723093" y="-63887"/>
            <a:ext cx="6803594" cy="2185175"/>
            <a:chOff x="0" y="0"/>
            <a:chExt cx="3553076" cy="11411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53076" cy="1141175"/>
            </a:xfrm>
            <a:custGeom>
              <a:avLst/>
              <a:gdLst/>
              <a:ahLst/>
              <a:cxnLst/>
              <a:rect l="l" t="t" r="r" b="b"/>
              <a:pathLst>
                <a:path w="3553076" h="1141175">
                  <a:moveTo>
                    <a:pt x="0" y="0"/>
                  </a:moveTo>
                  <a:lnTo>
                    <a:pt x="3553076" y="0"/>
                  </a:lnTo>
                  <a:lnTo>
                    <a:pt x="3553076" y="1141175"/>
                  </a:lnTo>
                  <a:lnTo>
                    <a:pt x="0" y="1141175"/>
                  </a:lnTo>
                  <a:close/>
                </a:path>
              </a:pathLst>
            </a:custGeom>
            <a:blipFill>
              <a:blip r:embed="rId3"/>
              <a:stretch>
                <a:fillRect t="-53784" b="-537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256695" y="725810"/>
            <a:ext cx="10367665" cy="1395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sz="3934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OBJECTIVES &amp; GAP ANALYSIS</a:t>
            </a:r>
          </a:p>
          <a:p>
            <a:pPr algn="ctr">
              <a:lnSpc>
                <a:spcPts val="5508"/>
              </a:lnSpc>
              <a:spcBef>
                <a:spcPct val="0"/>
              </a:spcBef>
            </a:pPr>
            <a:endParaRPr lang="en-US" sz="3934" b="1">
              <a:solidFill>
                <a:srgbClr val="80161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195190" y="2900128"/>
            <a:ext cx="9878550" cy="708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2"/>
              </a:lnSpc>
              <a:spcBef>
                <a:spcPct val="0"/>
              </a:spcBef>
            </a:pPr>
            <a:r>
              <a:rPr lang="en-US" sz="398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B: Optimization &amp; Explainable Engine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875" y="4408761"/>
            <a:ext cx="18145125" cy="239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Gap: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Existing tax calculators do not adequately handle changing tax laws or explain how tax amounts are calculated based on the applicable assessment year.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Objective: 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Extract year-specific tax rules from official Acts and use deterministic calculations with traceable explanations and supporting legal sources.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723093" y="-63887"/>
            <a:ext cx="6803594" cy="2185175"/>
            <a:chOff x="0" y="0"/>
            <a:chExt cx="3553076" cy="11411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53076" cy="1141175"/>
            </a:xfrm>
            <a:custGeom>
              <a:avLst/>
              <a:gdLst/>
              <a:ahLst/>
              <a:cxnLst/>
              <a:rect l="l" t="t" r="r" b="b"/>
              <a:pathLst>
                <a:path w="3553076" h="1141175">
                  <a:moveTo>
                    <a:pt x="0" y="0"/>
                  </a:moveTo>
                  <a:lnTo>
                    <a:pt x="3553076" y="0"/>
                  </a:lnTo>
                  <a:lnTo>
                    <a:pt x="3553076" y="1141175"/>
                  </a:lnTo>
                  <a:lnTo>
                    <a:pt x="0" y="1141175"/>
                  </a:lnTo>
                  <a:close/>
                </a:path>
              </a:pathLst>
            </a:custGeom>
            <a:blipFill>
              <a:blip r:embed="rId3"/>
              <a:stretch>
                <a:fillRect t="-53784" b="-537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256695" y="725810"/>
            <a:ext cx="10367665" cy="1395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sz="3934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OBJECTIVES &amp; GAP ANALYSIS</a:t>
            </a:r>
          </a:p>
          <a:p>
            <a:pPr algn="ctr">
              <a:lnSpc>
                <a:spcPts val="5508"/>
              </a:lnSpc>
              <a:spcBef>
                <a:spcPct val="0"/>
              </a:spcBef>
            </a:pPr>
            <a:endParaRPr lang="en-US" sz="3934" b="1">
              <a:solidFill>
                <a:srgbClr val="80161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74318" y="2932050"/>
            <a:ext cx="13476749" cy="708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2"/>
              </a:lnSpc>
              <a:spcBef>
                <a:spcPct val="0"/>
              </a:spcBef>
            </a:pPr>
            <a:r>
              <a:rPr lang="en-US" sz="398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C: Intelligent Tax Advisory Language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8875" y="4128704"/>
            <a:ext cx="18097301" cy="3599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The Gap: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Taxpayers may struggle to understand complex tax laws and obtain reliable answers to tax-related questions from existing sources.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Objective: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relevant, understandable tax-law information using retrieval-based responses with supporting Act/IRD citations.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723093" y="-63887"/>
            <a:ext cx="6803594" cy="2185175"/>
            <a:chOff x="0" y="0"/>
            <a:chExt cx="3553076" cy="11411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53076" cy="1141175"/>
            </a:xfrm>
            <a:custGeom>
              <a:avLst/>
              <a:gdLst/>
              <a:ahLst/>
              <a:cxnLst/>
              <a:rect l="l" t="t" r="r" b="b"/>
              <a:pathLst>
                <a:path w="3553076" h="1141175">
                  <a:moveTo>
                    <a:pt x="0" y="0"/>
                  </a:moveTo>
                  <a:lnTo>
                    <a:pt x="3553076" y="0"/>
                  </a:lnTo>
                  <a:lnTo>
                    <a:pt x="3553076" y="1141175"/>
                  </a:lnTo>
                  <a:lnTo>
                    <a:pt x="0" y="1141175"/>
                  </a:lnTo>
                  <a:close/>
                </a:path>
              </a:pathLst>
            </a:custGeom>
            <a:blipFill>
              <a:blip r:embed="rId3"/>
              <a:stretch>
                <a:fillRect t="-53784" b="-537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256695" y="725810"/>
            <a:ext cx="10367665" cy="1395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sz="3934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OBJECTIVES &amp; GAP ANALYSIS</a:t>
            </a:r>
          </a:p>
          <a:p>
            <a:pPr algn="ctr">
              <a:lnSpc>
                <a:spcPts val="5508"/>
              </a:lnSpc>
              <a:spcBef>
                <a:spcPct val="0"/>
              </a:spcBef>
            </a:pPr>
            <a:endParaRPr lang="en-US" sz="3934" b="1">
              <a:solidFill>
                <a:srgbClr val="80161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16504" y="2654491"/>
            <a:ext cx="14907856" cy="141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3"/>
              </a:lnSpc>
              <a:spcBef>
                <a:spcPct val="0"/>
              </a:spcBef>
            </a:pPr>
            <a:r>
              <a:rPr lang="en-US" sz="398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D: Personalized Recommendation &amp; Predictive Impact Modeling Engine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432" y="4620290"/>
            <a:ext cx="18288000" cy="239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Gap: 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tax-saving recommendations do not consider an individual's financial situation, risk, affordability, and ability to adopt a strategy.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Objective: 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and rank personalized tax strategies based on the user's financial profile and estimate their potential financial impact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4973712"/>
            <a:ext cx="4437915" cy="44379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8495" r="-38495"/>
              </a:stretch>
            </a:blipFill>
            <a:ln w="47625" cap="sq">
              <a:gradFill>
                <a:gsLst>
                  <a:gs pos="0">
                    <a:srgbClr val="180F0F">
                      <a:alpha val="0"/>
                    </a:srgbClr>
                  </a:gs>
                  <a:gs pos="100000">
                    <a:srgbClr val="43401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41197" y="328422"/>
            <a:ext cx="5570934" cy="70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2"/>
              </a:lnSpc>
              <a:spcBef>
                <a:spcPct val="0"/>
              </a:spcBef>
            </a:pPr>
            <a:r>
              <a:rPr lang="en-US" sz="3929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1023" y="1300128"/>
            <a:ext cx="17145953" cy="1012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intelligent AI-driven tax advisory system that processes taxpayer financial information, applies Sri Lankan tax rules, provides personalized recommendations, and delivers explainable, law-grounded tax guidance.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58103" y="3465316"/>
            <a:ext cx="12858874" cy="4799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Transaction Semantic Reasoning</a:t>
            </a:r>
          </a:p>
          <a:p>
            <a:pPr marL="655249" lvl="1" indent="-327624" algn="l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classifies bank transactions into relevant income and taxability categories, with auditor review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  <a:endParaRPr lang="en-US" sz="30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Optimization &amp; Explainable Engine</a:t>
            </a:r>
          </a:p>
          <a:p>
            <a:pPr marL="655249" lvl="1" indent="-327624" algn="l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Extracts year-specific tax rules from Acts and provides deterministic tax calculations with traceable explanations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  <a:endParaRPr lang="en-US" sz="30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8"/>
              </a:lnSpc>
            </a:pPr>
            <a:endParaRPr lang="en-US" sz="30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20883" y="4361591"/>
            <a:ext cx="4437915" cy="44379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8495" r="-38495"/>
              </a:stretch>
            </a:blipFill>
            <a:ln w="47625" cap="sq">
              <a:gradFill>
                <a:gsLst>
                  <a:gs pos="0">
                    <a:srgbClr val="180F0F">
                      <a:alpha val="0"/>
                    </a:srgbClr>
                  </a:gs>
                  <a:gs pos="100000">
                    <a:srgbClr val="43401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41197" y="328422"/>
            <a:ext cx="5570934" cy="70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2"/>
              </a:lnSpc>
              <a:spcBef>
                <a:spcPct val="0"/>
              </a:spcBef>
            </a:pPr>
            <a:r>
              <a:rPr lang="en-US" sz="3929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95854" y="1780836"/>
            <a:ext cx="12858874" cy="4799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8"/>
              </a:lnSpc>
            </a:pPr>
            <a:endParaRPr/>
          </a:p>
          <a:p>
            <a:pPr algn="l">
              <a:lnSpc>
                <a:spcPts val="4248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Personalized Recommendation</a:t>
            </a:r>
          </a:p>
          <a:p>
            <a:pPr marL="655249" lvl="1" indent="-327624" algn="l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personalized tax-saving strategies based on the user's financial profile, preferences, and potential impact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  <a:endParaRPr lang="en-US" sz="30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Tax Advisory Language Model</a:t>
            </a:r>
          </a:p>
          <a:p>
            <a:pPr marL="655249" lvl="1" indent="-327624" algn="l">
              <a:lnSpc>
                <a:spcPts val="4248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relevant tax-law information and provides understandable answers supported by Act/IRD citations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0866" y="296318"/>
            <a:ext cx="17650714" cy="9685829"/>
          </a:xfrm>
          <a:custGeom>
            <a:avLst/>
            <a:gdLst/>
            <a:ahLst/>
            <a:cxnLst/>
            <a:rect l="l" t="t" r="r" b="b"/>
            <a:pathLst>
              <a:path w="17650714" h="9685829">
                <a:moveTo>
                  <a:pt x="0" y="0"/>
                </a:moveTo>
                <a:lnTo>
                  <a:pt x="17650714" y="0"/>
                </a:lnTo>
                <a:lnTo>
                  <a:pt x="17650714" y="9685829"/>
                </a:lnTo>
                <a:lnTo>
                  <a:pt x="0" y="96858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039946" y="0"/>
            <a:ext cx="19767159" cy="1099648"/>
            <a:chOff x="0" y="0"/>
            <a:chExt cx="5206165" cy="2896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06166" cy="289619"/>
            </a:xfrm>
            <a:custGeom>
              <a:avLst/>
              <a:gdLst/>
              <a:ahLst/>
              <a:cxnLst/>
              <a:rect l="l" t="t" r="r" b="b"/>
              <a:pathLst>
                <a:path w="5206166" h="289619">
                  <a:moveTo>
                    <a:pt x="0" y="0"/>
                  </a:moveTo>
                  <a:lnTo>
                    <a:pt x="5206166" y="0"/>
                  </a:lnTo>
                  <a:lnTo>
                    <a:pt x="5206166" y="289619"/>
                  </a:lnTo>
                  <a:lnTo>
                    <a:pt x="0" y="289619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CEC77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06165" cy="337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3661528"/>
            <a:ext cx="3343375" cy="3890472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-37327" r="-37327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383838" y="2892053"/>
            <a:ext cx="3343375" cy="3890472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4"/>
              <a:stretch>
                <a:fillRect l="-37163" r="-37163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386142" y="167952"/>
            <a:ext cx="6312247" cy="658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3"/>
              </a:lnSpc>
              <a:spcBef>
                <a:spcPct val="0"/>
              </a:spcBef>
            </a:pPr>
            <a:r>
              <a:rPr lang="en-US" sz="3681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NON FUNCTIONAL FORCUS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46507" y="2661801"/>
            <a:ext cx="11720200" cy="428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2"/>
              </a:lnSpc>
              <a:spcBef>
                <a:spcPct val="0"/>
              </a:spcBef>
            </a:pPr>
            <a:r>
              <a:rPr lang="en-US" sz="2701" b="1">
                <a:solidFill>
                  <a:srgbClr val="01010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Performance:</a:t>
            </a:r>
          </a:p>
          <a:p>
            <a:pPr algn="l">
              <a:lnSpc>
                <a:spcPts val="3782"/>
              </a:lnSpc>
              <a:spcBef>
                <a:spcPct val="0"/>
              </a:spcBef>
            </a:pPr>
            <a:r>
              <a:rPr lang="en-US" sz="270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⁠Efficient processing of tax data, document retrieval, and tax calculations.</a:t>
            </a:r>
          </a:p>
          <a:p>
            <a:pPr algn="l">
              <a:lnSpc>
                <a:spcPts val="3782"/>
              </a:lnSpc>
              <a:spcBef>
                <a:spcPct val="0"/>
              </a:spcBef>
            </a:pPr>
            <a:endParaRPr lang="en-US" sz="2701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782"/>
              </a:lnSpc>
              <a:spcBef>
                <a:spcPct val="0"/>
              </a:spcBef>
            </a:pPr>
            <a:r>
              <a:rPr lang="en-US" sz="2701" b="1">
                <a:solidFill>
                  <a:srgbClr val="01010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Reliability:</a:t>
            </a:r>
          </a:p>
          <a:p>
            <a:pPr algn="l">
              <a:lnSpc>
                <a:spcPts val="3782"/>
              </a:lnSpc>
              <a:spcBef>
                <a:spcPct val="0"/>
              </a:spcBef>
            </a:pPr>
            <a:r>
              <a:rPr lang="en-US" sz="270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⁠Consistent, traceable outputs with auditor validation and source-based tax rules.</a:t>
            </a:r>
          </a:p>
          <a:p>
            <a:pPr algn="l">
              <a:lnSpc>
                <a:spcPts val="3782"/>
              </a:lnSpc>
              <a:spcBef>
                <a:spcPct val="0"/>
              </a:spcBef>
            </a:pPr>
            <a:endParaRPr lang="en-US" sz="2701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782"/>
              </a:lnSpc>
              <a:spcBef>
                <a:spcPct val="0"/>
              </a:spcBef>
            </a:pPr>
            <a:r>
              <a:rPr lang="en-US" sz="2701" b="1">
                <a:solidFill>
                  <a:srgbClr val="01010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Usability:</a:t>
            </a:r>
          </a:p>
          <a:p>
            <a:pPr algn="l">
              <a:lnSpc>
                <a:spcPts val="3782"/>
              </a:lnSpc>
              <a:spcBef>
                <a:spcPct val="0"/>
              </a:spcBef>
            </a:pPr>
            <a:r>
              <a:rPr lang="en-US" sz="270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⁠Unified interface for tax calculation, recommendations, tax-law Q&amp;A, and auditor review.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039946" y="0"/>
            <a:ext cx="19767159" cy="1099648"/>
            <a:chOff x="0" y="0"/>
            <a:chExt cx="5206165" cy="2896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06166" cy="289619"/>
            </a:xfrm>
            <a:custGeom>
              <a:avLst/>
              <a:gdLst/>
              <a:ahLst/>
              <a:cxnLst/>
              <a:rect l="l" t="t" r="r" b="b"/>
              <a:pathLst>
                <a:path w="5206166" h="289619">
                  <a:moveTo>
                    <a:pt x="0" y="0"/>
                  </a:moveTo>
                  <a:lnTo>
                    <a:pt x="5206166" y="0"/>
                  </a:lnTo>
                  <a:lnTo>
                    <a:pt x="5206166" y="289619"/>
                  </a:lnTo>
                  <a:lnTo>
                    <a:pt x="0" y="289619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CEC77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06165" cy="337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3661528"/>
            <a:ext cx="3343375" cy="3890472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-37327" r="-37327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383838" y="2892053"/>
            <a:ext cx="3343375" cy="3890472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4"/>
              <a:stretch>
                <a:fillRect l="-37163" r="-37163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682176" y="212720"/>
            <a:ext cx="8322915" cy="64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3"/>
              </a:lnSpc>
              <a:spcBef>
                <a:spcPct val="0"/>
              </a:spcBef>
            </a:pPr>
            <a:r>
              <a:rPr lang="en-US" sz="3581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IMPLEMENTATION STATUS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98321" y="2806328"/>
            <a:ext cx="11091358" cy="281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53"/>
              </a:lnSpc>
              <a:spcBef>
                <a:spcPct val="0"/>
              </a:spcBef>
            </a:pPr>
            <a:r>
              <a:rPr lang="en-US" sz="318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100% implemented with all four components integrated through the common application, including transaction classification, year-specific tax calculation, personalized recommendations, and tax-law retrieval with explainable outputs.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836207" y="47784"/>
            <a:ext cx="2012900" cy="70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3"/>
              </a:lnSpc>
              <a:spcBef>
                <a:spcPct val="0"/>
              </a:spcBef>
            </a:pPr>
            <a:r>
              <a:rPr lang="en-US" sz="3981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40111" y="2430963"/>
            <a:ext cx="6205091" cy="652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3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4313"/>
              </a:lnSpc>
              <a:spcBef>
                <a:spcPct val="0"/>
              </a:spcBef>
            </a:pPr>
            <a:r>
              <a:rPr lang="en-US" sz="30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Users</a:t>
            </a:r>
          </a:p>
          <a:p>
            <a:pPr algn="l">
              <a:lnSpc>
                <a:spcPts val="4313"/>
              </a:lnSpc>
              <a:spcBef>
                <a:spcPct val="0"/>
              </a:spcBef>
            </a:pPr>
            <a:endParaRPr lang="en-US" sz="3081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13"/>
              </a:lnSpc>
              <a:spcBef>
                <a:spcPct val="0"/>
              </a:spcBef>
            </a:pPr>
            <a:r>
              <a:rPr lang="en-US" sz="30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⁠Taxpayers</a:t>
            </a:r>
          </a:p>
          <a:p>
            <a:pPr algn="l">
              <a:lnSpc>
                <a:spcPts val="4313"/>
              </a:lnSpc>
              <a:spcBef>
                <a:spcPct val="0"/>
              </a:spcBef>
            </a:pPr>
            <a:r>
              <a:rPr lang="en-US" sz="30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⁠Tax Auditors / Tax Professionals</a:t>
            </a:r>
          </a:p>
          <a:p>
            <a:pPr algn="l">
              <a:lnSpc>
                <a:spcPts val="4313"/>
              </a:lnSpc>
              <a:spcBef>
                <a:spcPct val="0"/>
              </a:spcBef>
            </a:pPr>
            <a:r>
              <a:rPr lang="en-US" sz="30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⁠Researchers / Academic Users</a:t>
            </a:r>
          </a:p>
          <a:p>
            <a:pPr algn="l">
              <a:lnSpc>
                <a:spcPts val="4313"/>
              </a:lnSpc>
              <a:spcBef>
                <a:spcPct val="0"/>
              </a:spcBef>
            </a:pPr>
            <a:endParaRPr lang="en-US" sz="3081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13"/>
              </a:lnSpc>
              <a:spcBef>
                <a:spcPct val="0"/>
              </a:spcBef>
            </a:pPr>
            <a:r>
              <a:rPr lang="en-US" sz="30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</a:t>
            </a:r>
          </a:p>
          <a:p>
            <a:pPr algn="l">
              <a:lnSpc>
                <a:spcPts val="4313"/>
              </a:lnSpc>
              <a:spcBef>
                <a:spcPct val="0"/>
              </a:spcBef>
            </a:pPr>
            <a:endParaRPr lang="en-US" sz="3081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13"/>
              </a:lnSpc>
              <a:spcBef>
                <a:spcPct val="0"/>
              </a:spcBef>
            </a:pPr>
            <a:r>
              <a:rPr lang="en-US" sz="30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⁠Inland Revenue Department</a:t>
            </a:r>
          </a:p>
          <a:p>
            <a:pPr algn="l">
              <a:lnSpc>
                <a:spcPts val="4313"/>
              </a:lnSpc>
              <a:spcBef>
                <a:spcPct val="0"/>
              </a:spcBef>
            </a:pPr>
            <a:r>
              <a:rPr lang="en-US" sz="30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⁠Tax Advisory Firms</a:t>
            </a:r>
          </a:p>
          <a:p>
            <a:pPr algn="l">
              <a:lnSpc>
                <a:spcPts val="4313"/>
              </a:lnSpc>
              <a:spcBef>
                <a:spcPct val="0"/>
              </a:spcBef>
            </a:pPr>
            <a:r>
              <a:rPr lang="en-US" sz="30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⁠Financial / Accounting Organizations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40111" y="1646790"/>
            <a:ext cx="3072557" cy="56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3"/>
              </a:lnSpc>
              <a:spcBef>
                <a:spcPct val="0"/>
              </a:spcBef>
            </a:pPr>
            <a:r>
              <a:rPr lang="en-US" sz="318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USERS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-399092" y="-5718919"/>
            <a:ext cx="19767159" cy="21115034"/>
            <a:chOff x="0" y="0"/>
            <a:chExt cx="5206165" cy="55611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06166" cy="5561161"/>
            </a:xfrm>
            <a:custGeom>
              <a:avLst/>
              <a:gdLst/>
              <a:ahLst/>
              <a:cxnLst/>
              <a:rect l="l" t="t" r="r" b="b"/>
              <a:pathLst>
                <a:path w="5206166" h="5561161">
                  <a:moveTo>
                    <a:pt x="0" y="0"/>
                  </a:moveTo>
                  <a:lnTo>
                    <a:pt x="5206166" y="0"/>
                  </a:lnTo>
                  <a:lnTo>
                    <a:pt x="5206166" y="5561161"/>
                  </a:lnTo>
                  <a:lnTo>
                    <a:pt x="0" y="5561161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06165" cy="5608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36207" y="47784"/>
            <a:ext cx="2012900" cy="70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3"/>
              </a:lnSpc>
              <a:spcBef>
                <a:spcPct val="0"/>
              </a:spcBef>
            </a:pPr>
            <a:r>
              <a:rPr lang="en-US" sz="3981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16122" y="2354709"/>
            <a:ext cx="2061418" cy="57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3"/>
              </a:lnSpc>
              <a:spcBef>
                <a:spcPct val="0"/>
              </a:spcBef>
            </a:pPr>
            <a:r>
              <a:rPr lang="en-US" sz="328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6122" y="3669535"/>
            <a:ext cx="7748290" cy="360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⁠Accurate and year-specific tax calculations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⁠Personalized tax-saving recommendations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⁠Clear, explainable tax results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⁠Tax-law guidance with reliable citations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⁠Auditor review and validation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•⁠  ⁠Reduced manual effort in tax analysis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2650112"/>
            <a:ext cx="5898084" cy="6863225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277378"/>
            <a:ext cx="4877438" cy="5675564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t="-14372" b="-14372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284986" y="500675"/>
            <a:ext cx="7336631" cy="70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3"/>
              </a:lnSpc>
              <a:spcBef>
                <a:spcPct val="0"/>
              </a:spcBef>
            </a:pPr>
            <a:r>
              <a:rPr lang="en-US" sz="3981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COMMERCIALIZATION PLAN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8216" y="2352278"/>
            <a:ext cx="9039969" cy="660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Estimated Monthly Infrastructure Cost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endParaRPr lang="en-US" sz="3381" b="1">
              <a:solidFill>
                <a:srgbClr val="80161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Hosting → LKR 8,000–15,000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&amp; Storage → LKR 6,500–13,000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LLM API Usage → LKR 2,000–8,000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&amp; Backup → LKR 1,500–4,000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endParaRPr lang="en-US" sz="3381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 b="1">
                <a:solidFill>
                  <a:srgbClr val="80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Total Estimate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endParaRPr lang="en-US" sz="3381" b="1">
              <a:solidFill>
                <a:srgbClr val="80161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LKR 18,000 – 40,000 / month</a:t>
            </a:r>
          </a:p>
          <a:p>
            <a:pPr algn="l">
              <a:lnSpc>
                <a:spcPts val="4733"/>
              </a:lnSpc>
              <a:spcBef>
                <a:spcPct val="0"/>
              </a:spcBef>
            </a:pPr>
            <a:r>
              <a:rPr lang="en-US" sz="3381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Depending on the number of users and system usage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0989" r="-217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2650112"/>
            <a:ext cx="5898084" cy="6863225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43401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277378"/>
            <a:ext cx="4877438" cy="5675564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t="-14372" b="-14372"/>
              </a:stretch>
            </a:blipFill>
            <a:ln w="19050" cap="sq">
              <a:gradFill>
                <a:gsLst>
                  <a:gs pos="0">
                    <a:srgbClr val="C1AC8A">
                      <a:alpha val="100000"/>
                    </a:srgbClr>
                  </a:gs>
                  <a:gs pos="100000">
                    <a:srgbClr val="4B583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245949" y="2046368"/>
            <a:ext cx="8640812" cy="6275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3"/>
              </a:lnSpc>
              <a:spcBef>
                <a:spcPct val="0"/>
              </a:spcBef>
            </a:pPr>
            <a:r>
              <a:rPr lang="en-US" sz="3981">
                <a:solidFill>
                  <a:srgbClr val="8016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Adoption Plan: Next Steps</a:t>
            </a:r>
          </a:p>
          <a:p>
            <a:pPr algn="ctr">
              <a:lnSpc>
                <a:spcPts val="4033"/>
              </a:lnSpc>
              <a:spcBef>
                <a:spcPct val="0"/>
              </a:spcBef>
            </a:pPr>
            <a:endParaRPr lang="en-US" sz="3981">
              <a:solidFill>
                <a:srgbClr val="80161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Program</a:t>
            </a: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with sample taxpayer cases</a:t>
            </a: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outputs with a tax auditor</a:t>
            </a: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Optimization</a:t>
            </a: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processing and response time</a:t>
            </a: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AI/API and database performance</a:t>
            </a: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Deployment</a:t>
            </a: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to a cloud environment</a:t>
            </a: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increasing numbers of taxpayers</a:t>
            </a:r>
          </a:p>
          <a:p>
            <a:pPr marL="622087" lvl="1" indent="-311043" algn="l">
              <a:lnSpc>
                <a:spcPts val="4033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Continuously update tax rules and maintain the system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341136" y="9411627"/>
            <a:ext cx="19295485" cy="2932773"/>
            <a:chOff x="0" y="0"/>
            <a:chExt cx="5081938" cy="7724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1938" cy="772418"/>
            </a:xfrm>
            <a:custGeom>
              <a:avLst/>
              <a:gdLst/>
              <a:ahLst/>
              <a:cxnLst/>
              <a:rect l="l" t="t" r="r" b="b"/>
              <a:pathLst>
                <a:path w="5081938" h="772418">
                  <a:moveTo>
                    <a:pt x="0" y="0"/>
                  </a:moveTo>
                  <a:lnTo>
                    <a:pt x="5081938" y="0"/>
                  </a:lnTo>
                  <a:lnTo>
                    <a:pt x="5081938" y="772418"/>
                  </a:lnTo>
                  <a:lnTo>
                    <a:pt x="0" y="772418"/>
                  </a:lnTo>
                  <a:close/>
                </a:path>
              </a:pathLst>
            </a:custGeom>
            <a:solidFill>
              <a:srgbClr val="CBBEB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1938" cy="82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2875" y="9494014"/>
            <a:ext cx="4170929" cy="727488"/>
          </a:xfrm>
          <a:custGeom>
            <a:avLst/>
            <a:gdLst/>
            <a:ahLst/>
            <a:cxnLst/>
            <a:rect l="l" t="t" r="r" b="b"/>
            <a:pathLst>
              <a:path w="4170929" h="727488">
                <a:moveTo>
                  <a:pt x="0" y="0"/>
                </a:moveTo>
                <a:lnTo>
                  <a:pt x="4170929" y="0"/>
                </a:lnTo>
                <a:lnTo>
                  <a:pt x="4170929" y="727488"/>
                </a:lnTo>
                <a:lnTo>
                  <a:pt x="0" y="72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5462253" y="9580344"/>
            <a:ext cx="250230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31/8/2026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12692" y="9604919"/>
            <a:ext cx="196855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999" b="1">
                <a:solidFill>
                  <a:srgbClr val="A1494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R26-DS-004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585384" y="-3240527"/>
            <a:ext cx="8857621" cy="8857621"/>
          </a:xfrm>
          <a:custGeom>
            <a:avLst/>
            <a:gdLst/>
            <a:ahLst/>
            <a:cxnLst/>
            <a:rect l="l" t="t" r="r" b="b"/>
            <a:pathLst>
              <a:path w="8857621" h="8857621">
                <a:moveTo>
                  <a:pt x="0" y="0"/>
                </a:moveTo>
                <a:lnTo>
                  <a:pt x="8857621" y="0"/>
                </a:lnTo>
                <a:lnTo>
                  <a:pt x="8857621" y="8857620"/>
                </a:lnTo>
                <a:lnTo>
                  <a:pt x="0" y="8857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1349623" y="6212023"/>
            <a:ext cx="19767159" cy="1306549"/>
            <a:chOff x="0" y="0"/>
            <a:chExt cx="5206165" cy="3441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06166" cy="344112"/>
            </a:xfrm>
            <a:custGeom>
              <a:avLst/>
              <a:gdLst/>
              <a:ahLst/>
              <a:cxnLst/>
              <a:rect l="l" t="t" r="r" b="b"/>
              <a:pathLst>
                <a:path w="5206166" h="344112">
                  <a:moveTo>
                    <a:pt x="0" y="0"/>
                  </a:moveTo>
                  <a:lnTo>
                    <a:pt x="5206166" y="0"/>
                  </a:lnTo>
                  <a:lnTo>
                    <a:pt x="5206166" y="344112"/>
                  </a:lnTo>
                  <a:lnTo>
                    <a:pt x="0" y="344112"/>
                  </a:lnTo>
                  <a:close/>
                </a:path>
              </a:pathLst>
            </a:custGeom>
            <a:gradFill rotWithShape="1">
              <a:gsLst>
                <a:gs pos="0">
                  <a:srgbClr val="180F0F">
                    <a:alpha val="0"/>
                  </a:srgbClr>
                </a:gs>
                <a:gs pos="100000">
                  <a:srgbClr val="CEC77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206165" cy="391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49036" y="3195169"/>
            <a:ext cx="14989929" cy="313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82"/>
              </a:lnSpc>
              <a:spcBef>
                <a:spcPct val="0"/>
              </a:spcBef>
            </a:pPr>
            <a:r>
              <a:rPr lang="en-US" sz="17844">
                <a:solidFill>
                  <a:srgbClr val="F2D2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3" ma:contentTypeDescription="Create a new document." ma:contentTypeScope="" ma:versionID="ed8957265f396ef1a05f01d558c99f69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1597c9238c56ccca7c2d5e0a413be07c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7095ED5-3304-44EF-82B9-0069FCB1F2F7}"/>
</file>

<file path=customXml/itemProps2.xml><?xml version="1.0" encoding="utf-8"?>
<ds:datastoreItem xmlns:ds="http://schemas.openxmlformats.org/officeDocument/2006/customXml" ds:itemID="{5654B20F-59BF-42E3-8266-EDFD28925633}"/>
</file>

<file path=customXml/itemProps3.xml><?xml version="1.0" encoding="utf-8"?>
<ds:datastoreItem xmlns:ds="http://schemas.openxmlformats.org/officeDocument/2006/customXml" ds:itemID="{92CAF410-DA04-46B6-86AA-B6DA1D4670F8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823</Words>
  <Application>Microsoft Macintosh PowerPoint</Application>
  <PresentationFormat>Custom</PresentationFormat>
  <Paragraphs>143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Aptos</vt:lpstr>
      <vt:lpstr>Times New Roman MT Bold</vt:lpstr>
      <vt:lpstr>Calibri</vt:lpstr>
      <vt:lpstr>Times New Roman Bold</vt:lpstr>
      <vt:lpstr>Times New Roman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Minimalist Lawyer Legal Presentation</dc:title>
  <cp:lastModifiedBy>enith Hassa</cp:lastModifiedBy>
  <cp:revision>2</cp:revision>
  <dcterms:created xsi:type="dcterms:W3CDTF">2006-08-16T00:00:00Z</dcterms:created>
  <dcterms:modified xsi:type="dcterms:W3CDTF">2026-10-11T11:23:42Z</dcterms:modified>
  <dc:identifier>DAHTj3dk9M4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