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43" r:id="rId2"/>
    <p:sldId id="257" r:id="rId3"/>
    <p:sldId id="258" r:id="rId4"/>
    <p:sldId id="344" r:id="rId5"/>
    <p:sldId id="346" r:id="rId6"/>
    <p:sldId id="345" r:id="rId7"/>
    <p:sldId id="356" r:id="rId8"/>
    <p:sldId id="348" r:id="rId9"/>
    <p:sldId id="347" r:id="rId10"/>
    <p:sldId id="358" r:id="rId11"/>
    <p:sldId id="354" r:id="rId12"/>
    <p:sldId id="353" r:id="rId13"/>
    <p:sldId id="357" r:id="rId14"/>
    <p:sldId id="351" r:id="rId15"/>
    <p:sldId id="350" r:id="rId16"/>
    <p:sldId id="362" r:id="rId17"/>
    <p:sldId id="359" r:id="rId18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22"/>
    <p:restoredTop sz="94635"/>
  </p:normalViewPr>
  <p:slideViewPr>
    <p:cSldViewPr snapToGrid="0">
      <p:cViewPr varScale="1">
        <p:scale>
          <a:sx n="140" d="100"/>
          <a:sy n="140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F1BF2-0420-479E-80F0-46541F57565A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581A5-297C-452E-BF4B-D7FD8114B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13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42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74FBF4-BCA1-015D-60E2-6721640E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47478-3F23-1B29-8C0B-9F2BFDA61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F66E0-9ECC-DBEA-CBD5-F5CA8447F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962AE-9263-4616-968D-115DE7FE29F7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1C242-51B7-7DE9-1C7B-20A2606DA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D708A-1C30-9A20-65E1-8AE271841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A36979-CFA8-4402-809E-F7BA828B925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3">
            <a:extLst>
              <a:ext uri="{FF2B5EF4-FFF2-40B4-BE49-F238E27FC236}">
                <a16:creationId xmlns:a16="http://schemas.microsoft.com/office/drawing/2014/main" id="{62E11701-7185-409B-EC83-653AC94D5171}"/>
              </a:ext>
            </a:extLst>
          </p:cNvPr>
          <p:cNvSpPr/>
          <p:nvPr/>
        </p:nvSpPr>
        <p:spPr>
          <a:xfrm>
            <a:off x="-360" y="0"/>
            <a:ext cx="9144360" cy="884775"/>
          </a:xfrm>
          <a:custGeom>
            <a:avLst/>
            <a:gdLst/>
            <a:ahLst/>
            <a:cxnLst/>
            <a:rect l="0" t="0" r="r" b="b"/>
            <a:pathLst>
              <a:path w="25401" h="1119">
                <a:moveTo>
                  <a:pt x="0" y="0"/>
                </a:moveTo>
                <a:lnTo>
                  <a:pt x="25401" y="0"/>
                </a:lnTo>
                <a:lnTo>
                  <a:pt x="2540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16365D"/>
          </a:solidFill>
          <a:ln w="12600">
            <a:solidFill>
              <a:srgbClr val="16365D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5092011-3267-05FB-4F2A-FFF53031F418}"/>
              </a:ext>
            </a:extLst>
          </p:cNvPr>
          <p:cNvSpPr/>
          <p:nvPr/>
        </p:nvSpPr>
        <p:spPr>
          <a:xfrm>
            <a:off x="0" y="4299046"/>
            <a:ext cx="9144360" cy="897571"/>
          </a:xfrm>
          <a:custGeom>
            <a:avLst/>
            <a:gdLst/>
            <a:ahLst/>
            <a:cxnLst/>
            <a:rect l="0" t="0" r="r" b="b"/>
            <a:pathLst>
              <a:path w="25401" h="1119">
                <a:moveTo>
                  <a:pt x="0" y="0"/>
                </a:moveTo>
                <a:lnTo>
                  <a:pt x="25401" y="0"/>
                </a:lnTo>
                <a:lnTo>
                  <a:pt x="2540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16365D"/>
          </a:solidFill>
          <a:ln w="12600">
            <a:solidFill>
              <a:srgbClr val="16365D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FAB58FF7-0D54-5998-7DE0-E48965ED3A2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45690" y="4464971"/>
            <a:ext cx="1784444" cy="458904"/>
          </a:xfrm>
          <a:prstGeom prst="rect">
            <a:avLst/>
          </a:prstGeom>
          <a:ln w="0"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731C1B-E35E-6976-874D-4AA475810533}"/>
              </a:ext>
            </a:extLst>
          </p:cNvPr>
          <p:cNvSpPr txBox="1"/>
          <p:nvPr/>
        </p:nvSpPr>
        <p:spPr>
          <a:xfrm>
            <a:off x="5496296" y="4580124"/>
            <a:ext cx="6165376" cy="561264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b="1" spc="-1">
                <a:solidFill>
                  <a:srgbClr val="FFFFFF"/>
                </a:solidFill>
                <a:latin typeface="Calibri-Bold"/>
              </a:rPr>
              <a:t>Group Number : R26-DS-004</a:t>
            </a:r>
          </a:p>
          <a:p>
            <a:endParaRPr lang="en-US" sz="1600" b="1" spc="-1">
              <a:solidFill>
                <a:srgbClr val="FFFFFF"/>
              </a:solidFill>
              <a:latin typeface="Calibri-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18CC8-3553-2D01-84AE-C2A461BCE92C}"/>
              </a:ext>
            </a:extLst>
          </p:cNvPr>
          <p:cNvSpPr txBox="1"/>
          <p:nvPr/>
        </p:nvSpPr>
        <p:spPr>
          <a:xfrm>
            <a:off x="9356" y="1627001"/>
            <a:ext cx="9004111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100" b="1" dirty="0">
                <a:latin typeface="Times New Roman"/>
                <a:cs typeface="Times New Roman"/>
              </a:rPr>
              <a:t>An Intelligent AI-Driven Decision Support System For</a:t>
            </a:r>
            <a:endParaRPr lang="en-US" sz="3100" dirty="0"/>
          </a:p>
          <a:p>
            <a:pPr algn="ctr"/>
            <a:r>
              <a:rPr lang="en-GB" sz="3100" b="1" dirty="0">
                <a:latin typeface="Times New Roman"/>
                <a:cs typeface="Times New Roman"/>
              </a:rPr>
              <a:t>Personalized Income Tax Compliance and</a:t>
            </a:r>
            <a:endParaRPr lang="en-GB" sz="3100" dirty="0"/>
          </a:p>
          <a:p>
            <a:pPr algn="ctr"/>
            <a:r>
              <a:rPr lang="en-GB" sz="3100" b="1" dirty="0">
                <a:latin typeface="Times New Roman"/>
                <a:cs typeface="Times New Roman"/>
              </a:rPr>
              <a:t>Advisory in Sri Lanka</a:t>
            </a:r>
            <a:endParaRPr lang="en-GB" sz="3100" dirty="0"/>
          </a:p>
          <a:p>
            <a:pPr algn="ctr"/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34425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/>
          <p:cNvSpPr/>
          <p:nvPr/>
        </p:nvSpPr>
        <p:spPr>
          <a:xfrm>
            <a:off x="-5634" y="-16643"/>
            <a:ext cx="9209988" cy="626274"/>
          </a:xfrm>
          <a:custGeom>
            <a:avLst/>
            <a:gdLst/>
            <a:ahLst/>
            <a:cxnLst/>
            <a:rect l="0" t="0" r="r" b="b"/>
            <a:pathLst>
              <a:path w="25401" h="1119">
                <a:moveTo>
                  <a:pt x="0" y="0"/>
                </a:moveTo>
                <a:lnTo>
                  <a:pt x="25401" y="0"/>
                </a:lnTo>
                <a:lnTo>
                  <a:pt x="2540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16365D"/>
          </a:solidFill>
          <a:ln w="12600">
            <a:solidFill>
              <a:srgbClr val="16365D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Times New Roman"/>
                <a:cs typeface="Times New Roman"/>
              </a:rPr>
              <a:t>An Intelligent AI-Driven Decision Support System For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GB" sz="1400" b="1" dirty="0">
                <a:solidFill>
                  <a:schemeClr val="bg1"/>
                </a:solidFill>
                <a:latin typeface="Times New Roman"/>
                <a:cs typeface="Times New Roman"/>
              </a:rPr>
              <a:t>Personalized Income Tax Compliance and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b="1" dirty="0">
                <a:solidFill>
                  <a:schemeClr val="bg1"/>
                </a:solidFill>
                <a:latin typeface="Times New Roman"/>
                <a:cs typeface="Times New Roman"/>
              </a:rPr>
              <a:t>Advisory in</a:t>
            </a:r>
          </a:p>
          <a:p>
            <a:r>
              <a:rPr lang="en-GB" sz="1400" b="1" dirty="0">
                <a:solidFill>
                  <a:schemeClr val="bg1"/>
                </a:solidFill>
                <a:latin typeface="Times New Roman"/>
                <a:cs typeface="Times New Roman"/>
              </a:rPr>
              <a:t> Sri Lanka</a:t>
            </a:r>
            <a:endParaRPr lang="en-GB" sz="1400" dirty="0">
              <a:solidFill>
                <a:schemeClr val="bg1"/>
              </a:solidFill>
            </a:endParaRPr>
          </a:p>
          <a:p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Straight Connector 6"/>
          <p:cNvSpPr/>
          <p:nvPr/>
        </p:nvSpPr>
        <p:spPr>
          <a:xfrm>
            <a:off x="249120" y="891684"/>
            <a:ext cx="8595000" cy="0"/>
          </a:xfrm>
          <a:prstGeom prst="line">
            <a:avLst/>
          </a:prstGeom>
          <a:ln w="19080">
            <a:solidFill>
              <a:srgbClr val="2D7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-54360" rIns="99360" bIns="-543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Straight Connector 7"/>
          <p:cNvSpPr/>
          <p:nvPr/>
        </p:nvSpPr>
        <p:spPr>
          <a:xfrm>
            <a:off x="4599360" y="1207080"/>
            <a:ext cx="0" cy="3456360"/>
          </a:xfrm>
          <a:prstGeom prst="line">
            <a:avLst/>
          </a:prstGeom>
          <a:ln w="9360">
            <a:solidFill>
              <a:srgbClr val="C0C0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4680" tIns="49680" rIns="94680" bIns="496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Freeform: Shape 8"/>
          <p:cNvSpPr/>
          <p:nvPr/>
        </p:nvSpPr>
        <p:spPr>
          <a:xfrm>
            <a:off x="290079" y="985304"/>
            <a:ext cx="4159687" cy="3687027"/>
          </a:xfrm>
          <a:custGeom>
            <a:avLst/>
            <a:gdLst/>
            <a:ahLst/>
            <a:cxnLst/>
            <a:rect l="0" t="0" r="r" b="b"/>
            <a:pathLst>
              <a:path w="11685" h="9602">
                <a:moveTo>
                  <a:pt x="0" y="0"/>
                </a:moveTo>
                <a:lnTo>
                  <a:pt x="11685" y="0"/>
                </a:lnTo>
                <a:lnTo>
                  <a:pt x="11685" y="9602"/>
                </a:lnTo>
                <a:lnTo>
                  <a:pt x="0" y="9602"/>
                </a:lnTo>
                <a:lnTo>
                  <a:pt x="0" y="0"/>
                </a:lnTo>
                <a:close/>
              </a:path>
            </a:pathLst>
          </a:custGeom>
          <a:solidFill>
            <a:srgbClr val="F2F7FC"/>
          </a:solidFill>
          <a:ln w="9360">
            <a:solidFill>
              <a:srgbClr val="D0E4F7"/>
            </a:solidFill>
            <a:round/>
          </a:ln>
        </p:spPr>
        <p:txBody>
          <a:bodyPr lIns="94680" tIns="49680" rIns="94680" bIns="496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Freeform: Shape 9"/>
          <p:cNvSpPr/>
          <p:nvPr/>
        </p:nvSpPr>
        <p:spPr>
          <a:xfrm>
            <a:off x="255960" y="1207080"/>
            <a:ext cx="50760" cy="3456720"/>
          </a:xfrm>
          <a:custGeom>
            <a:avLst/>
            <a:gdLst/>
            <a:ahLst/>
            <a:cxnLst/>
            <a:rect l="0" t="0" r="r" b="b"/>
            <a:pathLst>
              <a:path w="141" h="9602">
                <a:moveTo>
                  <a:pt x="0" y="0"/>
                </a:moveTo>
                <a:lnTo>
                  <a:pt x="141" y="0"/>
                </a:lnTo>
                <a:lnTo>
                  <a:pt x="141" y="9602"/>
                </a:lnTo>
                <a:lnTo>
                  <a:pt x="0" y="9602"/>
                </a:lnTo>
                <a:lnTo>
                  <a:pt x="0" y="0"/>
                </a:lnTo>
                <a:close/>
              </a:path>
            </a:pathLst>
          </a:custGeom>
          <a:solidFill>
            <a:srgbClr val="2D74B6"/>
          </a:solidFill>
          <a:ln w="12600">
            <a:solidFill>
              <a:srgbClr val="2D74B6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84904" y="1108987"/>
            <a:ext cx="4018680" cy="301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b="1" strike="noStrike" spc="-1">
                <a:solidFill>
                  <a:srgbClr val="1E4D78"/>
                </a:solidFill>
                <a:latin typeface="Times New Roman"/>
                <a:ea typeface="Calibri-Bold"/>
                <a:cs typeface="Times New Roman"/>
              </a:rPr>
              <a:t>Proposal Comments</a:t>
            </a:r>
            <a:endParaRPr lang="en-US" sz="1600" b="0" strike="noStrike" spc="-1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2" name="Straight Connector 11"/>
          <p:cNvSpPr/>
          <p:nvPr/>
        </p:nvSpPr>
        <p:spPr>
          <a:xfrm>
            <a:off x="397800" y="1517760"/>
            <a:ext cx="3972960" cy="0"/>
          </a:xfrm>
          <a:prstGeom prst="line">
            <a:avLst/>
          </a:prstGeom>
          <a:ln w="6480">
            <a:solidFill>
              <a:srgbClr val="C0C0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-48240" rIns="93240" bIns="-482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7800" y="1692720"/>
            <a:ext cx="3972960" cy="289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Need a clearer understanding of the financial institution transaction data and expected dataset structure (~20K records) </a:t>
            </a:r>
            <a:endParaRPr lang="en-US" sz="1200" spc="-1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Clarify data availability and feasibility of proceeding with real-world financial </a:t>
            </a:r>
            <a:r>
              <a:rPr lang="en-US" sz="1200" b="0" strike="noStrike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data</a:t>
            </a: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Address ethical clearance and privacy concerns related to financial transaction records </a:t>
            </a:r>
            <a:endParaRPr lang="en-US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Define proper evaluation and validation strategies for all components </a:t>
            </a:r>
            <a:endParaRPr lang="en-US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b="0" strike="noStrike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Improve </a:t>
            </a: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explanation of </a:t>
            </a:r>
            <a:r>
              <a:rPr lang="en-US" sz="1200" b="0" strike="noStrike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AI workflow</a:t>
            </a: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, including Knowledge Graphs, SLMs, and Learning-to-Rank approaches </a:t>
            </a:r>
            <a:endParaRPr lang="en-US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Strengthen system practicality through industry collaboration</a:t>
            </a:r>
            <a:r>
              <a:rPr lang="en-US" sz="1200" b="0" strike="noStrike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 and </a:t>
            </a: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verified data sources</a:t>
            </a:r>
            <a:endParaRPr lang="en-US">
              <a:latin typeface="Times New Roman"/>
              <a:cs typeface="Times New Roman"/>
            </a:endParaRPr>
          </a:p>
          <a:p>
            <a:pPr marL="180975" indent="-180975">
              <a:spcAft>
                <a:spcPts val="400"/>
              </a:spcAft>
              <a:buClr>
                <a:srgbClr val="000000"/>
              </a:buClr>
              <a:buSzPct val="45000"/>
              <a:buFont typeface="Arial"/>
              <a:buChar char="•"/>
            </a:pPr>
            <a:endParaRPr lang="en-US" sz="1200" b="0" strike="noStrike" spc="-1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Freeform: Shape 13"/>
          <p:cNvSpPr/>
          <p:nvPr/>
        </p:nvSpPr>
        <p:spPr>
          <a:xfrm>
            <a:off x="4690330" y="972509"/>
            <a:ext cx="4176746" cy="3691291"/>
          </a:xfrm>
          <a:custGeom>
            <a:avLst/>
            <a:gdLst/>
            <a:ahLst/>
            <a:cxnLst/>
            <a:rect l="0" t="0" r="r" b="b"/>
            <a:pathLst>
              <a:path w="11685" h="9602">
                <a:moveTo>
                  <a:pt x="0" y="0"/>
                </a:moveTo>
                <a:lnTo>
                  <a:pt x="11685" y="0"/>
                </a:lnTo>
                <a:lnTo>
                  <a:pt x="11685" y="9602"/>
                </a:lnTo>
                <a:lnTo>
                  <a:pt x="0" y="9602"/>
                </a:lnTo>
                <a:lnTo>
                  <a:pt x="0" y="0"/>
                </a:lnTo>
                <a:close/>
              </a:path>
            </a:pathLst>
          </a:custGeom>
          <a:solidFill>
            <a:srgbClr val="F2F7FC"/>
          </a:solidFill>
          <a:ln w="9360">
            <a:solidFill>
              <a:srgbClr val="D0E4F7"/>
            </a:solidFill>
            <a:round/>
          </a:ln>
        </p:spPr>
        <p:txBody>
          <a:bodyPr lIns="94680" tIns="49680" rIns="94680" bIns="496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Freeform: Shape 14"/>
          <p:cNvSpPr/>
          <p:nvPr/>
        </p:nvSpPr>
        <p:spPr>
          <a:xfrm>
            <a:off x="4681800" y="1207080"/>
            <a:ext cx="50760" cy="3456720"/>
          </a:xfrm>
          <a:custGeom>
            <a:avLst/>
            <a:gdLst/>
            <a:ahLst/>
            <a:cxnLst/>
            <a:rect l="0" t="0" r="r" b="b"/>
            <a:pathLst>
              <a:path w="141" h="9602">
                <a:moveTo>
                  <a:pt x="0" y="0"/>
                </a:moveTo>
                <a:lnTo>
                  <a:pt x="141" y="0"/>
                </a:lnTo>
                <a:lnTo>
                  <a:pt x="141" y="9602"/>
                </a:lnTo>
                <a:lnTo>
                  <a:pt x="0" y="9602"/>
                </a:lnTo>
                <a:lnTo>
                  <a:pt x="0" y="0"/>
                </a:lnTo>
                <a:close/>
              </a:path>
            </a:pathLst>
          </a:custGeom>
          <a:solidFill>
            <a:srgbClr val="2D74B6"/>
          </a:solidFill>
          <a:ln w="12600">
            <a:solidFill>
              <a:srgbClr val="2D74B6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05577" y="1108987"/>
            <a:ext cx="4018680" cy="301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b="1" strike="noStrike" spc="-1">
                <a:solidFill>
                  <a:srgbClr val="1E4D78"/>
                </a:solidFill>
                <a:latin typeface="Times New Roman"/>
                <a:ea typeface="Calibri-Bold"/>
                <a:cs typeface="Times New Roman"/>
              </a:rPr>
              <a:t>How the Comments Were Addressed</a:t>
            </a:r>
            <a:endParaRPr lang="en-US" sz="1600" b="0" strike="noStrike" spc="-1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17" name="Straight Connector 16"/>
          <p:cNvSpPr/>
          <p:nvPr/>
        </p:nvSpPr>
        <p:spPr>
          <a:xfrm>
            <a:off x="4823640" y="1517760"/>
            <a:ext cx="3972960" cy="0"/>
          </a:xfrm>
          <a:prstGeom prst="line">
            <a:avLst/>
          </a:prstGeom>
          <a:ln w="6480">
            <a:solidFill>
              <a:srgbClr val="C0C0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-48240" rIns="93240" bIns="-482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23640" y="1692720"/>
            <a:ext cx="3972960" cy="289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Collaborated with EY for financial data support and domain guidance </a:t>
            </a:r>
            <a:endParaRPr lang="en-US" sz="1200" spc="-1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Improved understanding of financial transaction data and preprocessing methods </a:t>
            </a:r>
            <a:endParaRPr lang="en-US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b="0" strike="noStrike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Added </a:t>
            </a: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ethical handling using anonymized and synthetic datasets </a:t>
            </a:r>
            <a:endParaRPr lang="en-US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Defined evaluation </a:t>
            </a:r>
            <a:r>
              <a:rPr lang="en-US" sz="1200" b="0" strike="noStrike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and </a:t>
            </a: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validation methods for all components </a:t>
            </a:r>
            <a:endParaRPr lang="en-US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b="0" strike="noStrike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Improved AI </a:t>
            </a: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workflow </a:t>
            </a:r>
            <a:r>
              <a:rPr lang="en-US" sz="1200" b="0" strike="noStrike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and </a:t>
            </a: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explainable recommendation process </a:t>
            </a:r>
            <a:endParaRPr lang="en-US">
              <a:latin typeface="Times New Roman"/>
              <a:cs typeface="Times New Roman"/>
            </a:endParaRPr>
          </a:p>
          <a:p>
            <a:pPr marL="171450" indent="-171450">
              <a:buFont typeface="Arial"/>
              <a:buChar char="•"/>
            </a:pPr>
            <a:r>
              <a:rPr lang="en-US" sz="1200" b="0" strike="noStrike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Enhanced </a:t>
            </a: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system feasibility with industry support </a:t>
            </a:r>
            <a:r>
              <a:rPr lang="en-US" sz="1200" b="0" strike="noStrike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and </a:t>
            </a:r>
            <a:r>
              <a:rPr lang="en-US" sz="1200" spc="-1">
                <a:solidFill>
                  <a:srgbClr val="252525"/>
                </a:solidFill>
                <a:latin typeface="Times New Roman"/>
                <a:ea typeface="+mn-lt"/>
                <a:cs typeface="Times New Roman"/>
              </a:rPr>
              <a:t>validation</a:t>
            </a:r>
            <a:endParaRPr lang="en-US">
              <a:latin typeface="Times New Roman"/>
              <a:cs typeface="Times New Roman"/>
            </a:endParaRPr>
          </a:p>
          <a:p>
            <a:pPr marL="180975" indent="-180975">
              <a:spcAft>
                <a:spcPts val="400"/>
              </a:spcAft>
              <a:buClr>
                <a:srgbClr val="000000"/>
              </a:buClr>
              <a:buSzPct val="45000"/>
              <a:buFont typeface="Arial"/>
              <a:buChar char="•"/>
            </a:pPr>
            <a:endParaRPr lang="en-US" sz="1200" b="0" strike="noStrike" spc="-1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Straight Connector 18"/>
          <p:cNvSpPr/>
          <p:nvPr/>
        </p:nvSpPr>
        <p:spPr>
          <a:xfrm>
            <a:off x="0" y="4773240"/>
            <a:ext cx="9144000" cy="0"/>
          </a:xfrm>
          <a:prstGeom prst="line">
            <a:avLst/>
          </a:prstGeom>
          <a:ln w="12600">
            <a:solidFill>
              <a:srgbClr val="2D7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-51120" rIns="96120" bIns="-511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Picture 19"/>
          <p:cNvPicPr/>
          <p:nvPr/>
        </p:nvPicPr>
        <p:blipFill>
          <a:blip r:embed="rId2"/>
          <a:stretch/>
        </p:blipFill>
        <p:spPr>
          <a:xfrm>
            <a:off x="137160" y="4818960"/>
            <a:ext cx="914400" cy="228600"/>
          </a:xfrm>
          <a:prstGeom prst="rect">
            <a:avLst/>
          </a:prstGeom>
          <a:ln w="0">
            <a:noFill/>
          </a:ln>
        </p:spPr>
      </p:pic>
      <p:sp>
        <p:nvSpPr>
          <p:cNvPr id="21" name="TextBox 20"/>
          <p:cNvSpPr txBox="1"/>
          <p:nvPr/>
        </p:nvSpPr>
        <p:spPr>
          <a:xfrm>
            <a:off x="1188720" y="4818960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900" b="1" spc="-1">
                <a:solidFill>
                  <a:srgbClr val="585858"/>
                </a:solidFill>
                <a:latin typeface="Calibri-Bold"/>
              </a:rPr>
              <a:t>R26-DS-004</a:t>
            </a:r>
          </a:p>
          <a:p>
            <a:endParaRPr lang="en-US" sz="900" b="1" spc="-1">
              <a:solidFill>
                <a:srgbClr val="585858"/>
              </a:solidFill>
              <a:latin typeface="Calibri-Bol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03920" y="4818960"/>
            <a:ext cx="502920" cy="228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/>
            <a:r>
              <a:rPr lang="en-US" sz="900" b="1" strike="noStrike" spc="-1">
                <a:solidFill>
                  <a:srgbClr val="585858"/>
                </a:solidFill>
                <a:latin typeface="Calibri-Bold"/>
                <a:ea typeface="Calibri-Bold"/>
              </a:rPr>
              <a:t>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/>
          <p:cNvSpPr/>
          <p:nvPr/>
        </p:nvSpPr>
        <p:spPr>
          <a:xfrm>
            <a:off x="0" y="0"/>
            <a:ext cx="9144360" cy="402840"/>
          </a:xfrm>
          <a:custGeom>
            <a:avLst/>
            <a:gdLst/>
            <a:ahLst/>
            <a:cxnLst/>
            <a:rect l="0" t="0" r="r" b="b"/>
            <a:pathLst>
              <a:path w="25401" h="1119">
                <a:moveTo>
                  <a:pt x="0" y="0"/>
                </a:moveTo>
                <a:lnTo>
                  <a:pt x="25401" y="0"/>
                </a:lnTo>
                <a:lnTo>
                  <a:pt x="2540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16365D"/>
          </a:solidFill>
          <a:ln w="12600">
            <a:solidFill>
              <a:srgbClr val="16365D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Straight Connector 27"/>
          <p:cNvSpPr/>
          <p:nvPr/>
        </p:nvSpPr>
        <p:spPr>
          <a:xfrm>
            <a:off x="4599360" y="1207080"/>
            <a:ext cx="0" cy="3438000"/>
          </a:xfrm>
          <a:prstGeom prst="line">
            <a:avLst/>
          </a:prstGeom>
          <a:ln w="9360">
            <a:solidFill>
              <a:srgbClr val="C0C0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4680" tIns="49680" rIns="94680" bIns="496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Freeform: Shape 28"/>
          <p:cNvSpPr/>
          <p:nvPr/>
        </p:nvSpPr>
        <p:spPr>
          <a:xfrm>
            <a:off x="302875" y="746468"/>
            <a:ext cx="4159687" cy="2088532"/>
          </a:xfrm>
          <a:custGeom>
            <a:avLst/>
            <a:gdLst/>
            <a:ahLst/>
            <a:cxnLst/>
            <a:rect l="0" t="0" r="r" b="b"/>
            <a:pathLst>
              <a:path w="11685" h="4522">
                <a:moveTo>
                  <a:pt x="0" y="0"/>
                </a:moveTo>
                <a:lnTo>
                  <a:pt x="11685" y="0"/>
                </a:lnTo>
                <a:lnTo>
                  <a:pt x="11685" y="4522"/>
                </a:lnTo>
                <a:lnTo>
                  <a:pt x="0" y="4522"/>
                </a:lnTo>
                <a:lnTo>
                  <a:pt x="0" y="0"/>
                </a:lnTo>
                <a:close/>
              </a:path>
            </a:pathLst>
          </a:custGeom>
          <a:solidFill>
            <a:srgbClr val="F2F7FC"/>
          </a:solidFill>
          <a:ln w="9360">
            <a:solidFill>
              <a:srgbClr val="D0E4F7"/>
            </a:solidFill>
            <a:round/>
          </a:ln>
        </p:spPr>
        <p:txBody>
          <a:bodyPr lIns="94680" tIns="49680" rIns="94680" bIns="496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0" name="Freeform: Shape 29"/>
          <p:cNvSpPr/>
          <p:nvPr/>
        </p:nvSpPr>
        <p:spPr>
          <a:xfrm>
            <a:off x="251695" y="942655"/>
            <a:ext cx="50760" cy="1627920"/>
          </a:xfrm>
          <a:custGeom>
            <a:avLst/>
            <a:gdLst/>
            <a:ahLst/>
            <a:cxnLst/>
            <a:rect l="0" t="0" r="r" b="b"/>
            <a:pathLst>
              <a:path w="141" h="4522">
                <a:moveTo>
                  <a:pt x="0" y="0"/>
                </a:moveTo>
                <a:lnTo>
                  <a:pt x="141" y="0"/>
                </a:lnTo>
                <a:lnTo>
                  <a:pt x="141" y="4522"/>
                </a:lnTo>
                <a:lnTo>
                  <a:pt x="0" y="4522"/>
                </a:lnTo>
                <a:lnTo>
                  <a:pt x="0" y="0"/>
                </a:lnTo>
                <a:close/>
              </a:path>
            </a:pathLst>
          </a:custGeom>
          <a:solidFill>
            <a:srgbClr val="2D74B6"/>
          </a:solidFill>
          <a:ln w="12600">
            <a:solidFill>
              <a:srgbClr val="2D74B6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54599" y="754998"/>
            <a:ext cx="4018680" cy="301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400" b="1" strike="noStrike" spc="-1" dirty="0">
                <a:solidFill>
                  <a:srgbClr val="1E4D78"/>
                </a:solidFill>
                <a:latin typeface="Times New Roman" panose="02020603050405020304" pitchFamily="18" charset="0"/>
                <a:ea typeface="Calibri-Bold"/>
                <a:cs typeface="Times New Roman" panose="02020603050405020304" pitchFamily="18" charset="0"/>
              </a:rPr>
              <a:t>Problem, It's Impact / Gravity</a:t>
            </a:r>
            <a:endParaRPr lang="en-US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traight Connector 31"/>
          <p:cNvSpPr/>
          <p:nvPr/>
        </p:nvSpPr>
        <p:spPr>
          <a:xfrm>
            <a:off x="372210" y="1078473"/>
            <a:ext cx="3972960" cy="0"/>
          </a:xfrm>
          <a:prstGeom prst="line">
            <a:avLst/>
          </a:prstGeom>
          <a:ln w="6480">
            <a:solidFill>
              <a:srgbClr val="C0C0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-48240" rIns="93240" bIns="-482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97800" y="1206519"/>
            <a:ext cx="3972960" cy="1068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Sri Lankan taxpayers struggle to understand complex income tax regulations </a:t>
            </a:r>
            <a:endParaRPr lang="en-US" sz="1200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Existing tax systems mainly support filing and tax calculation only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Taxpayers depend heavily on auditors and tax consultants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Lack of </a:t>
            </a:r>
            <a:r>
              <a:rPr lang="en-US" sz="1200" b="0" strike="noStrike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personalized and </a:t>
            </a: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explainable tax planning support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815" indent="-170815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endParaRPr lang="en-US" sz="1200" b="0" strike="noStrike" spc="-1" dirty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Freeform: Shape 33"/>
          <p:cNvSpPr/>
          <p:nvPr/>
        </p:nvSpPr>
        <p:spPr>
          <a:xfrm>
            <a:off x="4750040" y="1207080"/>
            <a:ext cx="4168216" cy="1809159"/>
          </a:xfrm>
          <a:custGeom>
            <a:avLst/>
            <a:gdLst/>
            <a:ahLst/>
            <a:cxnLst/>
            <a:rect l="0" t="0" r="r" b="b"/>
            <a:pathLst>
              <a:path w="11685" h="9551">
                <a:moveTo>
                  <a:pt x="0" y="0"/>
                </a:moveTo>
                <a:lnTo>
                  <a:pt x="11685" y="0"/>
                </a:lnTo>
                <a:lnTo>
                  <a:pt x="11685" y="9551"/>
                </a:lnTo>
                <a:lnTo>
                  <a:pt x="0" y="9551"/>
                </a:lnTo>
                <a:lnTo>
                  <a:pt x="0" y="0"/>
                </a:lnTo>
                <a:close/>
              </a:path>
            </a:pathLst>
          </a:custGeom>
          <a:solidFill>
            <a:srgbClr val="F2F7FC"/>
          </a:solidFill>
          <a:ln w="9360">
            <a:solidFill>
              <a:srgbClr val="D0E4F7"/>
            </a:solidFill>
            <a:round/>
          </a:ln>
        </p:spPr>
        <p:txBody>
          <a:bodyPr lIns="94680" tIns="49680" rIns="94680" bIns="496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5" name="Freeform: Shape 34"/>
          <p:cNvSpPr/>
          <p:nvPr/>
        </p:nvSpPr>
        <p:spPr>
          <a:xfrm>
            <a:off x="4596502" y="853091"/>
            <a:ext cx="50760" cy="3438360"/>
          </a:xfrm>
          <a:custGeom>
            <a:avLst/>
            <a:gdLst/>
            <a:ahLst/>
            <a:cxnLst/>
            <a:rect l="0" t="0" r="r" b="b"/>
            <a:pathLst>
              <a:path w="141" h="9551">
                <a:moveTo>
                  <a:pt x="0" y="0"/>
                </a:moveTo>
                <a:lnTo>
                  <a:pt x="141" y="0"/>
                </a:lnTo>
                <a:lnTo>
                  <a:pt x="141" y="9551"/>
                </a:lnTo>
                <a:lnTo>
                  <a:pt x="0" y="9551"/>
                </a:lnTo>
                <a:lnTo>
                  <a:pt x="0" y="0"/>
                </a:lnTo>
                <a:close/>
              </a:path>
            </a:pathLst>
          </a:custGeom>
          <a:solidFill>
            <a:srgbClr val="2D74B6"/>
          </a:solidFill>
          <a:ln w="12600">
            <a:solidFill>
              <a:srgbClr val="2D74B6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750040" y="1231637"/>
            <a:ext cx="4018680" cy="416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400" b="1" strike="noStrike" spc="-1" dirty="0">
                <a:solidFill>
                  <a:srgbClr val="1E4D78"/>
                </a:solidFill>
                <a:latin typeface="Times New Roman" panose="02020603050405020304" pitchFamily="18" charset="0"/>
                <a:ea typeface="Calibri-Bold"/>
                <a:cs typeface="Times New Roman" panose="02020603050405020304" pitchFamily="18" charset="0"/>
              </a:rPr>
              <a:t>Person / Group / Society / Institution / Technology</a:t>
            </a:r>
            <a:endParaRPr lang="en-US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traight Connector 36"/>
          <p:cNvSpPr/>
          <p:nvPr/>
        </p:nvSpPr>
        <p:spPr>
          <a:xfrm>
            <a:off x="4823640" y="1517760"/>
            <a:ext cx="3972960" cy="0"/>
          </a:xfrm>
          <a:prstGeom prst="line">
            <a:avLst/>
          </a:prstGeom>
          <a:ln w="6480">
            <a:solidFill>
              <a:srgbClr val="C0C0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-48240" rIns="93240" bIns="-482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23640" y="1692720"/>
            <a:ext cx="3972960" cy="1068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Individual taxpayers and salaried employees </a:t>
            </a:r>
            <a:endParaRPr lang="en-US" sz="1200" spc="-1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Freelancers </a:t>
            </a:r>
            <a:r>
              <a:rPr lang="en-US" sz="1200" b="0" strike="noStrike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and </a:t>
            </a: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mixed-income earners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Tax consultants </a:t>
            </a:r>
            <a:r>
              <a:rPr lang="en-US" sz="1200" b="0" strike="noStrike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and </a:t>
            </a: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auditors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Inland Revenue Department (IRD) </a:t>
            </a:r>
            <a:r>
              <a:rPr lang="en-US" sz="1200" b="0" strike="noStrike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Sri </a:t>
            </a: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Lanka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815" indent="-170815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endParaRPr lang="en-US" sz="1100" b="0" strike="noStrike" spc="-1" dirty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9" name="Freeform: Shape 38"/>
          <p:cNvSpPr/>
          <p:nvPr/>
        </p:nvSpPr>
        <p:spPr>
          <a:xfrm>
            <a:off x="255960" y="2926080"/>
            <a:ext cx="4206600" cy="1719360"/>
          </a:xfrm>
          <a:custGeom>
            <a:avLst/>
            <a:gdLst/>
            <a:ahLst/>
            <a:cxnLst/>
            <a:rect l="0" t="0" r="r" b="b"/>
            <a:pathLst>
              <a:path w="11685" h="4776">
                <a:moveTo>
                  <a:pt x="0" y="0"/>
                </a:moveTo>
                <a:lnTo>
                  <a:pt x="11685" y="0"/>
                </a:lnTo>
                <a:lnTo>
                  <a:pt x="11685" y="4776"/>
                </a:lnTo>
                <a:lnTo>
                  <a:pt x="0" y="4776"/>
                </a:lnTo>
                <a:lnTo>
                  <a:pt x="0" y="0"/>
                </a:lnTo>
                <a:close/>
              </a:path>
            </a:pathLst>
          </a:custGeom>
          <a:solidFill>
            <a:srgbClr val="F2F7FC"/>
          </a:solidFill>
          <a:ln w="9360">
            <a:solidFill>
              <a:srgbClr val="D0E4F7"/>
            </a:solidFill>
            <a:round/>
          </a:ln>
        </p:spPr>
        <p:txBody>
          <a:bodyPr lIns="94680" tIns="49680" rIns="94680" bIns="496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Freeform: Shape 39"/>
          <p:cNvSpPr/>
          <p:nvPr/>
        </p:nvSpPr>
        <p:spPr>
          <a:xfrm>
            <a:off x="255960" y="2926080"/>
            <a:ext cx="50760" cy="1719360"/>
          </a:xfrm>
          <a:custGeom>
            <a:avLst/>
            <a:gdLst/>
            <a:ahLst/>
            <a:cxnLst/>
            <a:rect l="0" t="0" r="r" b="b"/>
            <a:pathLst>
              <a:path w="141" h="4776">
                <a:moveTo>
                  <a:pt x="0" y="0"/>
                </a:moveTo>
                <a:lnTo>
                  <a:pt x="141" y="0"/>
                </a:lnTo>
                <a:lnTo>
                  <a:pt x="141" y="4776"/>
                </a:lnTo>
                <a:lnTo>
                  <a:pt x="0" y="4776"/>
                </a:lnTo>
                <a:lnTo>
                  <a:pt x="0" y="0"/>
                </a:lnTo>
                <a:close/>
              </a:path>
            </a:pathLst>
          </a:custGeom>
          <a:solidFill>
            <a:srgbClr val="1E4D78"/>
          </a:solidFill>
          <a:ln w="12600">
            <a:solidFill>
              <a:srgbClr val="1E4D78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53182" y="2913660"/>
            <a:ext cx="4018680" cy="301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400" b="1" strike="noStrike" spc="-1" dirty="0">
                <a:solidFill>
                  <a:srgbClr val="16365D"/>
                </a:solidFill>
                <a:latin typeface="Times New Roman" panose="02020603050405020304" pitchFamily="18" charset="0"/>
                <a:ea typeface="Calibri-Bold"/>
                <a:cs typeface="Times New Roman" panose="02020603050405020304" pitchFamily="18" charset="0"/>
              </a:rPr>
              <a:t>Design Excellence of the Overall Solution</a:t>
            </a:r>
            <a:endParaRPr lang="en-US" sz="1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traight Connector 41"/>
          <p:cNvSpPr/>
          <p:nvPr/>
        </p:nvSpPr>
        <p:spPr>
          <a:xfrm>
            <a:off x="397800" y="3237120"/>
            <a:ext cx="3972960" cy="0"/>
          </a:xfrm>
          <a:prstGeom prst="line">
            <a:avLst/>
          </a:prstGeom>
          <a:ln w="6480">
            <a:solidFill>
              <a:srgbClr val="C0C0C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-48240" rIns="93240" bIns="-482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97800" y="3411720"/>
            <a:ext cx="3972960" cy="1160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buClr>
                <a:srgbClr val="000000"/>
              </a:buClr>
              <a:buSzPct val="45000"/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AI-driven personalized tax advisory system </a:t>
            </a:r>
            <a:endParaRPr lang="en-US" sz="12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200" b="0" strike="noStrike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Explainable and </a:t>
            </a: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transparent tax recommendations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Intelligent tax strategy optimization and prediction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Integrated platform combining compliance, advisory, </a:t>
            </a:r>
            <a:r>
              <a:rPr lang="en-US" sz="1200" b="0" strike="noStrike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and </a:t>
            </a:r>
            <a:r>
              <a:rPr lang="en-US" sz="1200" spc="-1" dirty="0">
                <a:solidFill>
                  <a:srgbClr val="252525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recommendation modules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815" indent="-170815">
              <a:spcAft>
                <a:spcPts val="400"/>
              </a:spcAft>
              <a:buClr>
                <a:srgbClr val="000000"/>
              </a:buClr>
              <a:buSzPct val="45000"/>
              <a:buFont typeface=""/>
              <a:buChar char=""/>
            </a:pPr>
            <a:endParaRPr lang="en-US" sz="1100" b="0" strike="noStrike" spc="-1" dirty="0">
              <a:solidFill>
                <a:srgbClr val="252525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Straight Connector 43"/>
          <p:cNvSpPr/>
          <p:nvPr/>
        </p:nvSpPr>
        <p:spPr>
          <a:xfrm>
            <a:off x="0" y="4773240"/>
            <a:ext cx="9144000" cy="0"/>
          </a:xfrm>
          <a:prstGeom prst="line">
            <a:avLst/>
          </a:prstGeom>
          <a:ln w="12600">
            <a:solidFill>
              <a:srgbClr val="2D7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-51120" rIns="96120" bIns="-5112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Picture 44"/>
          <p:cNvPicPr/>
          <p:nvPr/>
        </p:nvPicPr>
        <p:blipFill>
          <a:blip r:embed="rId2"/>
          <a:stretch/>
        </p:blipFill>
        <p:spPr>
          <a:xfrm>
            <a:off x="137160" y="4818960"/>
            <a:ext cx="914400" cy="228600"/>
          </a:xfrm>
          <a:prstGeom prst="rect">
            <a:avLst/>
          </a:prstGeom>
          <a:ln w="0">
            <a:noFill/>
          </a:ln>
        </p:spPr>
      </p:pic>
      <p:sp>
        <p:nvSpPr>
          <p:cNvPr id="46" name="TextBox 45"/>
          <p:cNvSpPr txBox="1"/>
          <p:nvPr/>
        </p:nvSpPr>
        <p:spPr>
          <a:xfrm>
            <a:off x="1188720" y="4818960"/>
            <a:ext cx="5943600" cy="228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900" b="1" spc="-1">
                <a:solidFill>
                  <a:srgbClr val="585858"/>
                </a:solidFill>
                <a:latin typeface="Calibri-Bold"/>
              </a:rPr>
              <a:t>R26-DS-004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03920" y="4818960"/>
            <a:ext cx="502920" cy="228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/>
            <a:r>
              <a:rPr lang="en-US" sz="900" b="1" strike="noStrike" spc="-1">
                <a:solidFill>
                  <a:srgbClr val="585858"/>
                </a:solidFill>
                <a:latin typeface="Calibri-Bold"/>
                <a:ea typeface="Calibri-Bold"/>
              </a:rPr>
              <a:t>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Freeform: Shape 3">
            <a:extLst>
              <a:ext uri="{FF2B5EF4-FFF2-40B4-BE49-F238E27FC236}">
                <a16:creationId xmlns:a16="http://schemas.microsoft.com/office/drawing/2014/main" id="{810E8770-1180-D0E9-8E8B-DFBDF462FC62}"/>
              </a:ext>
            </a:extLst>
          </p:cNvPr>
          <p:cNvSpPr/>
          <p:nvPr/>
        </p:nvSpPr>
        <p:spPr>
          <a:xfrm>
            <a:off x="-5634" y="-16643"/>
            <a:ext cx="9209988" cy="626274"/>
          </a:xfrm>
          <a:custGeom>
            <a:avLst/>
            <a:gdLst/>
            <a:ahLst/>
            <a:cxnLst/>
            <a:rect l="0" t="0" r="r" b="b"/>
            <a:pathLst>
              <a:path w="25401" h="1119">
                <a:moveTo>
                  <a:pt x="0" y="0"/>
                </a:moveTo>
                <a:lnTo>
                  <a:pt x="25401" y="0"/>
                </a:lnTo>
                <a:lnTo>
                  <a:pt x="2540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16365D"/>
          </a:solidFill>
          <a:ln w="12600">
            <a:solidFill>
              <a:srgbClr val="16365D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Times New Roman"/>
                <a:cs typeface="Times New Roman"/>
              </a:rPr>
              <a:t>An Intelligent AI-Driven Decision Support System For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GB" sz="1400" b="1" dirty="0">
                <a:solidFill>
                  <a:schemeClr val="bg1"/>
                </a:solidFill>
                <a:latin typeface="Times New Roman"/>
                <a:cs typeface="Times New Roman"/>
              </a:rPr>
              <a:t>Personalized Income Tax Compliance and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b="1" dirty="0">
                <a:solidFill>
                  <a:schemeClr val="bg1"/>
                </a:solidFill>
                <a:latin typeface="Times New Roman"/>
                <a:cs typeface="Times New Roman"/>
              </a:rPr>
              <a:t>Advisory in</a:t>
            </a:r>
          </a:p>
          <a:p>
            <a:r>
              <a:rPr lang="en-GB" sz="1400" b="1" dirty="0">
                <a:solidFill>
                  <a:schemeClr val="bg1"/>
                </a:solidFill>
                <a:latin typeface="Times New Roman"/>
                <a:cs typeface="Times New Roman"/>
              </a:rPr>
              <a:t> Sri Lanka</a:t>
            </a:r>
            <a:endParaRPr lang="en-GB" sz="1400" dirty="0">
              <a:solidFill>
                <a:schemeClr val="bg1"/>
              </a:solidFill>
            </a:endParaRPr>
          </a:p>
          <a:p>
            <a:endParaRPr lang="en-US" sz="18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B2B3DA37-B0CF-4979-CC44-A5BD024EBF26}"/>
              </a:ext>
            </a:extLst>
          </p:cNvPr>
          <p:cNvSpPr/>
          <p:nvPr/>
        </p:nvSpPr>
        <p:spPr>
          <a:xfrm>
            <a:off x="247320" y="742040"/>
            <a:ext cx="8595000" cy="0"/>
          </a:xfrm>
          <a:prstGeom prst="line">
            <a:avLst/>
          </a:prstGeom>
          <a:ln w="19080">
            <a:solidFill>
              <a:srgbClr val="2D7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9360" tIns="-54360" rIns="99360" bIns="-5436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49756-BF2F-C846-F204-B6A90B9E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A6351E-D6AB-AEF3-2B1B-B97A041D4F1A}"/>
              </a:ext>
            </a:extLst>
          </p:cNvPr>
          <p:cNvSpPr txBox="1"/>
          <p:nvPr/>
        </p:nvSpPr>
        <p:spPr>
          <a:xfrm>
            <a:off x="399143" y="210457"/>
            <a:ext cx="677817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IT22118936 | Samarasinghe K.A.E.H.N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14BD7E-D505-6C3B-DF30-365A53F8E0B7}"/>
              </a:ext>
            </a:extLst>
          </p:cNvPr>
          <p:cNvCxnSpPr>
            <a:cxnSpLocks/>
          </p:cNvCxnSpPr>
          <p:nvPr/>
        </p:nvCxnSpPr>
        <p:spPr>
          <a:xfrm flipV="1">
            <a:off x="401176" y="1960719"/>
            <a:ext cx="7092779" cy="2675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BA58AD-5EDE-7CE6-6C3F-248746881989}"/>
              </a:ext>
            </a:extLst>
          </p:cNvPr>
          <p:cNvCxnSpPr>
            <a:cxnSpLocks/>
          </p:cNvCxnSpPr>
          <p:nvPr/>
        </p:nvCxnSpPr>
        <p:spPr>
          <a:xfrm flipV="1">
            <a:off x="508252" y="3633375"/>
            <a:ext cx="7092779" cy="2675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2A183D6-6F49-665D-00FD-6FF2040512AA}"/>
              </a:ext>
            </a:extLst>
          </p:cNvPr>
          <p:cNvSpPr txBox="1"/>
          <p:nvPr/>
        </p:nvSpPr>
        <p:spPr>
          <a:xfrm>
            <a:off x="310079" y="2344243"/>
            <a:ext cx="852047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76000"/>
                  </a:schemeClr>
                </a:solidFill>
                <a:latin typeface="Times New Roman"/>
                <a:cs typeface="Times New Roman"/>
              </a:rPr>
              <a:t>Financial Transaction Semantic Reasoning Taxable Income Inference</a:t>
            </a:r>
            <a:endParaRPr lang="en-US" sz="300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A762BA-D3C3-874A-E6A8-2F56E588CD64}"/>
              </a:ext>
            </a:extLst>
          </p:cNvPr>
          <p:cNvSpPr txBox="1"/>
          <p:nvPr/>
        </p:nvSpPr>
        <p:spPr>
          <a:xfrm>
            <a:off x="336721" y="4191683"/>
            <a:ext cx="248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AAF8B2-2EB7-AABF-0212-5D9BA14C5BFB}"/>
              </a:ext>
            </a:extLst>
          </p:cNvPr>
          <p:cNvSpPr txBox="1"/>
          <p:nvPr/>
        </p:nvSpPr>
        <p:spPr>
          <a:xfrm>
            <a:off x="1979386" y="4746171"/>
            <a:ext cx="685723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IT22118936</a:t>
            </a:r>
            <a:r>
              <a:rPr lang="en-US">
                <a:latin typeface="Times New Roman"/>
                <a:cs typeface="Times New Roman"/>
              </a:rPr>
              <a:t>   |</a:t>
            </a:r>
            <a:r>
              <a:rPr lang="en-US" b="1">
                <a:latin typeface="Times New Roman"/>
                <a:cs typeface="Times New Roman"/>
              </a:rPr>
              <a:t>   Samarasinghe K.A.E.H.N</a:t>
            </a:r>
            <a:r>
              <a:rPr lang="en-US">
                <a:latin typeface="Times New Roman"/>
                <a:cs typeface="Times New Roman"/>
              </a:rPr>
              <a:t>| </a:t>
            </a:r>
            <a:r>
              <a:rPr lang="en-US">
                <a:latin typeface="Times New Roman"/>
                <a:ea typeface="Calibri"/>
                <a:cs typeface="Times New Roman"/>
              </a:rPr>
              <a:t>R26-DS-004</a:t>
            </a:r>
            <a:endParaRPr lang="en-US"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F914E2-ECCA-2061-BDA9-8FD878BB039C}"/>
              </a:ext>
            </a:extLst>
          </p:cNvPr>
          <p:cNvSpPr txBox="1"/>
          <p:nvPr/>
        </p:nvSpPr>
        <p:spPr>
          <a:xfrm>
            <a:off x="399620" y="156840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Individual Component 01</a:t>
            </a:r>
          </a:p>
        </p:txBody>
      </p:sp>
      <p:pic>
        <p:nvPicPr>
          <p:cNvPr id="9" name="Picture 8" descr="A person in a suit&#10;&#10;AI-generated content may be incorrect.">
            <a:extLst>
              <a:ext uri="{FF2B5EF4-FFF2-40B4-BE49-F238E27FC236}">
                <a16:creationId xmlns:a16="http://schemas.microsoft.com/office/drawing/2014/main" id="{9C756C82-3CAC-BB9A-E8F8-4C4E40738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594" y="81642"/>
            <a:ext cx="1894973" cy="18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912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FEF9E-2901-2643-E742-80881484F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650AF4-3CA8-DD6B-CB9C-568D02AC3F3E}"/>
              </a:ext>
            </a:extLst>
          </p:cNvPr>
          <p:cNvCxnSpPr>
            <a:cxnSpLocks/>
          </p:cNvCxnSpPr>
          <p:nvPr/>
        </p:nvCxnSpPr>
        <p:spPr>
          <a:xfrm>
            <a:off x="372861" y="649465"/>
            <a:ext cx="861420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631A47-07B3-0F7B-0AB7-92F9320DA286}"/>
              </a:ext>
            </a:extLst>
          </p:cNvPr>
          <p:cNvSpPr txBox="1"/>
          <p:nvPr/>
        </p:nvSpPr>
        <p:spPr>
          <a:xfrm>
            <a:off x="508000" y="709999"/>
            <a:ext cx="4023669" cy="19620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/>
                <a:ea typeface="+mn-lt"/>
                <a:cs typeface="Times New Roman"/>
              </a:rPr>
              <a:t>Problem Addressed</a:t>
            </a:r>
            <a:endParaRPr lang="en-US"/>
          </a:p>
          <a:p>
            <a:endParaRPr lang="en-US" sz="1350" b="1">
              <a:latin typeface="Times New Roman"/>
              <a:ea typeface="+mn-lt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Manual transaction review is slow and difficult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Bank transaction descriptions are unclear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Existing systems cannot accurately identify taxable income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Structured financial reasoning is needed for downstream modules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350">
              <a:latin typeface="Aptos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3B0912-4277-5150-65C7-C0AC23FF478A}"/>
              </a:ext>
            </a:extLst>
          </p:cNvPr>
          <p:cNvSpPr txBox="1"/>
          <p:nvPr/>
        </p:nvSpPr>
        <p:spPr>
          <a:xfrm>
            <a:off x="474928" y="2492255"/>
            <a:ext cx="4170658" cy="27930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Financial transaction data from bank statements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Features collected: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Description 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Amount 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Date 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Transaction type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Preprocessing: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Cleaning &amp; normalization 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Feature extraction </a:t>
            </a:r>
            <a:endParaRPr lang="en-US">
              <a:latin typeface="Times New Roman"/>
              <a:cs typeface="Times New Roman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Train-test split </a:t>
            </a:r>
            <a:endParaRPr lang="en-US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D13C01-C3CC-5881-D97D-33DABA9A6D34}"/>
              </a:ext>
            </a:extLst>
          </p:cNvPr>
          <p:cNvSpPr txBox="1"/>
          <p:nvPr/>
        </p:nvSpPr>
        <p:spPr>
          <a:xfrm>
            <a:off x="4914902" y="711493"/>
            <a:ext cx="36004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ML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D1B3D2-F070-72F9-679F-468BE05C5CA4}"/>
              </a:ext>
            </a:extLst>
          </p:cNvPr>
          <p:cNvSpPr txBox="1"/>
          <p:nvPr/>
        </p:nvSpPr>
        <p:spPr>
          <a:xfrm>
            <a:off x="4872266" y="3596923"/>
            <a:ext cx="4114799" cy="15465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 dirty="0">
                <a:latin typeface="Times New Roman"/>
                <a:ea typeface="+mn-lt"/>
                <a:cs typeface="Times New Roman"/>
              </a:rPr>
              <a:t>Why Distil BERT?</a:t>
            </a:r>
            <a:endParaRPr lang="en-US" b="1" dirty="0">
              <a:latin typeface="Times New Roman"/>
              <a:ea typeface="+mn-lt"/>
              <a:cs typeface="Times New Roman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Strong multilingual text understanding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Good performance for transaction classification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Lightweight and efficient for deployment</a:t>
            </a:r>
            <a:endParaRPr lang="en-US" dirty="0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888B1F-0159-3930-F20E-CF190A5FF7A7}"/>
              </a:ext>
            </a:extLst>
          </p:cNvPr>
          <p:cNvCxnSpPr>
            <a:cxnSpLocks/>
          </p:cNvCxnSpPr>
          <p:nvPr/>
        </p:nvCxnSpPr>
        <p:spPr>
          <a:xfrm>
            <a:off x="508000" y="1027665"/>
            <a:ext cx="1771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2DC543-E928-AD12-4470-2539F96A2F7F}"/>
              </a:ext>
            </a:extLst>
          </p:cNvPr>
          <p:cNvCxnSpPr>
            <a:cxnSpLocks/>
          </p:cNvCxnSpPr>
          <p:nvPr/>
        </p:nvCxnSpPr>
        <p:spPr>
          <a:xfrm>
            <a:off x="509658" y="2764501"/>
            <a:ext cx="2480619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9AEB9D-4B7D-59A6-169E-D8D0DF18036D}"/>
              </a:ext>
            </a:extLst>
          </p:cNvPr>
          <p:cNvCxnSpPr>
            <a:cxnSpLocks/>
          </p:cNvCxnSpPr>
          <p:nvPr/>
        </p:nvCxnSpPr>
        <p:spPr>
          <a:xfrm>
            <a:off x="4914902" y="976184"/>
            <a:ext cx="164190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3155AF-656E-D43C-A44C-3F8CE3A6A3D0}"/>
              </a:ext>
            </a:extLst>
          </p:cNvPr>
          <p:cNvCxnSpPr>
            <a:cxnSpLocks/>
          </p:cNvCxnSpPr>
          <p:nvPr/>
        </p:nvCxnSpPr>
        <p:spPr>
          <a:xfrm>
            <a:off x="4914902" y="3891643"/>
            <a:ext cx="1268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C69140-F038-BB40-584F-6ACB90A0CC24}"/>
              </a:ext>
            </a:extLst>
          </p:cNvPr>
          <p:cNvCxnSpPr>
            <a:cxnSpLocks/>
          </p:cNvCxnSpPr>
          <p:nvPr/>
        </p:nvCxnSpPr>
        <p:spPr>
          <a:xfrm>
            <a:off x="142660" y="2472060"/>
            <a:ext cx="428625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6162E7C-F66F-1CD9-B37F-D9DF14EE4CF1}"/>
              </a:ext>
            </a:extLst>
          </p:cNvPr>
          <p:cNvCxnSpPr>
            <a:cxnSpLocks/>
          </p:cNvCxnSpPr>
          <p:nvPr/>
        </p:nvCxnSpPr>
        <p:spPr>
          <a:xfrm flipH="1">
            <a:off x="4663130" y="685800"/>
            <a:ext cx="10811" cy="41148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61B3F7-26FE-0DB7-1D2D-6F56932ACA26}"/>
              </a:ext>
            </a:extLst>
          </p:cNvPr>
          <p:cNvCxnSpPr>
            <a:cxnSpLocks/>
          </p:cNvCxnSpPr>
          <p:nvPr/>
        </p:nvCxnSpPr>
        <p:spPr>
          <a:xfrm>
            <a:off x="4878604" y="3600450"/>
            <a:ext cx="399586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diagram of a diagram&#10;&#10;AI-generated content may be incorrect.">
            <a:extLst>
              <a:ext uri="{FF2B5EF4-FFF2-40B4-BE49-F238E27FC236}">
                <a16:creationId xmlns:a16="http://schemas.microsoft.com/office/drawing/2014/main" id="{08CCECBC-A1D4-78DC-912B-E903246FE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756" y="1144482"/>
            <a:ext cx="4283989" cy="20947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D7F5B3-9493-7DE9-44DF-026CACD8C040}"/>
              </a:ext>
            </a:extLst>
          </p:cNvPr>
          <p:cNvSpPr txBox="1"/>
          <p:nvPr/>
        </p:nvSpPr>
        <p:spPr>
          <a:xfrm>
            <a:off x="373838" y="169731"/>
            <a:ext cx="8142799" cy="6678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aseline="0">
                <a:solidFill>
                  <a:srgbClr val="104963"/>
                </a:solidFill>
                <a:latin typeface="Times New Roman"/>
                <a:ea typeface="Segoe UI"/>
                <a:cs typeface="Segoe UI"/>
              </a:rPr>
              <a:t>Financial Transaction Semantic Reasoning and Taxable Income Inference</a:t>
            </a:r>
            <a:endParaRPr lang="en-GB"/>
          </a:p>
          <a:p>
            <a:pPr algn="ctr"/>
            <a:endParaRPr lang="en-GB"/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FBBECD02-5204-4399-04F1-1223EB20647B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62940" y="4806071"/>
            <a:ext cx="1292537" cy="31883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13780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27F27-6902-01A0-5862-EE1057A2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FF2B5EF4-FFF2-40B4-BE49-F238E27FC236}">
                <a16:creationId xmlns:a16="http://schemas.microsoft.com/office/drawing/2014/main" id="{F803CC18-07F5-4956-2F82-F0A619CD3AEC}"/>
              </a:ext>
            </a:extLst>
          </p:cNvPr>
          <p:cNvSpPr txBox="1">
            <a:spLocks/>
          </p:cNvSpPr>
          <p:nvPr/>
        </p:nvSpPr>
        <p:spPr>
          <a:xfrm>
            <a:off x="371475" y="202080"/>
            <a:ext cx="7772400" cy="514350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6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br>
              <a:rPr lang="en-US" sz="3000"/>
            </a:br>
            <a:endParaRPr lang="en-US" sz="3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40B6D0-DCC6-77F9-8EF9-54662BE0C2FE}"/>
              </a:ext>
            </a:extLst>
          </p:cNvPr>
          <p:cNvSpPr txBox="1"/>
          <p:nvPr/>
        </p:nvSpPr>
        <p:spPr>
          <a:xfrm>
            <a:off x="342900" y="685800"/>
            <a:ext cx="4229100" cy="19620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How the Solution Addresses the Problem</a:t>
            </a:r>
          </a:p>
          <a:p>
            <a:endParaRPr lang="en-US" sz="13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Extracts and structures financial transactions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Classifies semantic income categories using AI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Applies Sri Lankan tax rules for taxability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Generates explainable tax reasoning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Flags uncertain transactions for review</a:t>
            </a:r>
            <a:endParaRPr lang="en-US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>
              <a:latin typeface="Times New Roman"/>
              <a:cs typeface="Times New Roman"/>
            </a:endParaRPr>
          </a:p>
          <a:p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EE395-4C42-E7FA-EE72-F3220DBFAA57}"/>
              </a:ext>
            </a:extLst>
          </p:cNvPr>
          <p:cNvSpPr txBox="1"/>
          <p:nvPr/>
        </p:nvSpPr>
        <p:spPr>
          <a:xfrm>
            <a:off x="4857750" y="685825"/>
            <a:ext cx="3971924" cy="19620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Prototype Features</a:t>
            </a:r>
          </a:p>
          <a:p>
            <a:endParaRPr lang="en-US" sz="13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Document upload and transaction extraction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Transaction classification and taxability analysis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Taxable income summary generation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Batch transaction processing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Export and review functionality</a:t>
            </a:r>
            <a:endParaRPr lang="en-US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D500D0-8F06-5D1A-7131-AC59201C43E8}"/>
              </a:ext>
            </a:extLst>
          </p:cNvPr>
          <p:cNvSpPr txBox="1"/>
          <p:nvPr/>
        </p:nvSpPr>
        <p:spPr>
          <a:xfrm>
            <a:off x="341396" y="2569714"/>
            <a:ext cx="431482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Excellence / Contribution</a:t>
            </a:r>
          </a:p>
          <a:p>
            <a:endParaRPr lang="en-US" sz="13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Hybrid AI + rule-based tax reasoning architecture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Explainable and transparent taxability decisions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Supports multilingual financial transaction descriptions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Structured outputs for downstream advisory modules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Scalable and modular system design</a:t>
            </a:r>
            <a:endParaRPr lang="en-US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3D3AC-995F-CE66-5A1F-23C074EF36B1}"/>
              </a:ext>
            </a:extLst>
          </p:cNvPr>
          <p:cNvSpPr txBox="1"/>
          <p:nvPr/>
        </p:nvSpPr>
        <p:spPr>
          <a:xfrm>
            <a:off x="4914900" y="2686050"/>
            <a:ext cx="404220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on Prototype</a:t>
            </a:r>
          </a:p>
          <a:p>
            <a:endParaRPr lang="en-US" sz="13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Users preferred automated transaction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Explainable outputs improved user trust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Batch processing reduced manual effort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Tax summaries helped improve understanding</a:t>
            </a:r>
            <a:endParaRPr lang="en-US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222BF1-085E-2E15-75C8-6451503AFF86}"/>
              </a:ext>
            </a:extLst>
          </p:cNvPr>
          <p:cNvCxnSpPr>
            <a:cxnSpLocks/>
          </p:cNvCxnSpPr>
          <p:nvPr/>
        </p:nvCxnSpPr>
        <p:spPr>
          <a:xfrm>
            <a:off x="342900" y="971550"/>
            <a:ext cx="33718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7E7F84-F1DB-5593-ABB8-4B8DF7DFF8F0}"/>
              </a:ext>
            </a:extLst>
          </p:cNvPr>
          <p:cNvCxnSpPr>
            <a:cxnSpLocks/>
          </p:cNvCxnSpPr>
          <p:nvPr/>
        </p:nvCxnSpPr>
        <p:spPr>
          <a:xfrm>
            <a:off x="4857750" y="971550"/>
            <a:ext cx="17145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34DFF6-4E8F-E0D2-4630-27CF0BF810E1}"/>
              </a:ext>
            </a:extLst>
          </p:cNvPr>
          <p:cNvCxnSpPr>
            <a:cxnSpLocks/>
          </p:cNvCxnSpPr>
          <p:nvPr/>
        </p:nvCxnSpPr>
        <p:spPr>
          <a:xfrm flipV="1">
            <a:off x="369971" y="2855352"/>
            <a:ext cx="2686050" cy="772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B47FAB-8EEB-6004-862A-BF34D6149082}"/>
              </a:ext>
            </a:extLst>
          </p:cNvPr>
          <p:cNvCxnSpPr>
            <a:cxnSpLocks/>
          </p:cNvCxnSpPr>
          <p:nvPr/>
        </p:nvCxnSpPr>
        <p:spPr>
          <a:xfrm>
            <a:off x="4914900" y="2971800"/>
            <a:ext cx="234315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E155032-0436-45A0-0C1A-8AAC4ADA5AFC}"/>
              </a:ext>
            </a:extLst>
          </p:cNvPr>
          <p:cNvCxnSpPr>
            <a:cxnSpLocks/>
          </p:cNvCxnSpPr>
          <p:nvPr/>
        </p:nvCxnSpPr>
        <p:spPr>
          <a:xfrm>
            <a:off x="87581" y="2253343"/>
            <a:ext cx="440055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868F43-C580-1DF0-2FBA-6945997C0A9F}"/>
              </a:ext>
            </a:extLst>
          </p:cNvPr>
          <p:cNvCxnSpPr>
            <a:cxnSpLocks/>
          </p:cNvCxnSpPr>
          <p:nvPr/>
        </p:nvCxnSpPr>
        <p:spPr>
          <a:xfrm>
            <a:off x="4743450" y="571500"/>
            <a:ext cx="0" cy="42291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E4B476C-B9F2-F9C6-7C53-5A58AB7EC8E6}"/>
              </a:ext>
            </a:extLst>
          </p:cNvPr>
          <p:cNvCxnSpPr>
            <a:cxnSpLocks/>
          </p:cNvCxnSpPr>
          <p:nvPr/>
        </p:nvCxnSpPr>
        <p:spPr>
          <a:xfrm>
            <a:off x="4857750" y="2571750"/>
            <a:ext cx="4099353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542F7F-79DE-1737-2FF3-6F02977AF789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371475" y="459255"/>
            <a:ext cx="84010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0A3E5AF-DE1B-4FAB-347E-C844B6C3483B}"/>
              </a:ext>
            </a:extLst>
          </p:cNvPr>
          <p:cNvSpPr txBox="1"/>
          <p:nvPr/>
        </p:nvSpPr>
        <p:spPr>
          <a:xfrm>
            <a:off x="292195" y="49415"/>
            <a:ext cx="785060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800" b="0" i="0" u="none" strike="noStrike" baseline="0">
                <a:solidFill>
                  <a:srgbClr val="104963"/>
                </a:solidFill>
                <a:latin typeface="Times New Roman"/>
                <a:ea typeface="Segoe UI"/>
                <a:cs typeface="Segoe UI"/>
              </a:rPr>
              <a:t>Financial Transaction Semantic Reasoning and Taxable Income Inference</a:t>
            </a:r>
            <a:r>
              <a:rPr lang="en-GB" sz="1800" b="0" i="0" u="none" strike="noStrike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GB" sz="1800" b="0" i="0" u="none" strike="noStrike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GB"/>
          </a:p>
        </p:txBody>
      </p: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47642BDE-D979-CE13-27AC-ACA4AC68311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62940" y="4806071"/>
            <a:ext cx="1292537" cy="31883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911560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FB3CA-4014-3DE0-8408-1E7683F8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F5DE31-3C83-1724-84FF-56F8F0D23E8E}"/>
              </a:ext>
            </a:extLst>
          </p:cNvPr>
          <p:cNvSpPr txBox="1"/>
          <p:nvPr/>
        </p:nvSpPr>
        <p:spPr>
          <a:xfrm>
            <a:off x="399143" y="210457"/>
            <a:ext cx="677817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IT22064486 | </a:t>
            </a:r>
            <a:r>
              <a:rPr lang="en-US" b="1" err="1">
                <a:latin typeface="Times New Roman"/>
                <a:cs typeface="Times New Roman"/>
              </a:rPr>
              <a:t>Chalanika</a:t>
            </a:r>
            <a:r>
              <a:rPr lang="en-US" b="1">
                <a:latin typeface="Times New Roman"/>
                <a:cs typeface="Times New Roman"/>
              </a:rPr>
              <a:t> A.L.V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CF72BF-A6D4-4A87-DF04-2EF801D27562}"/>
              </a:ext>
            </a:extLst>
          </p:cNvPr>
          <p:cNvCxnSpPr>
            <a:cxnSpLocks/>
          </p:cNvCxnSpPr>
          <p:nvPr/>
        </p:nvCxnSpPr>
        <p:spPr>
          <a:xfrm flipV="1">
            <a:off x="401176" y="1960719"/>
            <a:ext cx="7092779" cy="2675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972A0EF-EEBF-4106-C330-103A0517811C}"/>
              </a:ext>
            </a:extLst>
          </p:cNvPr>
          <p:cNvCxnSpPr>
            <a:cxnSpLocks/>
          </p:cNvCxnSpPr>
          <p:nvPr/>
        </p:nvCxnSpPr>
        <p:spPr>
          <a:xfrm flipV="1">
            <a:off x="508252" y="3633375"/>
            <a:ext cx="7092779" cy="2675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7B24285-99EC-C072-2021-766FE03B82B7}"/>
              </a:ext>
            </a:extLst>
          </p:cNvPr>
          <p:cNvSpPr txBox="1"/>
          <p:nvPr/>
        </p:nvSpPr>
        <p:spPr>
          <a:xfrm>
            <a:off x="310079" y="2344243"/>
            <a:ext cx="852047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000">
                <a:solidFill>
                  <a:schemeClr val="accent1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Tax Strategy Optimization &amp; Explainable Decision Engine</a:t>
            </a:r>
            <a:endParaRPr lang="en-US">
              <a:solidFill>
                <a:schemeClr val="accent1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7ECFD-72F6-E1F9-0569-9F4E40C5A482}"/>
              </a:ext>
            </a:extLst>
          </p:cNvPr>
          <p:cNvSpPr txBox="1"/>
          <p:nvPr/>
        </p:nvSpPr>
        <p:spPr>
          <a:xfrm>
            <a:off x="336721" y="4191683"/>
            <a:ext cx="248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21918F-7E27-C521-A631-BF0BD6E982D8}"/>
              </a:ext>
            </a:extLst>
          </p:cNvPr>
          <p:cNvSpPr txBox="1"/>
          <p:nvPr/>
        </p:nvSpPr>
        <p:spPr>
          <a:xfrm>
            <a:off x="1979386" y="4746171"/>
            <a:ext cx="685723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IT22064486</a:t>
            </a:r>
            <a:r>
              <a:rPr lang="en-US">
                <a:latin typeface="Times New Roman"/>
                <a:cs typeface="Times New Roman"/>
              </a:rPr>
              <a:t>   |</a:t>
            </a:r>
            <a:r>
              <a:rPr lang="en-US" b="1">
                <a:latin typeface="Times New Roman"/>
                <a:cs typeface="Times New Roman"/>
              </a:rPr>
              <a:t>   </a:t>
            </a:r>
            <a:r>
              <a:rPr lang="en-US" b="1" err="1">
                <a:latin typeface="Times New Roman"/>
                <a:cs typeface="Times New Roman"/>
              </a:rPr>
              <a:t>Chalanika</a:t>
            </a:r>
            <a:r>
              <a:rPr lang="en-US" b="1">
                <a:latin typeface="Times New Roman"/>
                <a:cs typeface="Times New Roman"/>
              </a:rPr>
              <a:t> A.L.V</a:t>
            </a:r>
            <a:r>
              <a:rPr lang="en-US">
                <a:latin typeface="Times New Roman"/>
                <a:cs typeface="Times New Roman"/>
              </a:rPr>
              <a:t>| </a:t>
            </a:r>
            <a:r>
              <a:rPr lang="en-US">
                <a:latin typeface="Times New Roman"/>
                <a:ea typeface="Calibri"/>
                <a:cs typeface="Times New Roman"/>
              </a:rPr>
              <a:t>R26-DS-004</a:t>
            </a:r>
            <a:endParaRPr lang="en-US"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9AA917-F4A3-3AB8-CEE7-1C9764E1710D}"/>
              </a:ext>
            </a:extLst>
          </p:cNvPr>
          <p:cNvSpPr txBox="1"/>
          <p:nvPr/>
        </p:nvSpPr>
        <p:spPr>
          <a:xfrm>
            <a:off x="399620" y="156840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Individual Component 02</a:t>
            </a:r>
          </a:p>
        </p:txBody>
      </p:sp>
      <p:pic>
        <p:nvPicPr>
          <p:cNvPr id="9" name="Picture 8" descr="A person with long black hair wearing glasses&#10;&#10;AI-generated content may be incorrect.">
            <a:extLst>
              <a:ext uri="{FF2B5EF4-FFF2-40B4-BE49-F238E27FC236}">
                <a16:creationId xmlns:a16="http://schemas.microsoft.com/office/drawing/2014/main" id="{6BC2C065-E2C9-A36B-00ED-18E913A41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096" y="32412"/>
            <a:ext cx="1856523" cy="197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514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B351-C120-0B75-5305-C180F8887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E4C750-F9D3-E8BF-E83B-497EB2AD4BC8}"/>
              </a:ext>
            </a:extLst>
          </p:cNvPr>
          <p:cNvSpPr txBox="1"/>
          <p:nvPr/>
        </p:nvSpPr>
        <p:spPr>
          <a:xfrm>
            <a:off x="55253" y="30678"/>
            <a:ext cx="922498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6000"/>
                  </a:schemeClr>
                </a:solidFill>
                <a:latin typeface="Times New Roman"/>
                <a:cs typeface="Times New Roman"/>
              </a:rPr>
              <a:t>Tax Strategy Optimization &amp; Explainable Decision Engine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020469-8DAD-727E-128F-92BB01F576BF}"/>
              </a:ext>
            </a:extLst>
          </p:cNvPr>
          <p:cNvCxnSpPr>
            <a:cxnSpLocks/>
          </p:cNvCxnSpPr>
          <p:nvPr/>
        </p:nvCxnSpPr>
        <p:spPr>
          <a:xfrm>
            <a:off x="372861" y="649465"/>
            <a:ext cx="861420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2D795C1-3626-7B85-094E-BA4C304A2668}"/>
              </a:ext>
            </a:extLst>
          </p:cNvPr>
          <p:cNvSpPr txBox="1"/>
          <p:nvPr/>
        </p:nvSpPr>
        <p:spPr>
          <a:xfrm>
            <a:off x="371162" y="801325"/>
            <a:ext cx="4345641" cy="19620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Addressed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Taxpayers struggle to identify legal tax-saving strategies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Many individuals depend on auditors for tax calculation and planning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Existing systems lack personalized tax optimization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Need explainable and optimized tax recommendations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350" dirty="0">
              <a:latin typeface="Aptos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13532-FCD0-9DD0-384D-9E64B2437157}"/>
              </a:ext>
            </a:extLst>
          </p:cNvPr>
          <p:cNvSpPr txBox="1"/>
          <p:nvPr/>
        </p:nvSpPr>
        <p:spPr>
          <a:xfrm>
            <a:off x="412228" y="2374665"/>
            <a:ext cx="4114798" cy="25933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Processing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Synthetic taxpayer financial dataset generation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Features collected: 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Income &amp; deductions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Investments &amp; liabilities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Relief claims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Data preprocessing: 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Cleaning &amp; normalization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Train-test split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D2B97-8E5F-B1A2-1B20-BEA75865FA96}"/>
              </a:ext>
            </a:extLst>
          </p:cNvPr>
          <p:cNvSpPr txBox="1"/>
          <p:nvPr/>
        </p:nvSpPr>
        <p:spPr>
          <a:xfrm>
            <a:off x="4914902" y="711493"/>
            <a:ext cx="36004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ML Architecture</a:t>
            </a:r>
          </a:p>
        </p:txBody>
      </p:sp>
      <p:pic>
        <p:nvPicPr>
          <p:cNvPr id="8" name="Picture 7" descr="A diagram of a structure&#10;&#10;AI-generated content may be incorrect.">
            <a:extLst>
              <a:ext uri="{FF2B5EF4-FFF2-40B4-BE49-F238E27FC236}">
                <a16:creationId xmlns:a16="http://schemas.microsoft.com/office/drawing/2014/main" id="{DB0B1F26-610B-628E-66E8-0DEC796926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00" r="-212" b="1732"/>
          <a:stretch>
            <a:fillRect/>
          </a:stretch>
        </p:blipFill>
        <p:spPr>
          <a:xfrm>
            <a:off x="4918649" y="1113692"/>
            <a:ext cx="3810992" cy="23544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38CE6F-C664-8035-C070-5235C1C7B735}"/>
              </a:ext>
            </a:extLst>
          </p:cNvPr>
          <p:cNvSpPr txBox="1"/>
          <p:nvPr/>
        </p:nvSpPr>
        <p:spPr>
          <a:xfrm>
            <a:off x="4872266" y="3596923"/>
            <a:ext cx="411479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Random Forest + </a:t>
            </a:r>
            <a:r>
              <a:rPr lang="en-US" sz="13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Strong performance for optimum tax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Supports explainable decision-making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Effective strategy ranking capability 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Efficient and scalable deployment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1FCF9-F069-9D12-A5F0-506E03473C5A}"/>
              </a:ext>
            </a:extLst>
          </p:cNvPr>
          <p:cNvCxnSpPr>
            <a:cxnSpLocks/>
          </p:cNvCxnSpPr>
          <p:nvPr/>
        </p:nvCxnSpPr>
        <p:spPr>
          <a:xfrm>
            <a:off x="508000" y="1113605"/>
            <a:ext cx="1771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7D798E-AEAE-119D-2BC0-DC811047F2CF}"/>
              </a:ext>
            </a:extLst>
          </p:cNvPr>
          <p:cNvCxnSpPr>
            <a:cxnSpLocks/>
          </p:cNvCxnSpPr>
          <p:nvPr/>
        </p:nvCxnSpPr>
        <p:spPr>
          <a:xfrm>
            <a:off x="548331" y="2704343"/>
            <a:ext cx="2480619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5AAC38-0021-4B6E-D7E0-BC58A9CCB27C}"/>
              </a:ext>
            </a:extLst>
          </p:cNvPr>
          <p:cNvCxnSpPr>
            <a:cxnSpLocks/>
          </p:cNvCxnSpPr>
          <p:nvPr/>
        </p:nvCxnSpPr>
        <p:spPr>
          <a:xfrm>
            <a:off x="4914902" y="976184"/>
            <a:ext cx="164190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8497B06-261E-C55E-734E-F74A606674AC}"/>
              </a:ext>
            </a:extLst>
          </p:cNvPr>
          <p:cNvCxnSpPr>
            <a:cxnSpLocks/>
          </p:cNvCxnSpPr>
          <p:nvPr/>
        </p:nvCxnSpPr>
        <p:spPr>
          <a:xfrm>
            <a:off x="4914902" y="3891643"/>
            <a:ext cx="1268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B2BE69E-451C-5257-18A6-34D355C50400}"/>
              </a:ext>
            </a:extLst>
          </p:cNvPr>
          <p:cNvCxnSpPr>
            <a:cxnSpLocks/>
          </p:cNvCxnSpPr>
          <p:nvPr/>
        </p:nvCxnSpPr>
        <p:spPr>
          <a:xfrm>
            <a:off x="236650" y="2343151"/>
            <a:ext cx="428625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FA431B-40BA-B6F9-9397-D18745231523}"/>
              </a:ext>
            </a:extLst>
          </p:cNvPr>
          <p:cNvCxnSpPr>
            <a:cxnSpLocks/>
          </p:cNvCxnSpPr>
          <p:nvPr/>
        </p:nvCxnSpPr>
        <p:spPr>
          <a:xfrm flipH="1">
            <a:off x="4663130" y="685800"/>
            <a:ext cx="10811" cy="41148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856A-877A-DFF8-AE23-194E4A7E4F59}"/>
              </a:ext>
            </a:extLst>
          </p:cNvPr>
          <p:cNvCxnSpPr>
            <a:cxnSpLocks/>
          </p:cNvCxnSpPr>
          <p:nvPr/>
        </p:nvCxnSpPr>
        <p:spPr>
          <a:xfrm>
            <a:off x="4878604" y="3600450"/>
            <a:ext cx="399586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close up of a sign&#10;&#10;AI-generated content may be incorrect.">
            <a:extLst>
              <a:ext uri="{FF2B5EF4-FFF2-40B4-BE49-F238E27FC236}">
                <a16:creationId xmlns:a16="http://schemas.microsoft.com/office/drawing/2014/main" id="{3EF21812-A067-6171-6D3A-5D3F7153066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62940" y="4806071"/>
            <a:ext cx="1292537" cy="318834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736498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1B246-0D5E-9443-E581-9BC8541BB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74D9EF-F942-1756-D6E0-035D1E1A28E0}"/>
              </a:ext>
            </a:extLst>
          </p:cNvPr>
          <p:cNvSpPr txBox="1"/>
          <p:nvPr/>
        </p:nvSpPr>
        <p:spPr>
          <a:xfrm>
            <a:off x="342900" y="685800"/>
            <a:ext cx="4229100" cy="1777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Solution Addresses the Problem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Calculates tax using Sri Lankan tax rules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Identifies legal tax-saving opportunities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Compares and ranks tax strategies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Provides explainable and optimized tax guidance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1D84E7-D150-EABC-4F77-F9AA7CC1201C}"/>
              </a:ext>
            </a:extLst>
          </p:cNvPr>
          <p:cNvSpPr txBox="1"/>
          <p:nvPr/>
        </p:nvSpPr>
        <p:spPr>
          <a:xfrm>
            <a:off x="4857750" y="685825"/>
            <a:ext cx="3971924" cy="1777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Features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Tax compliance and calculation dashboard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Strategy comparison and optimization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Tax filing module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SHAP-based explainability visualization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endParaRPr lang="en-US" sz="1350" dirty="0">
              <a:latin typeface="Aptos" panose="02110004020202020204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EAB65-756B-F373-5801-776C19AA2BB3}"/>
              </a:ext>
            </a:extLst>
          </p:cNvPr>
          <p:cNvSpPr txBox="1"/>
          <p:nvPr/>
        </p:nvSpPr>
        <p:spPr>
          <a:xfrm>
            <a:off x="371475" y="2251737"/>
            <a:ext cx="4314820" cy="21929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 dirty="0">
                <a:latin typeface="Times New Roman"/>
                <a:cs typeface="Times New Roman"/>
              </a:rPr>
              <a:t>Design Excellence / Contribution</a:t>
            </a:r>
            <a:endParaRPr lang="en-US" sz="1500" dirty="0">
              <a:latin typeface="Aptos"/>
              <a:cs typeface="Times New Roman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ML optimization architecture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Explainable tax decision-making using SHAP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Personalized tax optimization and ranking 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and scalable system design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and legally compliant 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350" dirty="0"/>
          </a:p>
          <a:p>
            <a:pPr>
              <a:buFont typeface="Arial" panose="020B0604020202020204" pitchFamily="34" charset="0"/>
              <a:buChar char="•"/>
            </a:pPr>
            <a:endParaRPr lang="en-US" sz="1350" dirty="0">
              <a:ea typeface="+mn-lt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710B72-A29E-C0B7-4F23-2BB891DF5D92}"/>
              </a:ext>
            </a:extLst>
          </p:cNvPr>
          <p:cNvSpPr txBox="1"/>
          <p:nvPr/>
        </p:nvSpPr>
        <p:spPr>
          <a:xfrm>
            <a:off x="4914900" y="2686050"/>
            <a:ext cx="4042203" cy="1777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on Prototype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Users preferred automated tax calculation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Strategy comparison improved decision-making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Explainable outputs increased trust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Personalized recommendations were considered useful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27EFE3-0D78-9A67-48F9-18C0DA82F7D0}"/>
              </a:ext>
            </a:extLst>
          </p:cNvPr>
          <p:cNvCxnSpPr>
            <a:cxnSpLocks/>
          </p:cNvCxnSpPr>
          <p:nvPr/>
        </p:nvCxnSpPr>
        <p:spPr>
          <a:xfrm>
            <a:off x="342900" y="971550"/>
            <a:ext cx="33718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2567DD-F28E-99DF-6FB4-4E6452F31416}"/>
              </a:ext>
            </a:extLst>
          </p:cNvPr>
          <p:cNvCxnSpPr>
            <a:cxnSpLocks/>
          </p:cNvCxnSpPr>
          <p:nvPr/>
        </p:nvCxnSpPr>
        <p:spPr>
          <a:xfrm>
            <a:off x="4857750" y="971550"/>
            <a:ext cx="17145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C647CF-3486-1E37-3BAC-986A5A6DA193}"/>
              </a:ext>
            </a:extLst>
          </p:cNvPr>
          <p:cNvCxnSpPr>
            <a:cxnSpLocks/>
          </p:cNvCxnSpPr>
          <p:nvPr/>
        </p:nvCxnSpPr>
        <p:spPr>
          <a:xfrm flipV="1">
            <a:off x="400050" y="2571750"/>
            <a:ext cx="2686050" cy="772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4E38CF-0086-F588-5BAF-A5319D990A98}"/>
              </a:ext>
            </a:extLst>
          </p:cNvPr>
          <p:cNvCxnSpPr>
            <a:cxnSpLocks/>
          </p:cNvCxnSpPr>
          <p:nvPr/>
        </p:nvCxnSpPr>
        <p:spPr>
          <a:xfrm>
            <a:off x="4914900" y="2971800"/>
            <a:ext cx="234315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AC596F-E829-4127-6DF0-03CED9ADB2F3}"/>
              </a:ext>
            </a:extLst>
          </p:cNvPr>
          <p:cNvCxnSpPr>
            <a:cxnSpLocks/>
          </p:cNvCxnSpPr>
          <p:nvPr/>
        </p:nvCxnSpPr>
        <p:spPr>
          <a:xfrm>
            <a:off x="228600" y="2171700"/>
            <a:ext cx="440055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1F5A64-B83E-6282-8A65-1B76A9B60462}"/>
              </a:ext>
            </a:extLst>
          </p:cNvPr>
          <p:cNvCxnSpPr>
            <a:cxnSpLocks/>
          </p:cNvCxnSpPr>
          <p:nvPr/>
        </p:nvCxnSpPr>
        <p:spPr>
          <a:xfrm>
            <a:off x="4743450" y="571500"/>
            <a:ext cx="0" cy="42291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6F216D-854A-CAA4-596E-580E3F7DCAD7}"/>
              </a:ext>
            </a:extLst>
          </p:cNvPr>
          <p:cNvCxnSpPr>
            <a:cxnSpLocks/>
          </p:cNvCxnSpPr>
          <p:nvPr/>
        </p:nvCxnSpPr>
        <p:spPr>
          <a:xfrm>
            <a:off x="4857750" y="2571750"/>
            <a:ext cx="4099353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E54D0DD-A7F3-D76B-B3E9-F61C97AA72AE}"/>
              </a:ext>
            </a:extLst>
          </p:cNvPr>
          <p:cNvCxnSpPr>
            <a:cxnSpLocks/>
          </p:cNvCxnSpPr>
          <p:nvPr/>
        </p:nvCxnSpPr>
        <p:spPr>
          <a:xfrm>
            <a:off x="371475" y="459255"/>
            <a:ext cx="84010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close up of a sign&#10;&#10;AI-generated content may be incorrect.">
            <a:extLst>
              <a:ext uri="{FF2B5EF4-FFF2-40B4-BE49-F238E27FC236}">
                <a16:creationId xmlns:a16="http://schemas.microsoft.com/office/drawing/2014/main" id="{A6C92C1D-1D93-B591-87A4-D0A20DA32CE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62940" y="4806071"/>
            <a:ext cx="1292537" cy="318834"/>
          </a:xfrm>
          <a:prstGeom prst="rect">
            <a:avLst/>
          </a:prstGeom>
          <a:ln w="0"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C1442B-D35C-BBB8-1C92-C4852ECD4C23}"/>
              </a:ext>
            </a:extLst>
          </p:cNvPr>
          <p:cNvSpPr txBox="1"/>
          <p:nvPr/>
        </p:nvSpPr>
        <p:spPr>
          <a:xfrm>
            <a:off x="228599" y="47476"/>
            <a:ext cx="738834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6000"/>
                  </a:schemeClr>
                </a:solidFill>
                <a:latin typeface="Times New Roman"/>
                <a:cs typeface="Times New Roman"/>
              </a:rPr>
              <a:t>Tax Strategy Optimization &amp; Explainable Decision Engine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375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BECFE-E915-95C4-6819-D5D0B76F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AFC853-05DF-0570-307C-4CE99F5839D2}"/>
              </a:ext>
            </a:extLst>
          </p:cNvPr>
          <p:cNvSpPr txBox="1"/>
          <p:nvPr/>
        </p:nvSpPr>
        <p:spPr>
          <a:xfrm>
            <a:off x="399143" y="210457"/>
            <a:ext cx="677817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IT22238580 | </a:t>
            </a:r>
            <a:r>
              <a:rPr lang="en-US" b="1" err="1">
                <a:latin typeface="Times New Roman"/>
                <a:cs typeface="Times New Roman"/>
              </a:rPr>
              <a:t>Pihillegedara</a:t>
            </a:r>
            <a:r>
              <a:rPr lang="en-US" b="1">
                <a:latin typeface="Times New Roman"/>
                <a:cs typeface="Times New Roman"/>
              </a:rPr>
              <a:t> S.N.M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DF86F3-D3AB-C7AE-F5ED-AE3B35678BE8}"/>
              </a:ext>
            </a:extLst>
          </p:cNvPr>
          <p:cNvCxnSpPr>
            <a:cxnSpLocks/>
          </p:cNvCxnSpPr>
          <p:nvPr/>
        </p:nvCxnSpPr>
        <p:spPr>
          <a:xfrm flipV="1">
            <a:off x="401176" y="1960719"/>
            <a:ext cx="7092779" cy="2675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15D4D5-6599-EE99-395B-B53F9772B889}"/>
              </a:ext>
            </a:extLst>
          </p:cNvPr>
          <p:cNvCxnSpPr>
            <a:cxnSpLocks/>
          </p:cNvCxnSpPr>
          <p:nvPr/>
        </p:nvCxnSpPr>
        <p:spPr>
          <a:xfrm flipV="1">
            <a:off x="508252" y="3633375"/>
            <a:ext cx="7092779" cy="2675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7346785-CCD5-B501-BFC5-5E6DD527F1A7}"/>
              </a:ext>
            </a:extLst>
          </p:cNvPr>
          <p:cNvSpPr txBox="1"/>
          <p:nvPr/>
        </p:nvSpPr>
        <p:spPr>
          <a:xfrm>
            <a:off x="310079" y="2344243"/>
            <a:ext cx="8520473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Personalized Recommendation &amp; Predictive Impact</a:t>
            </a:r>
            <a:endParaRPr lang="en-US" sz="3000" dirty="0">
              <a:solidFill>
                <a:schemeClr val="accent1">
                  <a:lumMod val="76000"/>
                </a:schemeClr>
              </a:solidFill>
            </a:endParaRPr>
          </a:p>
          <a:p>
            <a:pPr algn="ctr"/>
            <a:r>
              <a:rPr lang="en-US" sz="3000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Modeling Engine.</a:t>
            </a:r>
            <a:endParaRPr lang="en-US" sz="3000" dirty="0">
              <a:solidFill>
                <a:schemeClr val="accent1">
                  <a:lumMod val="76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7F48D1-0BD6-D9B5-6F9F-869206CADC6C}"/>
              </a:ext>
            </a:extLst>
          </p:cNvPr>
          <p:cNvSpPr txBox="1"/>
          <p:nvPr/>
        </p:nvSpPr>
        <p:spPr>
          <a:xfrm>
            <a:off x="336721" y="4191683"/>
            <a:ext cx="248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6D7976-966A-B44C-6100-2AE7122ECD75}"/>
              </a:ext>
            </a:extLst>
          </p:cNvPr>
          <p:cNvSpPr txBox="1"/>
          <p:nvPr/>
        </p:nvSpPr>
        <p:spPr>
          <a:xfrm>
            <a:off x="1979386" y="4746171"/>
            <a:ext cx="685723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IT22238580</a:t>
            </a:r>
            <a:r>
              <a:rPr lang="en-US">
                <a:latin typeface="Times New Roman"/>
                <a:cs typeface="Times New Roman"/>
              </a:rPr>
              <a:t>   |</a:t>
            </a:r>
            <a:r>
              <a:rPr lang="en-US" b="1">
                <a:latin typeface="Times New Roman"/>
                <a:cs typeface="Times New Roman"/>
              </a:rPr>
              <a:t> </a:t>
            </a:r>
            <a:r>
              <a:rPr lang="en-US" b="1" err="1">
                <a:latin typeface="Times New Roman"/>
                <a:cs typeface="Times New Roman"/>
              </a:rPr>
              <a:t>Pihillegedara</a:t>
            </a:r>
            <a:r>
              <a:rPr lang="en-US" b="1">
                <a:latin typeface="Times New Roman"/>
                <a:cs typeface="Times New Roman"/>
              </a:rPr>
              <a:t> S.N.M</a:t>
            </a:r>
            <a:r>
              <a:rPr lang="en-US">
                <a:latin typeface="Times New Roman"/>
                <a:cs typeface="Times New Roman"/>
              </a:rPr>
              <a:t>| </a:t>
            </a:r>
            <a:r>
              <a:rPr lang="en-US">
                <a:latin typeface="Times New Roman"/>
                <a:ea typeface="Calibri"/>
                <a:cs typeface="Times New Roman"/>
              </a:rPr>
              <a:t>R26-DS-004</a:t>
            </a:r>
            <a:endParaRPr lang="en-US">
              <a:latin typeface="Times New Roman"/>
              <a:cs typeface="Times New Roman"/>
            </a:endParaRPr>
          </a:p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025481-6150-2DB2-B8F2-694415A7F7DD}"/>
              </a:ext>
            </a:extLst>
          </p:cNvPr>
          <p:cNvSpPr txBox="1"/>
          <p:nvPr/>
        </p:nvSpPr>
        <p:spPr>
          <a:xfrm>
            <a:off x="399620" y="156840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Individual Component 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C6A0E7-EAC6-3534-D2E6-4BAB0CA3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314" y="63865"/>
            <a:ext cx="1527291" cy="201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944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CB52E-0F8F-462F-7097-E886F0C5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ECDAAF-CE31-ECF9-6387-C91BF40F1C9A}"/>
              </a:ext>
            </a:extLst>
          </p:cNvPr>
          <p:cNvSpPr txBox="1"/>
          <p:nvPr/>
        </p:nvSpPr>
        <p:spPr>
          <a:xfrm>
            <a:off x="535433" y="34659"/>
            <a:ext cx="689945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Personalized Recommendation &amp; Predictive Impact Modeling Engine.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C87C19F-775F-DF54-90A5-42630E56D0D5}"/>
              </a:ext>
            </a:extLst>
          </p:cNvPr>
          <p:cNvCxnSpPr>
            <a:cxnSpLocks/>
          </p:cNvCxnSpPr>
          <p:nvPr/>
        </p:nvCxnSpPr>
        <p:spPr>
          <a:xfrm>
            <a:off x="317000" y="451803"/>
            <a:ext cx="861420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B555E49-4872-4BE3-BED8-64D6699FB96C}"/>
              </a:ext>
            </a:extLst>
          </p:cNvPr>
          <p:cNvSpPr txBox="1"/>
          <p:nvPr/>
        </p:nvSpPr>
        <p:spPr>
          <a:xfrm>
            <a:off x="430654" y="533822"/>
            <a:ext cx="4023669" cy="21698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 dirty="0">
                <a:latin typeface="Times New Roman"/>
                <a:cs typeface="Times New Roman"/>
              </a:rPr>
              <a:t>Problem Addressed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Limited awareness of legal tax-saving strategies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Generic tax advice lacks personalization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Complex IRD eligibility rules are difficult to understand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Need ranked and explainable strategy recommendations</a:t>
            </a:r>
            <a:endParaRPr lang="en-US" dirty="0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D6CF3D-44C1-9AB7-81D4-E0E0C79B5E04}"/>
              </a:ext>
            </a:extLst>
          </p:cNvPr>
          <p:cNvSpPr txBox="1"/>
          <p:nvPr/>
        </p:nvSpPr>
        <p:spPr>
          <a:xfrm>
            <a:off x="397583" y="2277407"/>
            <a:ext cx="4093312" cy="30008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Processing</a:t>
            </a:r>
          </a:p>
          <a:p>
            <a:endParaRPr lang="en-US" sz="13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Synthetic taxpayer dataset generation </a:t>
            </a:r>
          </a:p>
          <a:p>
            <a:r>
              <a:rPr lang="en-US" sz="1350" b="1">
                <a:latin typeface="Times New Roman"/>
                <a:ea typeface="+mn-lt"/>
                <a:cs typeface="Times New Roman"/>
              </a:rPr>
              <a:t>Features collected: </a:t>
            </a:r>
            <a:endParaRPr lang="en-US" b="1">
              <a:latin typeface="Times New Roman"/>
              <a:ea typeface="+mn-lt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Income &amp; expenses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Investments &amp; deductions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Risk tolerance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Income sources </a:t>
            </a:r>
            <a:endParaRPr lang="en-US">
              <a:latin typeface="Times New Roman"/>
              <a:cs typeface="Times New Roman"/>
            </a:endParaRPr>
          </a:p>
          <a:p>
            <a:r>
              <a:rPr lang="en-US" sz="1350" b="1">
                <a:latin typeface="Times New Roman"/>
                <a:ea typeface="+mn-lt"/>
                <a:cs typeface="Times New Roman"/>
              </a:rPr>
              <a:t>Data preprocessing: </a:t>
            </a:r>
            <a:endParaRPr lang="en-US" b="1">
              <a:latin typeface="Times New Roman"/>
              <a:ea typeface="+mn-lt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Cleaning &amp; normalization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Feature calculation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Train-test split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C9B5F-83B1-F785-7E13-B9EC04CEBE72}"/>
              </a:ext>
            </a:extLst>
          </p:cNvPr>
          <p:cNvSpPr txBox="1"/>
          <p:nvPr/>
        </p:nvSpPr>
        <p:spPr>
          <a:xfrm>
            <a:off x="4914902" y="711493"/>
            <a:ext cx="360045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ML Architecture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13099-5889-EBBC-ED06-AB862E7097B2}"/>
              </a:ext>
            </a:extLst>
          </p:cNvPr>
          <p:cNvSpPr txBox="1"/>
          <p:nvPr/>
        </p:nvSpPr>
        <p:spPr>
          <a:xfrm>
            <a:off x="4876562" y="3596923"/>
            <a:ext cx="4080425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/>
                <a:ea typeface="+mn-lt"/>
                <a:cs typeface="Times New Roman"/>
              </a:rPr>
              <a:t>Why </a:t>
            </a:r>
            <a:r>
              <a:rPr lang="en-US" sz="1350" b="1" err="1">
                <a:latin typeface="Times New Roman"/>
                <a:ea typeface="+mn-lt"/>
                <a:cs typeface="Times New Roman"/>
              </a:rPr>
              <a:t>LightGBM</a:t>
            </a:r>
            <a:r>
              <a:rPr lang="en-US" sz="1350" b="1">
                <a:latin typeface="Times New Roman"/>
                <a:ea typeface="+mn-lt"/>
                <a:cs typeface="Times New Roman"/>
              </a:rPr>
              <a:t> + </a:t>
            </a:r>
            <a:r>
              <a:rPr lang="en-US" sz="1350" b="1" err="1">
                <a:latin typeface="Times New Roman"/>
                <a:ea typeface="+mn-lt"/>
                <a:cs typeface="Times New Roman"/>
              </a:rPr>
              <a:t>LambdaMART</a:t>
            </a:r>
            <a:r>
              <a:rPr lang="en-US" sz="1350" b="1">
                <a:latin typeface="Times New Roman"/>
                <a:ea typeface="+mn-lt"/>
                <a:cs typeface="Times New Roman"/>
              </a:rPr>
              <a:t>?</a:t>
            </a:r>
            <a:endParaRPr lang="en-US" b="1"/>
          </a:p>
          <a:p>
            <a:endParaRPr lang="en-US" sz="1350" b="1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Strong performance for financial data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Effective strategy ranking capability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Supports personalized recommendations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Efficient and scalable for deployment</a:t>
            </a:r>
            <a:endParaRPr lang="en-US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1093A4-0936-D7B6-63DF-A47424F5DD9F}"/>
              </a:ext>
            </a:extLst>
          </p:cNvPr>
          <p:cNvCxnSpPr>
            <a:cxnSpLocks/>
          </p:cNvCxnSpPr>
          <p:nvPr/>
        </p:nvCxnSpPr>
        <p:spPr>
          <a:xfrm>
            <a:off x="430654" y="838597"/>
            <a:ext cx="1771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FB448B-260F-0DCE-202F-DF20B3BACF8B}"/>
              </a:ext>
            </a:extLst>
          </p:cNvPr>
          <p:cNvCxnSpPr>
            <a:cxnSpLocks/>
          </p:cNvCxnSpPr>
          <p:nvPr/>
        </p:nvCxnSpPr>
        <p:spPr>
          <a:xfrm>
            <a:off x="432312" y="2592621"/>
            <a:ext cx="2480619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ACB8914-B9F4-5A2A-B79E-60331D50201E}"/>
              </a:ext>
            </a:extLst>
          </p:cNvPr>
          <p:cNvCxnSpPr>
            <a:cxnSpLocks/>
          </p:cNvCxnSpPr>
          <p:nvPr/>
        </p:nvCxnSpPr>
        <p:spPr>
          <a:xfrm>
            <a:off x="4914902" y="976184"/>
            <a:ext cx="164190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183BB60-22DC-0901-9684-7A8D89C2E42F}"/>
              </a:ext>
            </a:extLst>
          </p:cNvPr>
          <p:cNvCxnSpPr>
            <a:cxnSpLocks/>
          </p:cNvCxnSpPr>
          <p:nvPr/>
        </p:nvCxnSpPr>
        <p:spPr>
          <a:xfrm>
            <a:off x="4914902" y="3891643"/>
            <a:ext cx="1268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A56117-2CB0-DE1F-8664-B616801BC79F}"/>
              </a:ext>
            </a:extLst>
          </p:cNvPr>
          <p:cNvCxnSpPr>
            <a:cxnSpLocks/>
          </p:cNvCxnSpPr>
          <p:nvPr/>
        </p:nvCxnSpPr>
        <p:spPr>
          <a:xfrm>
            <a:off x="168442" y="2257210"/>
            <a:ext cx="428625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F1B1181-C0B9-6279-9C5C-1CA9F4907EE2}"/>
              </a:ext>
            </a:extLst>
          </p:cNvPr>
          <p:cNvCxnSpPr>
            <a:cxnSpLocks/>
          </p:cNvCxnSpPr>
          <p:nvPr/>
        </p:nvCxnSpPr>
        <p:spPr>
          <a:xfrm flipH="1">
            <a:off x="4663130" y="685800"/>
            <a:ext cx="10811" cy="41148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A071941-C5E2-632A-DE07-7410CCB85EF4}"/>
              </a:ext>
            </a:extLst>
          </p:cNvPr>
          <p:cNvCxnSpPr>
            <a:cxnSpLocks/>
          </p:cNvCxnSpPr>
          <p:nvPr/>
        </p:nvCxnSpPr>
        <p:spPr>
          <a:xfrm>
            <a:off x="4878604" y="3600450"/>
            <a:ext cx="399586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close up of a sign&#10;&#10;AI-generated content may be incorrect.">
            <a:extLst>
              <a:ext uri="{FF2B5EF4-FFF2-40B4-BE49-F238E27FC236}">
                <a16:creationId xmlns:a16="http://schemas.microsoft.com/office/drawing/2014/main" id="{1C7EF51F-85E3-D988-AE3E-BB984DFA6C9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62940" y="4806071"/>
            <a:ext cx="1292537" cy="318834"/>
          </a:xfrm>
          <a:prstGeom prst="rect">
            <a:avLst/>
          </a:prstGeom>
          <a:ln w="0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241FDD3-BAA3-9FBD-2A97-98DEED90DF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685" y="1189256"/>
            <a:ext cx="3921732" cy="228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621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F580C-54FA-3E20-19E4-352C88C3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FF2B5EF4-FFF2-40B4-BE49-F238E27FC236}">
                <a16:creationId xmlns:a16="http://schemas.microsoft.com/office/drawing/2014/main" id="{8B46FB34-C14D-2EF5-0498-FBFE2EC082BB}"/>
              </a:ext>
            </a:extLst>
          </p:cNvPr>
          <p:cNvSpPr txBox="1">
            <a:spLocks/>
          </p:cNvSpPr>
          <p:nvPr/>
        </p:nvSpPr>
        <p:spPr>
          <a:xfrm>
            <a:off x="369971" y="239723"/>
            <a:ext cx="7772400" cy="514350"/>
          </a:xfrm>
          <a:prstGeom prst="rect">
            <a:avLst/>
          </a:prstGeom>
        </p:spPr>
        <p:txBody>
          <a:bodyPr vert="horz" lIns="68580" tIns="34290" rIns="68580" bIns="34290" rtlCol="0" anchor="t">
            <a:normAutofit fontScale="6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br>
              <a:rPr lang="en-US" sz="3000"/>
            </a:br>
            <a:endParaRPr lang="en-US" sz="3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5785BD-2DC4-FB4D-FECA-D0E09D429E5B}"/>
              </a:ext>
            </a:extLst>
          </p:cNvPr>
          <p:cNvSpPr txBox="1"/>
          <p:nvPr/>
        </p:nvSpPr>
        <p:spPr>
          <a:xfrm>
            <a:off x="342900" y="685800"/>
            <a:ext cx="422910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Solution Addresses the Problem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Generates personalized tax-saving recommendations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Predicts suitable strategies based on financial profiles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Ranks strategies using AI-based recommendation models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Provides explainable and actionable tax guidance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8A7A9E-8DFD-B39B-201E-66497BE67DAE}"/>
              </a:ext>
            </a:extLst>
          </p:cNvPr>
          <p:cNvSpPr txBox="1"/>
          <p:nvPr/>
        </p:nvSpPr>
        <p:spPr>
          <a:xfrm>
            <a:off x="4857750" y="685825"/>
            <a:ext cx="3971924" cy="19620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Features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Financial profile creation and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Strategy ranking and recommendation dashboard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Estimated tax savings and adoption probability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Hybrid recommendation and explanation module </a:t>
            </a:r>
            <a:endParaRPr lang="en-US" dirty="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/>
                <a:ea typeface="+mn-lt"/>
                <a:cs typeface="Times New Roman"/>
              </a:rPr>
              <a:t>Interactive recommendation interface</a:t>
            </a: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7138D-8764-46B1-146D-E46BE0AA4853}"/>
              </a:ext>
            </a:extLst>
          </p:cNvPr>
          <p:cNvSpPr txBox="1"/>
          <p:nvPr/>
        </p:nvSpPr>
        <p:spPr>
          <a:xfrm>
            <a:off x="371475" y="2423617"/>
            <a:ext cx="431482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 Excellence / Contribution</a:t>
            </a:r>
          </a:p>
          <a:p>
            <a:endParaRPr lang="en-US" sz="135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Hybrid AI + rule-based recommendation architecture </a:t>
            </a:r>
            <a:endParaRPr lang="en-US" sz="1350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Combines ranking, prediction, and semantic retrieval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Explainable and transparent recommendation process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Personalized recommendations using financial behavior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Scalable and modular system design</a:t>
            </a:r>
            <a:endParaRPr lang="en-US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96997E-FDFB-A49A-D8A4-07A62374584A}"/>
              </a:ext>
            </a:extLst>
          </p:cNvPr>
          <p:cNvSpPr txBox="1"/>
          <p:nvPr/>
        </p:nvSpPr>
        <p:spPr>
          <a:xfrm>
            <a:off x="4919197" y="2780584"/>
            <a:ext cx="4042203" cy="21698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on Prototype</a:t>
            </a:r>
          </a:p>
          <a:p>
            <a:endParaRPr lang="en-US" sz="1350" b="1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Users preferred personalized recommendations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Estimated savings improved decision-making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Explainable outputs increased trust 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Interactive recommendations were considered useful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endParaRPr lang="en-US" sz="1350" b="1">
              <a:latin typeface="Times New Roman"/>
              <a:cs typeface="Times New Roman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176A862-8BE0-B7D8-0E7D-C782F83856D9}"/>
              </a:ext>
            </a:extLst>
          </p:cNvPr>
          <p:cNvCxnSpPr>
            <a:cxnSpLocks/>
          </p:cNvCxnSpPr>
          <p:nvPr/>
        </p:nvCxnSpPr>
        <p:spPr>
          <a:xfrm>
            <a:off x="342900" y="971550"/>
            <a:ext cx="33718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489F7BA-4AB7-19F2-7F63-6DDC6753FA9A}"/>
              </a:ext>
            </a:extLst>
          </p:cNvPr>
          <p:cNvCxnSpPr>
            <a:cxnSpLocks/>
          </p:cNvCxnSpPr>
          <p:nvPr/>
        </p:nvCxnSpPr>
        <p:spPr>
          <a:xfrm>
            <a:off x="4857750" y="971550"/>
            <a:ext cx="17145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1F16465-2FA9-B6FE-AC0E-F6EBAA75D82D}"/>
              </a:ext>
            </a:extLst>
          </p:cNvPr>
          <p:cNvCxnSpPr>
            <a:cxnSpLocks/>
          </p:cNvCxnSpPr>
          <p:nvPr/>
        </p:nvCxnSpPr>
        <p:spPr>
          <a:xfrm flipV="1">
            <a:off x="369971" y="2778006"/>
            <a:ext cx="2686050" cy="772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96A0103-72E3-2B3F-097F-E264456E0718}"/>
              </a:ext>
            </a:extLst>
          </p:cNvPr>
          <p:cNvCxnSpPr>
            <a:cxnSpLocks/>
          </p:cNvCxnSpPr>
          <p:nvPr/>
        </p:nvCxnSpPr>
        <p:spPr>
          <a:xfrm>
            <a:off x="4919197" y="3092116"/>
            <a:ext cx="234315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DF125B-95D1-79E6-A0D7-43B6B2D04583}"/>
              </a:ext>
            </a:extLst>
          </p:cNvPr>
          <p:cNvCxnSpPr>
            <a:cxnSpLocks/>
          </p:cNvCxnSpPr>
          <p:nvPr/>
        </p:nvCxnSpPr>
        <p:spPr>
          <a:xfrm>
            <a:off x="258679" y="2283422"/>
            <a:ext cx="440055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487377-F016-9344-89C0-1842907D4D5B}"/>
              </a:ext>
            </a:extLst>
          </p:cNvPr>
          <p:cNvCxnSpPr>
            <a:cxnSpLocks/>
          </p:cNvCxnSpPr>
          <p:nvPr/>
        </p:nvCxnSpPr>
        <p:spPr>
          <a:xfrm>
            <a:off x="4743450" y="571500"/>
            <a:ext cx="0" cy="42291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F33A94-4115-BDF3-7598-01866E2CF960}"/>
              </a:ext>
            </a:extLst>
          </p:cNvPr>
          <p:cNvCxnSpPr>
            <a:cxnSpLocks/>
          </p:cNvCxnSpPr>
          <p:nvPr/>
        </p:nvCxnSpPr>
        <p:spPr>
          <a:xfrm>
            <a:off x="4857750" y="2571750"/>
            <a:ext cx="4099353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AAA574-015E-8B7E-027B-61DF2F618BED}"/>
              </a:ext>
            </a:extLst>
          </p:cNvPr>
          <p:cNvCxnSpPr>
            <a:cxnSpLocks/>
            <a:stCxn id="2" idx="1"/>
          </p:cNvCxnSpPr>
          <p:nvPr/>
        </p:nvCxnSpPr>
        <p:spPr>
          <a:xfrm>
            <a:off x="369971" y="496898"/>
            <a:ext cx="84010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close up of a sign&#10;&#10;AI-generated content may be incorrect.">
            <a:extLst>
              <a:ext uri="{FF2B5EF4-FFF2-40B4-BE49-F238E27FC236}">
                <a16:creationId xmlns:a16="http://schemas.microsoft.com/office/drawing/2014/main" id="{B450CDB8-76BF-819B-81B4-F92C134BF62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62940" y="4806071"/>
            <a:ext cx="1292537" cy="318834"/>
          </a:xfrm>
          <a:prstGeom prst="rect">
            <a:avLst/>
          </a:prstGeom>
          <a:ln w="0"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BCBCC44-6954-A22C-6E79-3FE15AB9F238}"/>
              </a:ext>
            </a:extLst>
          </p:cNvPr>
          <p:cNvSpPr txBox="1"/>
          <p:nvPr/>
        </p:nvSpPr>
        <p:spPr>
          <a:xfrm>
            <a:off x="466343" y="99529"/>
            <a:ext cx="7886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Personalized Recommendation &amp; Predictive Impact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Modeling Engine.</a:t>
            </a:r>
            <a:endParaRPr lang="en-US" dirty="0">
              <a:solidFill>
                <a:schemeClr val="accent1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702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E4518-9DFF-FC28-FACF-3F2784F2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4EABA9-1FA5-B96A-B851-3BE2E2D25453}"/>
              </a:ext>
            </a:extLst>
          </p:cNvPr>
          <p:cNvSpPr txBox="1"/>
          <p:nvPr/>
        </p:nvSpPr>
        <p:spPr>
          <a:xfrm>
            <a:off x="399143" y="210457"/>
            <a:ext cx="677817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latin typeface="Times New Roman"/>
                <a:cs typeface="Times New Roman"/>
              </a:rPr>
              <a:t>IT22896186 | </a:t>
            </a:r>
            <a:r>
              <a:rPr lang="en-US" b="1" err="1">
                <a:latin typeface="Times New Roman"/>
                <a:cs typeface="Times New Roman"/>
              </a:rPr>
              <a:t>Hewagama</a:t>
            </a:r>
            <a:r>
              <a:rPr lang="en-US" b="1">
                <a:latin typeface="Times New Roman"/>
                <a:cs typeface="Times New Roman"/>
              </a:rPr>
              <a:t> S 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5F19172-C2F8-9214-9A68-8315C23AC5ED}"/>
              </a:ext>
            </a:extLst>
          </p:cNvPr>
          <p:cNvCxnSpPr>
            <a:cxnSpLocks/>
          </p:cNvCxnSpPr>
          <p:nvPr/>
        </p:nvCxnSpPr>
        <p:spPr>
          <a:xfrm flipV="1">
            <a:off x="714856" y="2115411"/>
            <a:ext cx="7092779" cy="2675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F995BA-F70A-D968-1EFF-1DEA8C73C175}"/>
              </a:ext>
            </a:extLst>
          </p:cNvPr>
          <p:cNvCxnSpPr>
            <a:cxnSpLocks/>
          </p:cNvCxnSpPr>
          <p:nvPr/>
        </p:nvCxnSpPr>
        <p:spPr>
          <a:xfrm flipV="1">
            <a:off x="714508" y="3366961"/>
            <a:ext cx="7092779" cy="26752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457A5A-82C6-4FC8-5611-029965B658BB}"/>
              </a:ext>
            </a:extLst>
          </p:cNvPr>
          <p:cNvSpPr txBox="1"/>
          <p:nvPr/>
        </p:nvSpPr>
        <p:spPr>
          <a:xfrm>
            <a:off x="-111026" y="2481747"/>
            <a:ext cx="852047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000" dirty="0">
                <a:solidFill>
                  <a:schemeClr val="accent1">
                    <a:lumMod val="76000"/>
                  </a:schemeClr>
                </a:solidFill>
                <a:latin typeface="Times New Roman"/>
                <a:cs typeface="Times New Roman"/>
              </a:rPr>
              <a:t>Intelligent Tax Advisory Language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C026F-C24A-BA7B-8B99-CA5E442BBBEA}"/>
              </a:ext>
            </a:extLst>
          </p:cNvPr>
          <p:cNvSpPr txBox="1"/>
          <p:nvPr/>
        </p:nvSpPr>
        <p:spPr>
          <a:xfrm>
            <a:off x="336721" y="4191683"/>
            <a:ext cx="24819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</a:p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B46AC4-703A-3750-A2BC-C9575E1F4A66}"/>
              </a:ext>
            </a:extLst>
          </p:cNvPr>
          <p:cNvSpPr txBox="1"/>
          <p:nvPr/>
        </p:nvSpPr>
        <p:spPr>
          <a:xfrm>
            <a:off x="1979386" y="4746171"/>
            <a:ext cx="685723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IT22896186</a:t>
            </a:r>
            <a:r>
              <a:rPr lang="en-US" dirty="0">
                <a:latin typeface="Times New Roman"/>
                <a:cs typeface="Times New Roman"/>
              </a:rPr>
              <a:t>   |</a:t>
            </a:r>
            <a:r>
              <a:rPr lang="en-US" b="1" dirty="0">
                <a:latin typeface="Times New Roman"/>
                <a:cs typeface="Times New Roman"/>
              </a:rPr>
              <a:t> </a:t>
            </a:r>
            <a:r>
              <a:rPr lang="en-US" b="1" dirty="0" err="1">
                <a:latin typeface="Times New Roman"/>
                <a:cs typeface="Times New Roman"/>
              </a:rPr>
              <a:t>Hewagama</a:t>
            </a:r>
            <a:r>
              <a:rPr lang="en-US" b="1" dirty="0">
                <a:latin typeface="Times New Roman"/>
                <a:cs typeface="Times New Roman"/>
              </a:rPr>
              <a:t> S R </a:t>
            </a:r>
            <a:r>
              <a:rPr lang="en-US" dirty="0">
                <a:latin typeface="Times New Roman"/>
                <a:cs typeface="Times New Roman"/>
              </a:rPr>
              <a:t>| </a:t>
            </a:r>
            <a:r>
              <a:rPr lang="en-US" dirty="0">
                <a:latin typeface="Times New Roman"/>
                <a:ea typeface="Calibri"/>
                <a:cs typeface="Times New Roman"/>
              </a:rPr>
              <a:t>R26-DS-004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253292-9DB9-FD70-1B71-198DD8F1ABDF}"/>
              </a:ext>
            </a:extLst>
          </p:cNvPr>
          <p:cNvSpPr txBox="1"/>
          <p:nvPr/>
        </p:nvSpPr>
        <p:spPr>
          <a:xfrm>
            <a:off x="399620" y="1568402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Individual Component 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C430FF-626E-9C5E-AA3C-2C14C3D4C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3" y="67814"/>
            <a:ext cx="1548853" cy="206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70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7A32A-E427-E719-12AD-282178B4F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C674D5-ECBE-4CA2-04D8-6E7486606F46}"/>
              </a:ext>
            </a:extLst>
          </p:cNvPr>
          <p:cNvSpPr txBox="1"/>
          <p:nvPr/>
        </p:nvSpPr>
        <p:spPr>
          <a:xfrm>
            <a:off x="508000" y="132772"/>
            <a:ext cx="6560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6000"/>
                  </a:schemeClr>
                </a:solidFill>
                <a:latin typeface="Times New Roman"/>
                <a:cs typeface="Times New Roman"/>
              </a:rPr>
              <a:t>Intelligent Tax Advisory Language Model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7F6012-3D7B-CABB-F3CB-12BC7AC78654}"/>
              </a:ext>
            </a:extLst>
          </p:cNvPr>
          <p:cNvCxnSpPr>
            <a:cxnSpLocks/>
          </p:cNvCxnSpPr>
          <p:nvPr/>
        </p:nvCxnSpPr>
        <p:spPr>
          <a:xfrm>
            <a:off x="372861" y="649465"/>
            <a:ext cx="861420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DFC83CB-2DBE-82E7-A871-0CF6A9E02D6A}"/>
              </a:ext>
            </a:extLst>
          </p:cNvPr>
          <p:cNvSpPr txBox="1"/>
          <p:nvPr/>
        </p:nvSpPr>
        <p:spPr>
          <a:xfrm>
            <a:off x="162940" y="813836"/>
            <a:ext cx="4368729" cy="1777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Problem Addressed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Tax regulations are difficult for users to understand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Manual tax information lookup is time-consuming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General AI models may generate incorrect tax advice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Need explainable and legally grounded tax guidance</a:t>
            </a:r>
            <a:endParaRPr lang="en-US" sz="14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1451B7-099D-E0FC-F07F-2BB0E2E60480}"/>
              </a:ext>
            </a:extLst>
          </p:cNvPr>
          <p:cNvSpPr txBox="1"/>
          <p:nvPr/>
        </p:nvSpPr>
        <p:spPr>
          <a:xfrm>
            <a:off x="4914902" y="711493"/>
            <a:ext cx="36004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Architecture</a:t>
            </a:r>
          </a:p>
        </p:txBody>
      </p:sp>
      <p:pic>
        <p:nvPicPr>
          <p:cNvPr id="8" name="Picture 7" descr="A diagram of a tax strategy&#10;&#10;AI-generated content may be incorrect.">
            <a:extLst>
              <a:ext uri="{FF2B5EF4-FFF2-40B4-BE49-F238E27FC236}">
                <a16:creationId xmlns:a16="http://schemas.microsoft.com/office/drawing/2014/main" id="{954F3DDA-33D4-5831-10BC-6DDA572D2A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133" t="4928" r="1133" b="3830"/>
          <a:stretch>
            <a:fillRect/>
          </a:stretch>
        </p:blipFill>
        <p:spPr>
          <a:xfrm>
            <a:off x="4867164" y="1126021"/>
            <a:ext cx="3802941" cy="23132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969BF9-E8B5-E6AD-B7D1-CCE98310F02D}"/>
              </a:ext>
            </a:extLst>
          </p:cNvPr>
          <p:cNvSpPr txBox="1"/>
          <p:nvPr/>
        </p:nvSpPr>
        <p:spPr>
          <a:xfrm>
            <a:off x="4872266" y="3596923"/>
            <a:ext cx="4114799" cy="1777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Why TF-IDF + Knowledge Graph?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Efficient legal document retrieval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Supports explainable tax advisory responses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Lightweight and scalable deployment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Improves legal traceability and accuracy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E3E6AE-BDF4-0FB4-FCA1-FA24E32801E5}"/>
              </a:ext>
            </a:extLst>
          </p:cNvPr>
          <p:cNvCxnSpPr>
            <a:cxnSpLocks/>
          </p:cNvCxnSpPr>
          <p:nvPr/>
        </p:nvCxnSpPr>
        <p:spPr>
          <a:xfrm>
            <a:off x="508000" y="1113605"/>
            <a:ext cx="17716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A881925-6153-F102-C6B3-3BEA2105B82B}"/>
              </a:ext>
            </a:extLst>
          </p:cNvPr>
          <p:cNvCxnSpPr>
            <a:cxnSpLocks/>
          </p:cNvCxnSpPr>
          <p:nvPr/>
        </p:nvCxnSpPr>
        <p:spPr>
          <a:xfrm>
            <a:off x="398250" y="2604147"/>
            <a:ext cx="2480619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C4C674-420F-98F1-A938-4042644D1A9F}"/>
              </a:ext>
            </a:extLst>
          </p:cNvPr>
          <p:cNvCxnSpPr>
            <a:cxnSpLocks/>
          </p:cNvCxnSpPr>
          <p:nvPr/>
        </p:nvCxnSpPr>
        <p:spPr>
          <a:xfrm>
            <a:off x="4914902" y="976184"/>
            <a:ext cx="1641904" cy="0"/>
          </a:xfrm>
          <a:prstGeom prst="line">
            <a:avLst/>
          </a:prstGeom>
          <a:ln w="3810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218C11-C111-A58A-D2CC-561D97DAA593}"/>
              </a:ext>
            </a:extLst>
          </p:cNvPr>
          <p:cNvCxnSpPr>
            <a:cxnSpLocks/>
          </p:cNvCxnSpPr>
          <p:nvPr/>
        </p:nvCxnSpPr>
        <p:spPr>
          <a:xfrm>
            <a:off x="4914902" y="3891643"/>
            <a:ext cx="126811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D795B80-19E2-113A-0EC2-57C3EBAEB4C3}"/>
              </a:ext>
            </a:extLst>
          </p:cNvPr>
          <p:cNvCxnSpPr>
            <a:cxnSpLocks/>
          </p:cNvCxnSpPr>
          <p:nvPr/>
        </p:nvCxnSpPr>
        <p:spPr>
          <a:xfrm>
            <a:off x="245419" y="2191208"/>
            <a:ext cx="428625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F8A6656-88F0-B93C-B659-96A50419D824}"/>
              </a:ext>
            </a:extLst>
          </p:cNvPr>
          <p:cNvCxnSpPr>
            <a:cxnSpLocks/>
          </p:cNvCxnSpPr>
          <p:nvPr/>
        </p:nvCxnSpPr>
        <p:spPr>
          <a:xfrm flipH="1">
            <a:off x="4663130" y="685800"/>
            <a:ext cx="10811" cy="41148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8989097-964F-8EA7-F63F-EE56A2C0CBD1}"/>
              </a:ext>
            </a:extLst>
          </p:cNvPr>
          <p:cNvCxnSpPr>
            <a:cxnSpLocks/>
          </p:cNvCxnSpPr>
          <p:nvPr/>
        </p:nvCxnSpPr>
        <p:spPr>
          <a:xfrm>
            <a:off x="4878604" y="3600450"/>
            <a:ext cx="3995864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close up of a sign&#10;&#10;AI-generated content may be incorrect.">
            <a:extLst>
              <a:ext uri="{FF2B5EF4-FFF2-40B4-BE49-F238E27FC236}">
                <a16:creationId xmlns:a16="http://schemas.microsoft.com/office/drawing/2014/main" id="{88DCF6DC-A560-7C93-03A3-014A39704FD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62940" y="4806071"/>
            <a:ext cx="1292537" cy="318834"/>
          </a:xfrm>
          <a:prstGeom prst="rect">
            <a:avLst/>
          </a:prstGeom>
          <a:ln w="0"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81CBD8C-5541-95E0-831E-641BFF7A4087}"/>
              </a:ext>
            </a:extLst>
          </p:cNvPr>
          <p:cNvSpPr txBox="1"/>
          <p:nvPr/>
        </p:nvSpPr>
        <p:spPr>
          <a:xfrm>
            <a:off x="269532" y="2261407"/>
            <a:ext cx="4727863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b="1" dirty="0">
                <a:latin typeface="Times New Roman"/>
                <a:cs typeface="Times New Roman"/>
              </a:rPr>
              <a:t>Design Excellence / Contribution</a:t>
            </a:r>
            <a:endParaRPr lang="en-US" sz="1500" dirty="0">
              <a:latin typeface="Aptos" panose="02110004020202020204"/>
              <a:cs typeface="Times New Roman"/>
            </a:endParaRPr>
          </a:p>
          <a:p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IRD documents, circulars, and tax regulations collected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collected: </a:t>
            </a:r>
          </a:p>
          <a:p>
            <a:pPr marL="228600" lvl="1" indent="-228600">
              <a:buFont typeface="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 queries </a:t>
            </a:r>
          </a:p>
          <a:p>
            <a:pPr marL="228600" lvl="1" indent="-228600">
              <a:buFont typeface="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references </a:t>
            </a:r>
          </a:p>
          <a:p>
            <a:pPr marL="228600" lvl="1" indent="-228600">
              <a:buFont typeface="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content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</a:t>
            </a:r>
          </a:p>
          <a:p>
            <a:pPr marL="228600" lvl="1" indent="-228600">
              <a:buFont typeface="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 </a:t>
            </a:r>
          </a:p>
          <a:p>
            <a:pPr marL="228600" lvl="1" indent="-228600">
              <a:buFont typeface="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 &amp; normalization </a:t>
            </a:r>
          </a:p>
          <a:p>
            <a:pPr marL="228600" lvl="1" indent="-228600">
              <a:buFont typeface="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 classification preparation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182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2046-BC2C-23BB-D2A1-1C8C5ABE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C4A9E3-1575-484D-F5C3-0427393060B7}"/>
              </a:ext>
            </a:extLst>
          </p:cNvPr>
          <p:cNvSpPr txBox="1"/>
          <p:nvPr/>
        </p:nvSpPr>
        <p:spPr>
          <a:xfrm>
            <a:off x="342900" y="685800"/>
            <a:ext cx="4229100" cy="1777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Solution Addresses the Problem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Retrieves relevant tax regulations and legal references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Understands user tax queries using AI models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Generates explainable and citation-based tax guidance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Provides structured and reliable advisory responses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B64ED-151B-A652-8CBC-594CF0B02CCD}"/>
              </a:ext>
            </a:extLst>
          </p:cNvPr>
          <p:cNvSpPr txBox="1"/>
          <p:nvPr/>
        </p:nvSpPr>
        <p:spPr>
          <a:xfrm>
            <a:off x="4857750" y="685825"/>
            <a:ext cx="3971924" cy="19851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Features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Tax query and advisory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Intent detection and legal retrieval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Citation-based response generation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Knowledge graph context display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Interactive advisory dashboard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3FAC89-5061-CCB6-C100-FA57E8D5F888}"/>
              </a:ext>
            </a:extLst>
          </p:cNvPr>
          <p:cNvSpPr txBox="1"/>
          <p:nvPr/>
        </p:nvSpPr>
        <p:spPr>
          <a:xfrm>
            <a:off x="257180" y="2571750"/>
            <a:ext cx="4314820" cy="21929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Excellence / Contribution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Hybrid retrieval + AI advisory architecture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Explainable and legally grounded responses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Knowledge graph integration for tax reasoning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Modular and scalable system design 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Supports multilingual tax queries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6895" lvl="1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E36EC7-B565-A452-E093-11637A42D1F4}"/>
              </a:ext>
            </a:extLst>
          </p:cNvPr>
          <p:cNvSpPr txBox="1"/>
          <p:nvPr/>
        </p:nvSpPr>
        <p:spPr>
          <a:xfrm>
            <a:off x="4796287" y="2793880"/>
            <a:ext cx="404220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Feedback on Prototype</a:t>
            </a: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Users preferred citation-based explanations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Explainable responses increased trust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Knowledge graph view improved understanding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Interactive advisory interface was useful</a:t>
            </a:r>
            <a:endParaRPr lang="en-US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04A16E-18A5-8648-3493-6F0AFAFDFCCE}"/>
              </a:ext>
            </a:extLst>
          </p:cNvPr>
          <p:cNvCxnSpPr>
            <a:cxnSpLocks/>
          </p:cNvCxnSpPr>
          <p:nvPr/>
        </p:nvCxnSpPr>
        <p:spPr>
          <a:xfrm>
            <a:off x="342900" y="971550"/>
            <a:ext cx="33718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CBB2C1A-288B-C60F-4405-7B8000A49561}"/>
              </a:ext>
            </a:extLst>
          </p:cNvPr>
          <p:cNvCxnSpPr>
            <a:cxnSpLocks/>
          </p:cNvCxnSpPr>
          <p:nvPr/>
        </p:nvCxnSpPr>
        <p:spPr>
          <a:xfrm>
            <a:off x="4857750" y="971550"/>
            <a:ext cx="17145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89F46E-B597-985D-CEE9-AA8FC61C20BF}"/>
              </a:ext>
            </a:extLst>
          </p:cNvPr>
          <p:cNvCxnSpPr>
            <a:cxnSpLocks/>
          </p:cNvCxnSpPr>
          <p:nvPr/>
        </p:nvCxnSpPr>
        <p:spPr>
          <a:xfrm flipV="1">
            <a:off x="306084" y="2916407"/>
            <a:ext cx="2686050" cy="772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965DE5-89DB-6995-FC7B-7BB13AF11EC5}"/>
              </a:ext>
            </a:extLst>
          </p:cNvPr>
          <p:cNvCxnSpPr>
            <a:cxnSpLocks/>
          </p:cNvCxnSpPr>
          <p:nvPr/>
        </p:nvCxnSpPr>
        <p:spPr>
          <a:xfrm>
            <a:off x="4871768" y="3047281"/>
            <a:ext cx="234315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C7F006-3E0D-A75F-EFDB-4E2A48550AD9}"/>
              </a:ext>
            </a:extLst>
          </p:cNvPr>
          <p:cNvCxnSpPr>
            <a:cxnSpLocks/>
          </p:cNvCxnSpPr>
          <p:nvPr/>
        </p:nvCxnSpPr>
        <p:spPr>
          <a:xfrm>
            <a:off x="162940" y="2389463"/>
            <a:ext cx="440055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9857D1-27E1-6D72-E95E-95FF9768A53C}"/>
              </a:ext>
            </a:extLst>
          </p:cNvPr>
          <p:cNvCxnSpPr>
            <a:cxnSpLocks/>
          </p:cNvCxnSpPr>
          <p:nvPr/>
        </p:nvCxnSpPr>
        <p:spPr>
          <a:xfrm>
            <a:off x="4743450" y="571500"/>
            <a:ext cx="0" cy="42291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77FD43-7A6A-A887-D038-FF8E8D92DB84}"/>
              </a:ext>
            </a:extLst>
          </p:cNvPr>
          <p:cNvCxnSpPr>
            <a:cxnSpLocks/>
          </p:cNvCxnSpPr>
          <p:nvPr/>
        </p:nvCxnSpPr>
        <p:spPr>
          <a:xfrm>
            <a:off x="4857750" y="2571750"/>
            <a:ext cx="4099353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CDAD058-969E-9B60-3A6B-8A45BF69B7C8}"/>
              </a:ext>
            </a:extLst>
          </p:cNvPr>
          <p:cNvCxnSpPr>
            <a:cxnSpLocks/>
          </p:cNvCxnSpPr>
          <p:nvPr/>
        </p:nvCxnSpPr>
        <p:spPr>
          <a:xfrm>
            <a:off x="371475" y="459255"/>
            <a:ext cx="84010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close up of a sign&#10;&#10;AI-generated content may be incorrect.">
            <a:extLst>
              <a:ext uri="{FF2B5EF4-FFF2-40B4-BE49-F238E27FC236}">
                <a16:creationId xmlns:a16="http://schemas.microsoft.com/office/drawing/2014/main" id="{8EC18A99-49AE-E9D4-4BD2-FA067EEBCE3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62940" y="4806071"/>
            <a:ext cx="1292537" cy="318834"/>
          </a:xfrm>
          <a:prstGeom prst="rect">
            <a:avLst/>
          </a:prstGeom>
          <a:ln w="0"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C15EA70-8FC9-B1CA-9127-0B1990450850}"/>
              </a:ext>
            </a:extLst>
          </p:cNvPr>
          <p:cNvSpPr txBox="1"/>
          <p:nvPr/>
        </p:nvSpPr>
        <p:spPr>
          <a:xfrm>
            <a:off x="809208" y="-45025"/>
            <a:ext cx="6048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>
                    <a:lumMod val="76000"/>
                  </a:schemeClr>
                </a:solidFill>
                <a:latin typeface="Times New Roman"/>
                <a:cs typeface="Times New Roman"/>
              </a:rPr>
              <a:t>Intelligent Tax Advisory Language Model</a:t>
            </a:r>
          </a:p>
        </p:txBody>
      </p:sp>
    </p:spTree>
    <p:extLst>
      <p:ext uri="{BB962C8B-B14F-4D97-AF65-F5344CB8AC3E}">
        <p14:creationId xmlns:p14="http://schemas.microsoft.com/office/powerpoint/2010/main" val="3590760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C24AB-A4EA-5EDD-05C7-DE3FD871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412AA4-36B3-5C9D-37A6-3DA97D2CF208}"/>
              </a:ext>
            </a:extLst>
          </p:cNvPr>
          <p:cNvSpPr txBox="1"/>
          <p:nvPr/>
        </p:nvSpPr>
        <p:spPr>
          <a:xfrm>
            <a:off x="342900" y="685800"/>
            <a:ext cx="4229100" cy="19851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>
                <a:latin typeface="Times New Roman"/>
                <a:ea typeface="+mn-lt"/>
                <a:cs typeface="Times New Roman"/>
              </a:rPr>
              <a:t>Customer Persona</a:t>
            </a:r>
            <a:endParaRPr lang="en-US" b="1">
              <a:latin typeface="Times New Roman"/>
              <a:cs typeface="Times New Roman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Individual taxpayers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Freelancers &amp; small businesses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Tax consultants and auditors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Financial institutions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72F78F-6CBD-823A-0471-9D8C6748D34C}"/>
              </a:ext>
            </a:extLst>
          </p:cNvPr>
          <p:cNvSpPr txBox="1"/>
          <p:nvPr/>
        </p:nvSpPr>
        <p:spPr>
          <a:xfrm>
            <a:off x="4857750" y="685825"/>
            <a:ext cx="3971924" cy="17774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>
                <a:latin typeface="Times New Roman"/>
                <a:ea typeface="+mn-lt"/>
                <a:cs typeface="Times New Roman"/>
              </a:rPr>
              <a:t>Market Size</a:t>
            </a:r>
            <a:endParaRPr lang="en-US" b="1">
              <a:latin typeface="Times New Roman"/>
              <a:cs typeface="Times New Roman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Sri Lankan digital tax-compliance market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Growing demand for AI-driven tax advisory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Potential enterprise and API expansion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3995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C41B75-A2B3-BB18-82D8-975A16932C74}"/>
              </a:ext>
            </a:extLst>
          </p:cNvPr>
          <p:cNvSpPr txBox="1"/>
          <p:nvPr/>
        </p:nvSpPr>
        <p:spPr>
          <a:xfrm>
            <a:off x="257180" y="2571750"/>
            <a:ext cx="4314820" cy="21929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500" b="1">
                <a:latin typeface="Times New Roman"/>
                <a:ea typeface="+mn-lt"/>
                <a:cs typeface="Times New Roman"/>
              </a:rPr>
              <a:t>What is Unique in Your Solution</a:t>
            </a:r>
            <a:endParaRPr lang="en-US" b="1">
              <a:latin typeface="Times New Roman"/>
              <a:cs typeface="Times New Roman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Explainable AI-based tax advisory platform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Personalized tax optimization pipeline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Privacy-focused and ethically controlled system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Human-review support for uncertain cases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6895" lvl="1" indent="-213995">
              <a:buFont typeface="Arial" panose="020B0604020202020204" pitchFamily="34" charset="0"/>
              <a:buChar char="•"/>
            </a:pP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C5A595-28F0-2485-F6A6-389A231D87FF}"/>
              </a:ext>
            </a:extLst>
          </p:cNvPr>
          <p:cNvSpPr txBox="1"/>
          <p:nvPr/>
        </p:nvSpPr>
        <p:spPr>
          <a:xfrm>
            <a:off x="4796287" y="2793880"/>
            <a:ext cx="4042203" cy="19620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350" b="1">
                <a:latin typeface="Times New Roman"/>
                <a:ea typeface="+mn-lt"/>
                <a:cs typeface="Times New Roman"/>
              </a:rPr>
              <a:t>How will the cost be recovered?</a:t>
            </a:r>
            <a:endParaRPr lang="en-US" b="1">
              <a:latin typeface="Times New Roman"/>
              <a:cs typeface="Times New Roman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SaaS subscription model </a:t>
            </a:r>
            <a:endParaRPr lang="en-US">
              <a:latin typeface="Times New Roman"/>
              <a:ea typeface="+mn-lt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Enterprise licensing and API integration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Maintenance handled only by the research team </a:t>
            </a:r>
            <a:endParaRPr lang="en-US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1350">
                <a:latin typeface="Times New Roman"/>
                <a:ea typeface="+mn-lt"/>
                <a:cs typeface="Times New Roman"/>
              </a:rPr>
              <a:t>Long-term compliance and support services</a:t>
            </a:r>
            <a:endParaRPr lang="en-US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135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35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46EA4E-3A72-CD0A-E8D0-132B6F9FE914}"/>
              </a:ext>
            </a:extLst>
          </p:cNvPr>
          <p:cNvCxnSpPr>
            <a:cxnSpLocks/>
          </p:cNvCxnSpPr>
          <p:nvPr/>
        </p:nvCxnSpPr>
        <p:spPr>
          <a:xfrm>
            <a:off x="342900" y="1006398"/>
            <a:ext cx="33718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B85EDA-07F9-E872-3452-08345370105C}"/>
              </a:ext>
            </a:extLst>
          </p:cNvPr>
          <p:cNvCxnSpPr>
            <a:cxnSpLocks/>
          </p:cNvCxnSpPr>
          <p:nvPr/>
        </p:nvCxnSpPr>
        <p:spPr>
          <a:xfrm>
            <a:off x="4857750" y="971550"/>
            <a:ext cx="17145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384EE0-304D-1F93-1388-CA50CDA96219}"/>
              </a:ext>
            </a:extLst>
          </p:cNvPr>
          <p:cNvCxnSpPr>
            <a:cxnSpLocks/>
          </p:cNvCxnSpPr>
          <p:nvPr/>
        </p:nvCxnSpPr>
        <p:spPr>
          <a:xfrm flipV="1">
            <a:off x="306084" y="2916407"/>
            <a:ext cx="2686050" cy="7723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18FCA6-5A14-F44E-9210-9DD95A7C2664}"/>
              </a:ext>
            </a:extLst>
          </p:cNvPr>
          <p:cNvCxnSpPr>
            <a:cxnSpLocks/>
          </p:cNvCxnSpPr>
          <p:nvPr/>
        </p:nvCxnSpPr>
        <p:spPr>
          <a:xfrm>
            <a:off x="4871768" y="3047281"/>
            <a:ext cx="2343151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B6D0E6-AF89-0ED9-CCCD-206B590F1954}"/>
              </a:ext>
            </a:extLst>
          </p:cNvPr>
          <p:cNvCxnSpPr>
            <a:cxnSpLocks/>
          </p:cNvCxnSpPr>
          <p:nvPr/>
        </p:nvCxnSpPr>
        <p:spPr>
          <a:xfrm>
            <a:off x="162940" y="2389463"/>
            <a:ext cx="4400550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4A610D-E7E9-2C09-9905-B6F8FF2DCB67}"/>
              </a:ext>
            </a:extLst>
          </p:cNvPr>
          <p:cNvCxnSpPr>
            <a:cxnSpLocks/>
          </p:cNvCxnSpPr>
          <p:nvPr/>
        </p:nvCxnSpPr>
        <p:spPr>
          <a:xfrm>
            <a:off x="4743450" y="571500"/>
            <a:ext cx="0" cy="422910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BAF7A29-AFEC-F7D9-0265-7DF2329989E9}"/>
              </a:ext>
            </a:extLst>
          </p:cNvPr>
          <p:cNvCxnSpPr>
            <a:cxnSpLocks/>
          </p:cNvCxnSpPr>
          <p:nvPr/>
        </p:nvCxnSpPr>
        <p:spPr>
          <a:xfrm>
            <a:off x="4857750" y="2571750"/>
            <a:ext cx="4099353" cy="0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596268E-A989-BA76-DF2B-C9049A826247}"/>
              </a:ext>
            </a:extLst>
          </p:cNvPr>
          <p:cNvCxnSpPr>
            <a:cxnSpLocks/>
          </p:cNvCxnSpPr>
          <p:nvPr/>
        </p:nvCxnSpPr>
        <p:spPr>
          <a:xfrm>
            <a:off x="371475" y="459255"/>
            <a:ext cx="840105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A close up of a sign&#10;&#10;AI-generated content may be incorrect.">
            <a:extLst>
              <a:ext uri="{FF2B5EF4-FFF2-40B4-BE49-F238E27FC236}">
                <a16:creationId xmlns:a16="http://schemas.microsoft.com/office/drawing/2014/main" id="{C14F80CF-46EC-8156-DCEB-25DD1A02B98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162940" y="4806071"/>
            <a:ext cx="1292537" cy="318834"/>
          </a:xfrm>
          <a:prstGeom prst="rect">
            <a:avLst/>
          </a:prstGeom>
          <a:ln w="0"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1B1F50C-FD0B-580A-D865-656796B316B5}"/>
              </a:ext>
            </a:extLst>
          </p:cNvPr>
          <p:cNvSpPr txBox="1"/>
          <p:nvPr/>
        </p:nvSpPr>
        <p:spPr>
          <a:xfrm>
            <a:off x="690726" y="-3208"/>
            <a:ext cx="825812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>
                <a:solidFill>
                  <a:schemeClr val="accent1">
                    <a:lumMod val="76000"/>
                  </a:schemeClr>
                </a:solidFill>
                <a:latin typeface="Times New Roman"/>
                <a:ea typeface="+mn-lt"/>
                <a:cs typeface="Times New Roman"/>
              </a:rPr>
              <a:t>Commercialization / Sustainability of Solution</a:t>
            </a:r>
            <a:endParaRPr lang="en-US">
              <a:solidFill>
                <a:schemeClr val="accent1">
                  <a:lumMod val="76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112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3">
            <a:extLst>
              <a:ext uri="{FF2B5EF4-FFF2-40B4-BE49-F238E27FC236}">
                <a16:creationId xmlns:a16="http://schemas.microsoft.com/office/drawing/2014/main" id="{0EF07C08-915D-F5B7-244B-68D18C0B6982}"/>
              </a:ext>
            </a:extLst>
          </p:cNvPr>
          <p:cNvSpPr/>
          <p:nvPr/>
        </p:nvSpPr>
        <p:spPr>
          <a:xfrm>
            <a:off x="-360" y="0"/>
            <a:ext cx="9144360" cy="884775"/>
          </a:xfrm>
          <a:custGeom>
            <a:avLst/>
            <a:gdLst/>
            <a:ahLst/>
            <a:cxnLst/>
            <a:rect l="0" t="0" r="r" b="b"/>
            <a:pathLst>
              <a:path w="25401" h="1119">
                <a:moveTo>
                  <a:pt x="0" y="0"/>
                </a:moveTo>
                <a:lnTo>
                  <a:pt x="25401" y="0"/>
                </a:lnTo>
                <a:lnTo>
                  <a:pt x="2540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16365D"/>
          </a:solidFill>
          <a:ln w="12600">
            <a:solidFill>
              <a:srgbClr val="16365D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Freeform: Shape 3">
            <a:extLst>
              <a:ext uri="{FF2B5EF4-FFF2-40B4-BE49-F238E27FC236}">
                <a16:creationId xmlns:a16="http://schemas.microsoft.com/office/drawing/2014/main" id="{85AFC8F1-944C-2124-CF55-E17805F386F7}"/>
              </a:ext>
            </a:extLst>
          </p:cNvPr>
          <p:cNvSpPr/>
          <p:nvPr/>
        </p:nvSpPr>
        <p:spPr>
          <a:xfrm>
            <a:off x="0" y="4258725"/>
            <a:ext cx="9144360" cy="884775"/>
          </a:xfrm>
          <a:custGeom>
            <a:avLst/>
            <a:gdLst/>
            <a:ahLst/>
            <a:cxnLst/>
            <a:rect l="0" t="0" r="r" b="b"/>
            <a:pathLst>
              <a:path w="25401" h="1119">
                <a:moveTo>
                  <a:pt x="0" y="0"/>
                </a:moveTo>
                <a:lnTo>
                  <a:pt x="25401" y="0"/>
                </a:lnTo>
                <a:lnTo>
                  <a:pt x="25401" y="1119"/>
                </a:lnTo>
                <a:lnTo>
                  <a:pt x="0" y="1119"/>
                </a:lnTo>
                <a:lnTo>
                  <a:pt x="0" y="0"/>
                </a:lnTo>
                <a:close/>
              </a:path>
            </a:pathLst>
          </a:custGeom>
          <a:solidFill>
            <a:srgbClr val="16365D"/>
          </a:solidFill>
          <a:ln w="12600">
            <a:solidFill>
              <a:srgbClr val="16365D"/>
            </a:solidFill>
            <a:round/>
          </a:ln>
        </p:spPr>
        <p:txBody>
          <a:bodyPr lIns="96120" tIns="51120" rIns="96120" bIns="5112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A4A50-CC0F-B17D-E356-AEA8DE97B976}"/>
              </a:ext>
            </a:extLst>
          </p:cNvPr>
          <p:cNvSpPr txBox="1"/>
          <p:nvPr/>
        </p:nvSpPr>
        <p:spPr>
          <a:xfrm>
            <a:off x="1553846" y="1755648"/>
            <a:ext cx="603594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LK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72326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C1506AE-725A-4076-9D74-6381688E623A}"/>
</file>

<file path=customXml/itemProps2.xml><?xml version="1.0" encoding="utf-8"?>
<ds:datastoreItem xmlns:ds="http://schemas.openxmlformats.org/officeDocument/2006/customXml" ds:itemID="{3B567922-83C5-4400-80EC-36906981868C}"/>
</file>

<file path=customXml/itemProps3.xml><?xml version="1.0" encoding="utf-8"?>
<ds:datastoreItem xmlns:ds="http://schemas.openxmlformats.org/officeDocument/2006/customXml" ds:itemID="{3D1C22A0-490F-4D19-909C-CEBB4709A48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1321</Words>
  <Application>Microsoft Office PowerPoint</Application>
  <PresentationFormat>On-screen Show (16:9)</PresentationFormat>
  <Paragraphs>304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Pamudu Mandara</dc:creator>
  <cp:lastModifiedBy>PIHILLEGEDARA S N M it22238580</cp:lastModifiedBy>
  <cp:revision>27</cp:revision>
  <dcterms:modified xsi:type="dcterms:W3CDTF">2026-06-14T07:16:14Z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