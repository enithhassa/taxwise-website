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18288000" cy="10287000"/>
  <p:notesSz cx="6858000" cy="9144000"/>
  <p:embeddedFontLst>
    <p:embeddedFont>
      <p:font typeface="Bebas Neue" charset="1" panose="00000500000000000000"/>
      <p:regular r:id="rId69"/>
    </p:embeddedFont>
    <p:embeddedFont>
      <p:font typeface="Anantason Condensed Bold" charset="1" panose="00000000000000000000"/>
      <p:regular r:id="rId70"/>
    </p:embeddedFont>
    <p:embeddedFont>
      <p:font typeface="Garet Italics" charset="1" panose="00000000000000000000"/>
      <p:regular r:id="rId71"/>
    </p:embeddedFont>
    <p:embeddedFont>
      <p:font typeface="Telegraf" charset="1" panose="00000500000000000000"/>
      <p:regular r:id="rId72"/>
    </p:embeddedFont>
    <p:embeddedFont>
      <p:font typeface="Canva Sans" charset="1" panose="020B0503030501040103"/>
      <p:regular r:id="rId73"/>
    </p:embeddedFont>
    <p:embeddedFont>
      <p:font typeface="Canva Student Font" charset="1" panose="00000000000000000000"/>
      <p:regular r:id="rId74"/>
    </p:embeddedFont>
    <p:embeddedFont>
      <p:font typeface="Questrial" charset="1" panose="02000000000000000000"/>
      <p:regular r:id="rId75"/>
    </p:embeddedFont>
    <p:embeddedFont>
      <p:font typeface="Telegraf Bold" charset="1" panose="00000800000000000000"/>
      <p:regular r:id="rId76"/>
    </p:embeddedFont>
    <p:embeddedFont>
      <p:font typeface="Sigher" charset="1" panose="00000000000000000000"/>
      <p:regular r:id="rId77"/>
    </p:embeddedFont>
    <p:embeddedFont>
      <p:font typeface="DM Sans" charset="1" panose="00000000000000000000"/>
      <p:regular r:id="rId78"/>
    </p:embeddedFont>
    <p:embeddedFont>
      <p:font typeface="Garet Bold Italics" charset="1" panose="00000000000000000000"/>
      <p:regular r:id="rId79"/>
    </p:embeddedFont>
    <p:embeddedFont>
      <p:font typeface="DM Sans Bold" charset="1" panose="00000000000000000000"/>
      <p:regular r:id="rId80"/>
    </p:embeddedFont>
    <p:embeddedFont>
      <p:font typeface="Garet" charset="1" panose="00000000000000000000"/>
      <p:regular r:id="rId81"/>
    </p:embeddedFont>
    <p:embeddedFont>
      <p:font typeface="Bebas Neue Bold" charset="1" panose="020B0606020202050201"/>
      <p:regular r:id="rId82"/>
    </p:embeddedFont>
    <p:embeddedFont>
      <p:font typeface="Poppins" charset="1" panose="00000500000000000000"/>
      <p:regular r:id="rId83"/>
    </p:embeddedFont>
    <p:embeddedFont>
      <p:font typeface="Garet Bold" charset="1" panose="00000000000000000000"/>
      <p:regular r:id="rId84"/>
    </p:embeddedFont>
    <p:embeddedFont>
      <p:font typeface="Gagalin" charset="1" panose="00000500000000000000"/>
      <p:regular r:id="rId85"/>
    </p:embeddedFont>
    <p:embeddedFont>
      <p:font typeface="Times New Roman MT Bold" charset="1" panose="02030802070405020303"/>
      <p:regular r:id="rId86"/>
    </p:embeddedFont>
    <p:embeddedFont>
      <p:font typeface="Times New Roman MT" charset="1" panose="02030502070405020303"/>
      <p:regular r:id="rId87"/>
    </p:embeddedFont>
    <p:embeddedFont>
      <p:font typeface="Chewy" charset="1" panose="02000000000000000000"/>
      <p:regular r:id="rId88"/>
    </p:embeddedFont>
    <p:embeddedFont>
      <p:font typeface="Calibri (MS) Bold" charset="1" panose="020F0702030404030204"/>
      <p:regular r:id="rId89"/>
    </p:embeddedFont>
    <p:embeddedFont>
      <p:font typeface="Calistoga" charset="1" panose="00000500000000000000"/>
      <p:regular r:id="rId90"/>
    </p:embeddedFont>
    <p:embeddedFont>
      <p:font typeface="Ahsing" charset="1" panose="00000000000000000000"/>
      <p:regular r:id="rId91"/>
    </p:embeddedFont>
    <p:embeddedFont>
      <p:font typeface="Norwester" charset="1" panose="00000506000000000000"/>
      <p:regular r:id="rId92"/>
    </p:embeddedFont>
    <p:embeddedFont>
      <p:font typeface="Abril Fatface" charset="1" panose="02000503000000020003"/>
      <p:regular r:id="rId93"/>
    </p:embeddedFont>
    <p:embeddedFont>
      <p:font typeface="Brick Sans" charset="1" panose="00000000000000000000"/>
      <p:regular r:id="rId94"/>
    </p:embeddedFont>
    <p:embeddedFont>
      <p:font typeface="Oswald Bold" charset="1" panose="00000800000000000000"/>
      <p:regular r:id="rId95"/>
    </p:embeddedFont>
    <p:embeddedFont>
      <p:font typeface="Canva Sans Bold" charset="1" panose="020B0803030501040103"/>
      <p:regular r:id="rId96"/>
    </p:embeddedFont>
    <p:embeddedFont>
      <p:font typeface="TT Drugs Bold" charset="1" panose="02000803060000020003"/>
      <p:regular r:id="rId97"/>
    </p:embeddedFont>
    <p:embeddedFont>
      <p:font typeface="Marykate" charset="1" panose="00000000000000000000"/>
      <p:regular r:id="rId9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font" Target="fonts/font84.fntdata"/><Relationship Id="rId89" Type="http://schemas.openxmlformats.org/officeDocument/2006/relationships/font" Target="fonts/font89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74.fntdata"/><Relationship Id="rId79" Type="http://schemas.openxmlformats.org/officeDocument/2006/relationships/font" Target="fonts/font79.fntdata"/><Relationship Id="rId5" Type="http://schemas.openxmlformats.org/officeDocument/2006/relationships/tableStyles" Target="tableStyles.xml"/><Relationship Id="rId90" Type="http://schemas.openxmlformats.org/officeDocument/2006/relationships/font" Target="fonts/font90.fntdata"/><Relationship Id="rId95" Type="http://schemas.openxmlformats.org/officeDocument/2006/relationships/font" Target="fonts/font95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font" Target="fonts/font69.fntdata"/><Relationship Id="rId80" Type="http://schemas.openxmlformats.org/officeDocument/2006/relationships/font" Target="fonts/font80.fntdata"/><Relationship Id="rId85" Type="http://schemas.openxmlformats.org/officeDocument/2006/relationships/font" Target="fonts/font85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font" Target="fonts/font70.fntdata"/><Relationship Id="rId75" Type="http://schemas.openxmlformats.org/officeDocument/2006/relationships/font" Target="fonts/font75.fntdata"/><Relationship Id="rId83" Type="http://schemas.openxmlformats.org/officeDocument/2006/relationships/font" Target="fonts/font83.fntdata"/><Relationship Id="rId88" Type="http://schemas.openxmlformats.org/officeDocument/2006/relationships/font" Target="fonts/font88.fntdata"/><Relationship Id="rId91" Type="http://schemas.openxmlformats.org/officeDocument/2006/relationships/font" Target="fonts/font91.fntdata"/><Relationship Id="rId96" Type="http://schemas.openxmlformats.org/officeDocument/2006/relationships/font" Target="fonts/font9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font" Target="fonts/font73.fntdata"/><Relationship Id="rId78" Type="http://schemas.openxmlformats.org/officeDocument/2006/relationships/font" Target="fonts/font78.fntdata"/><Relationship Id="rId81" Type="http://schemas.openxmlformats.org/officeDocument/2006/relationships/font" Target="fonts/font81.fntdata"/><Relationship Id="rId86" Type="http://schemas.openxmlformats.org/officeDocument/2006/relationships/font" Target="fonts/font86.fntdata"/><Relationship Id="rId94" Type="http://schemas.openxmlformats.org/officeDocument/2006/relationships/font" Target="fonts/font94.fntdata"/><Relationship Id="rId99" Type="http://schemas.openxmlformats.org/officeDocument/2006/relationships/customXml" Target="../customXml/item1.xml"/><Relationship Id="rId101" Type="http://schemas.openxmlformats.org/officeDocument/2006/relationships/customXml" Target="../customXml/item3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76.fntdata"/><Relationship Id="rId97" Type="http://schemas.openxmlformats.org/officeDocument/2006/relationships/font" Target="fonts/font97.fntdata"/><Relationship Id="rId7" Type="http://schemas.openxmlformats.org/officeDocument/2006/relationships/slide" Target="slides/slide2.xml"/><Relationship Id="rId71" Type="http://schemas.openxmlformats.org/officeDocument/2006/relationships/font" Target="fonts/font71.fntdata"/><Relationship Id="rId92" Type="http://schemas.openxmlformats.org/officeDocument/2006/relationships/font" Target="fonts/font92.fntdata"/><Relationship Id="rId2" Type="http://schemas.openxmlformats.org/officeDocument/2006/relationships/presProps" Target="presProps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87.fntdata"/><Relationship Id="rId61" Type="http://schemas.openxmlformats.org/officeDocument/2006/relationships/slide" Target="slides/slide56.xml"/><Relationship Id="rId82" Type="http://schemas.openxmlformats.org/officeDocument/2006/relationships/font" Target="fonts/font82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font" Target="fonts/font77.fntdata"/><Relationship Id="rId100" Type="http://schemas.openxmlformats.org/officeDocument/2006/relationships/customXml" Target="../customXml/item2.xml"/><Relationship Id="rId51" Type="http://schemas.openxmlformats.org/officeDocument/2006/relationships/slide" Target="slides/slide46.xml"/><Relationship Id="rId72" Type="http://schemas.openxmlformats.org/officeDocument/2006/relationships/font" Target="fonts/font72.fntdata"/><Relationship Id="rId8" Type="http://schemas.openxmlformats.org/officeDocument/2006/relationships/slide" Target="slides/slide3.xml"/><Relationship Id="rId93" Type="http://schemas.openxmlformats.org/officeDocument/2006/relationships/font" Target="fonts/font93.fntdata"/><Relationship Id="rId98" Type="http://schemas.openxmlformats.org/officeDocument/2006/relationships/font" Target="fonts/font98.fntdata"/><Relationship Id="rId3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2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9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9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7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8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0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1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028" y="475868"/>
            <a:ext cx="3857088" cy="8583378"/>
          </a:xfrm>
          <a:custGeom>
            <a:avLst/>
            <a:gdLst/>
            <a:ahLst/>
            <a:cxnLst/>
            <a:rect r="r" b="b" t="t" l="l"/>
            <a:pathLst>
              <a:path h="8583378" w="3857088">
                <a:moveTo>
                  <a:pt x="0" y="0"/>
                </a:moveTo>
                <a:lnTo>
                  <a:pt x="3857088" y="0"/>
                </a:lnTo>
                <a:lnTo>
                  <a:pt x="3857088" y="8583379"/>
                </a:lnTo>
                <a:lnTo>
                  <a:pt x="0" y="8583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68542" y="1057275"/>
            <a:ext cx="13287904" cy="546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787"/>
              </a:lnSpc>
            </a:pPr>
            <a:r>
              <a:rPr lang="en-US" sz="9299">
                <a:solidFill>
                  <a:srgbClr val="A14949"/>
                </a:solidFill>
                <a:latin typeface="Bebas Neue"/>
                <a:ea typeface="Bebas Neue"/>
                <a:cs typeface="Bebas Neue"/>
                <a:sym typeface="Bebas Neue"/>
              </a:rPr>
              <a:t>AN INTELLIGENT AI-DRIVEN</a:t>
            </a:r>
            <a:r>
              <a:rPr lang="en-US" sz="9299">
                <a:solidFill>
                  <a:srgbClr val="A14949"/>
                </a:solidFill>
                <a:latin typeface="Bebas Neue"/>
                <a:ea typeface="Bebas Neue"/>
                <a:cs typeface="Bebas Neue"/>
                <a:sym typeface="Bebas Neue"/>
              </a:rPr>
              <a:t> Decision Support System for Personalized Income Tax Compliance and Advisory in Sri Lanka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367" y="8521330"/>
            <a:ext cx="6098883" cy="73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05"/>
              </a:lnSpc>
            </a:pPr>
            <a:r>
              <a:rPr lang="en-US" b="true" sz="4918">
                <a:solidFill>
                  <a:srgbClr val="A1494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Group: R26-DS-004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5188" y="6514717"/>
            <a:ext cx="605906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sz="2611" i="true">
                <a:solidFill>
                  <a:srgbClr val="A14949"/>
                </a:solidFill>
                <a:latin typeface="Garet Italics"/>
                <a:ea typeface="Garet Italics"/>
                <a:cs typeface="Garet Italics"/>
                <a:sym typeface="Garet Italics"/>
              </a:rPr>
              <a:t>Towards Explainable, Personalized Income Tax Support Using Intelligent Financial Reasoning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21235" y="9518075"/>
            <a:ext cx="135239" cy="34931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1369" y="2953267"/>
            <a:ext cx="12246426" cy="6462720"/>
            <a:chOff x="0" y="0"/>
            <a:chExt cx="1899426" cy="1002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9426" cy="1002371"/>
            </a:xfrm>
            <a:custGeom>
              <a:avLst/>
              <a:gdLst/>
              <a:ahLst/>
              <a:cxnLst/>
              <a:rect r="r" b="b" t="t" l="l"/>
              <a:pathLst>
                <a:path h="1002371" w="1899426">
                  <a:moveTo>
                    <a:pt x="0" y="0"/>
                  </a:moveTo>
                  <a:lnTo>
                    <a:pt x="1899426" y="0"/>
                  </a:lnTo>
                  <a:lnTo>
                    <a:pt x="1899426" y="1002371"/>
                  </a:lnTo>
                  <a:lnTo>
                    <a:pt x="0" y="1002371"/>
                  </a:lnTo>
                  <a:close/>
                </a:path>
              </a:pathLst>
            </a:custGeom>
            <a:solidFill>
              <a:srgbClr val="E9E4D9"/>
            </a:solidFill>
            <a:ln w="19050" cap="sq">
              <a:solidFill>
                <a:srgbClr val="A1494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99426" cy="103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94223" y="1028700"/>
            <a:ext cx="6350788" cy="6358726"/>
          </a:xfrm>
          <a:custGeom>
            <a:avLst/>
            <a:gdLst/>
            <a:ahLst/>
            <a:cxnLst/>
            <a:rect r="r" b="b" t="t" l="l"/>
            <a:pathLst>
              <a:path h="6358726" w="6350788">
                <a:moveTo>
                  <a:pt x="0" y="0"/>
                </a:moveTo>
                <a:lnTo>
                  <a:pt x="6350788" y="0"/>
                </a:lnTo>
                <a:lnTo>
                  <a:pt x="6350788" y="6358726"/>
                </a:lnTo>
                <a:lnTo>
                  <a:pt x="0" y="635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9991" y="500770"/>
            <a:ext cx="3190803" cy="223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1"/>
              </a:lnSpc>
            </a:pPr>
            <a:r>
              <a:rPr lang="en-US" sz="15001">
                <a:solidFill>
                  <a:srgbClr val="A14949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Why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8161" y="462670"/>
            <a:ext cx="6836062" cy="249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3"/>
              </a:lnSpc>
            </a:pPr>
            <a:r>
              <a:rPr lang="en-US" sz="8399">
                <a:solidFill>
                  <a:srgbClr val="A14949"/>
                </a:solidFill>
                <a:latin typeface="Bebas Neue"/>
                <a:ea typeface="Bebas Neue"/>
                <a:cs typeface="Bebas Neue"/>
                <a:sym typeface="Bebas Neue"/>
              </a:rPr>
              <a:t>tax compliance still difficult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448" y="2997303"/>
            <a:ext cx="12623348" cy="703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6255" indent="-428127" lvl="1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rPr>
              <a:t>Taxpayers are legally required to file annual income tax returns</a:t>
            </a:r>
          </a:p>
          <a:p>
            <a:pPr algn="l" marL="856255" indent="-428127" lvl="1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rPr>
              <a:t>Many individuals assume tax deduction at source is enough</a:t>
            </a:r>
          </a:p>
          <a:p>
            <a:pPr algn="l" marL="856255" indent="-428127" lvl="1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rPr>
              <a:t>Financial records are complex and difficult to interpret</a:t>
            </a:r>
          </a:p>
          <a:p>
            <a:pPr algn="l" marL="856255" indent="-428127" lvl="1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rPr>
              <a:t>Determining what is actually taxable is not straightforward</a:t>
            </a:r>
          </a:p>
          <a:p>
            <a:pPr algn="l" marL="856255" indent="-428127" lvl="1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A14949"/>
                </a:solidFill>
                <a:latin typeface="Questrial"/>
                <a:ea typeface="Questrial"/>
                <a:cs typeface="Questrial"/>
                <a:sym typeface="Questrial"/>
              </a:rPr>
              <a:t>Auditors must manually review financial records</a:t>
            </a:r>
          </a:p>
          <a:p>
            <a:pPr algn="l">
              <a:lnSpc>
                <a:spcPts val="555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27881" y="910033"/>
            <a:ext cx="5849924" cy="206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5"/>
              </a:lnSpc>
            </a:pPr>
            <a:r>
              <a:rPr lang="en-US" sz="13849">
                <a:solidFill>
                  <a:srgbClr val="A14949"/>
                </a:solidFill>
                <a:latin typeface="Sigher"/>
                <a:ea typeface="Sigher"/>
                <a:cs typeface="Sigher"/>
                <a:sym typeface="Sigher"/>
              </a:rPr>
              <a:t>Who 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30711" y="2552508"/>
            <a:ext cx="6844263" cy="267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2"/>
              </a:lnSpc>
            </a:pPr>
            <a:r>
              <a:rPr lang="en-US" sz="9037">
                <a:solidFill>
                  <a:srgbClr val="A14949"/>
                </a:solidFill>
                <a:latin typeface="Bebas Neue"/>
                <a:ea typeface="Bebas Neue"/>
                <a:cs typeface="Bebas Neue"/>
                <a:sym typeface="Bebas Neue"/>
              </a:rPr>
              <a:t>Impacted by This Problem?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6993" y="1944246"/>
            <a:ext cx="8999542" cy="2195616"/>
            <a:chOff x="0" y="0"/>
            <a:chExt cx="2902372" cy="7080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02372" cy="708091"/>
            </a:xfrm>
            <a:custGeom>
              <a:avLst/>
              <a:gdLst/>
              <a:ahLst/>
              <a:cxnLst/>
              <a:rect r="r" b="b" t="t" l="l"/>
              <a:pathLst>
                <a:path h="708091" w="2902372">
                  <a:moveTo>
                    <a:pt x="0" y="0"/>
                  </a:moveTo>
                  <a:lnTo>
                    <a:pt x="2902372" y="0"/>
                  </a:lnTo>
                  <a:lnTo>
                    <a:pt x="2902372" y="708091"/>
                  </a:lnTo>
                  <a:lnTo>
                    <a:pt x="0" y="708091"/>
                  </a:lnTo>
                  <a:close/>
                </a:path>
              </a:pathLst>
            </a:custGeom>
            <a:solidFill>
              <a:srgbClr val="E9E4D9"/>
            </a:solidFill>
            <a:ln w="19050" cap="sq">
              <a:solidFill>
                <a:srgbClr val="A1494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902372" cy="72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28771" y="952500"/>
            <a:ext cx="4067154" cy="72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0"/>
              </a:lnSpc>
            </a:pPr>
            <a:r>
              <a:rPr lang="en-US" sz="4314" b="true">
                <a:solidFill>
                  <a:srgbClr val="A1494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Primary users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52536"/>
            <a:ext cx="9157836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Salaried individuals</a:t>
            </a: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Freelancers and mixed-income earners</a:t>
            </a: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Taxpayers with low tax literacy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66140" y="5493558"/>
            <a:ext cx="8999542" cy="2195616"/>
            <a:chOff x="0" y="0"/>
            <a:chExt cx="2902372" cy="7080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2372" cy="708091"/>
            </a:xfrm>
            <a:custGeom>
              <a:avLst/>
              <a:gdLst/>
              <a:ahLst/>
              <a:cxnLst/>
              <a:rect r="r" b="b" t="t" l="l"/>
              <a:pathLst>
                <a:path h="708091" w="2902372">
                  <a:moveTo>
                    <a:pt x="0" y="0"/>
                  </a:moveTo>
                  <a:lnTo>
                    <a:pt x="2902372" y="0"/>
                  </a:lnTo>
                  <a:lnTo>
                    <a:pt x="2902372" y="708091"/>
                  </a:lnTo>
                  <a:lnTo>
                    <a:pt x="0" y="708091"/>
                  </a:lnTo>
                  <a:close/>
                </a:path>
              </a:pathLst>
            </a:custGeom>
            <a:solidFill>
              <a:srgbClr val="E9E4D9"/>
            </a:solidFill>
            <a:ln w="19050" cap="sq">
              <a:solidFill>
                <a:srgbClr val="A1494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902372" cy="72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43021" y="4501812"/>
            <a:ext cx="4757305" cy="72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0"/>
              </a:lnSpc>
            </a:pPr>
            <a:r>
              <a:rPr lang="en-US" sz="4314" b="true">
                <a:solidFill>
                  <a:srgbClr val="A1494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Wider stakeholders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7847" y="5601848"/>
            <a:ext cx="9157836" cy="245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Tax advisors</a:t>
            </a: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Auditors</a:t>
            </a: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99">
                <a:solidFill>
                  <a:srgbClr val="A14949"/>
                </a:solidFill>
                <a:latin typeface="DM Sans"/>
                <a:ea typeface="DM Sans"/>
                <a:cs typeface="DM Sans"/>
                <a:sym typeface="DM Sans"/>
              </a:rPr>
              <a:t>nland Revenue Department (IRD)</a:t>
            </a:r>
          </a:p>
          <a:p>
            <a:pPr algn="just">
              <a:lnSpc>
                <a:spcPts val="4899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891163" y="4431834"/>
            <a:ext cx="2218373" cy="4860977"/>
          </a:xfrm>
          <a:custGeom>
            <a:avLst/>
            <a:gdLst/>
            <a:ahLst/>
            <a:cxnLst/>
            <a:rect r="r" b="b" t="t" l="l"/>
            <a:pathLst>
              <a:path h="4860977" w="2218373">
                <a:moveTo>
                  <a:pt x="0" y="0"/>
                </a:moveTo>
                <a:lnTo>
                  <a:pt x="2218374" y="0"/>
                </a:lnTo>
                <a:lnTo>
                  <a:pt x="2218374" y="4860977"/>
                </a:lnTo>
                <a:lnTo>
                  <a:pt x="0" y="4860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5926" y="1028700"/>
            <a:ext cx="9603533" cy="8415096"/>
          </a:xfrm>
          <a:custGeom>
            <a:avLst/>
            <a:gdLst/>
            <a:ahLst/>
            <a:cxnLst/>
            <a:rect r="r" b="b" t="t" l="l"/>
            <a:pathLst>
              <a:path h="8415096" w="9603533">
                <a:moveTo>
                  <a:pt x="0" y="0"/>
                </a:moveTo>
                <a:lnTo>
                  <a:pt x="9603533" y="0"/>
                </a:lnTo>
                <a:lnTo>
                  <a:pt x="9603533" y="8415096"/>
                </a:lnTo>
                <a:lnTo>
                  <a:pt x="0" y="8415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37472" y="323850"/>
            <a:ext cx="1195868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b="true" sz="3565" i="true">
                <a:solidFill>
                  <a:srgbClr val="A14949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Existing Solutions Do Not Fully Solve the Problem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38985" y="3652545"/>
            <a:ext cx="7496759" cy="490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Limited personalization</a:t>
            </a:r>
          </a:p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 not consider individual financial behavior</a:t>
            </a:r>
          </a:p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Do not estimate future financial impact</a:t>
            </a:r>
          </a:p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Provide static recommendations without explanation</a:t>
            </a:r>
          </a:p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Requires significant manual effort by auditors</a:t>
            </a:r>
          </a:p>
          <a:p>
            <a:pPr algn="l">
              <a:lnSpc>
                <a:spcPts val="382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52620" y="3016761"/>
            <a:ext cx="3352949" cy="45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Main Limitations;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03285" y="650867"/>
            <a:ext cx="4923845" cy="3041944"/>
            <a:chOff x="0" y="0"/>
            <a:chExt cx="1588008" cy="980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8008" cy="980984"/>
            </a:xfrm>
            <a:custGeom>
              <a:avLst/>
              <a:gdLst/>
              <a:ahLst/>
              <a:cxnLst/>
              <a:rect r="r" b="b" t="t" l="l"/>
              <a:pathLst>
                <a:path h="980984" w="1588008">
                  <a:moveTo>
                    <a:pt x="1588008" y="44025"/>
                  </a:moveTo>
                  <a:lnTo>
                    <a:pt x="1588008" y="936958"/>
                  </a:lnTo>
                  <a:cubicBezTo>
                    <a:pt x="1588008" y="961273"/>
                    <a:pt x="1568297" y="980984"/>
                    <a:pt x="1543983" y="980984"/>
                  </a:cubicBezTo>
                  <a:lnTo>
                    <a:pt x="44025" y="980984"/>
                  </a:lnTo>
                  <a:cubicBezTo>
                    <a:pt x="19711" y="980984"/>
                    <a:pt x="0" y="961273"/>
                    <a:pt x="0" y="936958"/>
                  </a:cubicBezTo>
                  <a:lnTo>
                    <a:pt x="0" y="44025"/>
                  </a:lnTo>
                  <a:cubicBezTo>
                    <a:pt x="0" y="19711"/>
                    <a:pt x="19711" y="0"/>
                    <a:pt x="44025" y="0"/>
                  </a:cubicBezTo>
                  <a:lnTo>
                    <a:pt x="1543983" y="0"/>
                  </a:lnTo>
                  <a:cubicBezTo>
                    <a:pt x="1555659" y="0"/>
                    <a:pt x="1566857" y="4638"/>
                    <a:pt x="1575113" y="12895"/>
                  </a:cubicBezTo>
                  <a:cubicBezTo>
                    <a:pt x="1583370" y="21151"/>
                    <a:pt x="1588008" y="32349"/>
                    <a:pt x="1588008" y="44025"/>
                  </a:cubicBezTo>
                  <a:close/>
                </a:path>
              </a:pathLst>
            </a:custGeom>
            <a:ln w="19050" cap="rnd">
              <a:solidFill>
                <a:srgbClr val="A14949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588008" cy="1000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135008" y="650867"/>
            <a:ext cx="4923845" cy="3041944"/>
            <a:chOff x="0" y="0"/>
            <a:chExt cx="1588008" cy="980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8008" cy="980984"/>
            </a:xfrm>
            <a:custGeom>
              <a:avLst/>
              <a:gdLst/>
              <a:ahLst/>
              <a:cxnLst/>
              <a:rect r="r" b="b" t="t" l="l"/>
              <a:pathLst>
                <a:path h="980984" w="1588008">
                  <a:moveTo>
                    <a:pt x="1588008" y="44025"/>
                  </a:moveTo>
                  <a:lnTo>
                    <a:pt x="1588008" y="936958"/>
                  </a:lnTo>
                  <a:cubicBezTo>
                    <a:pt x="1588008" y="961273"/>
                    <a:pt x="1568297" y="980984"/>
                    <a:pt x="1543983" y="980984"/>
                  </a:cubicBezTo>
                  <a:lnTo>
                    <a:pt x="44025" y="980984"/>
                  </a:lnTo>
                  <a:cubicBezTo>
                    <a:pt x="19711" y="980984"/>
                    <a:pt x="0" y="961273"/>
                    <a:pt x="0" y="936958"/>
                  </a:cubicBezTo>
                  <a:lnTo>
                    <a:pt x="0" y="44025"/>
                  </a:lnTo>
                  <a:cubicBezTo>
                    <a:pt x="0" y="19711"/>
                    <a:pt x="19711" y="0"/>
                    <a:pt x="44025" y="0"/>
                  </a:cubicBezTo>
                  <a:lnTo>
                    <a:pt x="1543983" y="0"/>
                  </a:lnTo>
                  <a:cubicBezTo>
                    <a:pt x="1555659" y="0"/>
                    <a:pt x="1566857" y="4638"/>
                    <a:pt x="1575113" y="12895"/>
                  </a:cubicBezTo>
                  <a:cubicBezTo>
                    <a:pt x="1583370" y="21151"/>
                    <a:pt x="1588008" y="32349"/>
                    <a:pt x="1588008" y="44025"/>
                  </a:cubicBezTo>
                  <a:close/>
                </a:path>
              </a:pathLst>
            </a:custGeom>
            <a:ln w="19050" cap="rnd">
              <a:solidFill>
                <a:srgbClr val="A1494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588008" cy="1000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93181" y="5172075"/>
            <a:ext cx="6039315" cy="296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2"/>
              </a:lnSpc>
            </a:pPr>
            <a:r>
              <a:rPr lang="en-US" sz="5079">
                <a:solidFill>
                  <a:srgbClr val="A14949"/>
                </a:solidFill>
                <a:latin typeface="Garet"/>
                <a:ea typeface="Garet"/>
                <a:cs typeface="Garet"/>
                <a:sym typeface="Garet"/>
              </a:rPr>
              <a:t>An AI-driven tax compliance and advisory system that can: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12839" y="843802"/>
            <a:ext cx="10664150" cy="26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5"/>
              </a:lnSpc>
            </a:pPr>
            <a:r>
              <a:rPr lang="en-US" b="true" sz="9099">
                <a:solidFill>
                  <a:srgbClr val="A1494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 Proposed Research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3326" y="4826192"/>
            <a:ext cx="11292673" cy="396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Interpret financial transaction meaning</a:t>
            </a:r>
          </a:p>
          <a:p>
            <a:pPr algn="just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nfer tax-relevant income</a:t>
            </a:r>
          </a:p>
          <a:p>
            <a:pPr algn="just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rovide explainable decisions</a:t>
            </a:r>
          </a:p>
          <a:p>
            <a:pPr algn="just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enerate tax advice and recommendations</a:t>
            </a:r>
          </a:p>
          <a:p>
            <a:pPr algn="just" marL="798821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upport personalized compliance</a:t>
            </a:r>
          </a:p>
          <a:p>
            <a:pPr algn="just">
              <a:lnSpc>
                <a:spcPts val="51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370200" y="650867"/>
            <a:ext cx="13794050" cy="3041944"/>
            <a:chOff x="0" y="0"/>
            <a:chExt cx="4448772" cy="980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8772" cy="980984"/>
            </a:xfrm>
            <a:custGeom>
              <a:avLst/>
              <a:gdLst/>
              <a:ahLst/>
              <a:cxnLst/>
              <a:rect r="r" b="b" t="t" l="l"/>
              <a:pathLst>
                <a:path h="980984" w="4448772">
                  <a:moveTo>
                    <a:pt x="4448772" y="15715"/>
                  </a:moveTo>
                  <a:lnTo>
                    <a:pt x="4448772" y="965269"/>
                  </a:lnTo>
                  <a:cubicBezTo>
                    <a:pt x="4448772" y="969437"/>
                    <a:pt x="4447116" y="973434"/>
                    <a:pt x="4444169" y="976381"/>
                  </a:cubicBezTo>
                  <a:cubicBezTo>
                    <a:pt x="4441222" y="979328"/>
                    <a:pt x="4437225" y="980984"/>
                    <a:pt x="4433057" y="980984"/>
                  </a:cubicBezTo>
                  <a:lnTo>
                    <a:pt x="15715" y="980984"/>
                  </a:lnTo>
                  <a:cubicBezTo>
                    <a:pt x="11547" y="980984"/>
                    <a:pt x="7550" y="979328"/>
                    <a:pt x="4603" y="976381"/>
                  </a:cubicBezTo>
                  <a:cubicBezTo>
                    <a:pt x="1656" y="973434"/>
                    <a:pt x="0" y="969437"/>
                    <a:pt x="0" y="965269"/>
                  </a:cubicBezTo>
                  <a:lnTo>
                    <a:pt x="0" y="15715"/>
                  </a:lnTo>
                  <a:cubicBezTo>
                    <a:pt x="0" y="11547"/>
                    <a:pt x="1656" y="7550"/>
                    <a:pt x="4603" y="4603"/>
                  </a:cubicBezTo>
                  <a:cubicBezTo>
                    <a:pt x="7550" y="1656"/>
                    <a:pt x="11547" y="0"/>
                    <a:pt x="15715" y="0"/>
                  </a:cubicBezTo>
                  <a:lnTo>
                    <a:pt x="4433057" y="0"/>
                  </a:lnTo>
                  <a:cubicBezTo>
                    <a:pt x="4437225" y="0"/>
                    <a:pt x="4441222" y="1656"/>
                    <a:pt x="4444169" y="4603"/>
                  </a:cubicBezTo>
                  <a:cubicBezTo>
                    <a:pt x="4447116" y="7550"/>
                    <a:pt x="4448772" y="11547"/>
                    <a:pt x="4448772" y="15715"/>
                  </a:cubicBezTo>
                  <a:close/>
                </a:path>
              </a:pathLst>
            </a:custGeom>
            <a:ln w="19050" cap="rnd">
              <a:solidFill>
                <a:srgbClr val="A1494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448772" cy="1000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69118" y="2564964"/>
            <a:ext cx="5847323" cy="1864221"/>
            <a:chOff x="0" y="0"/>
            <a:chExt cx="898840" cy="2865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8840" cy="286565"/>
            </a:xfrm>
            <a:custGeom>
              <a:avLst/>
              <a:gdLst/>
              <a:ahLst/>
              <a:cxnLst/>
              <a:rect r="r" b="b" t="t" l="l"/>
              <a:pathLst>
                <a:path h="286565" w="898840">
                  <a:moveTo>
                    <a:pt x="25860" y="0"/>
                  </a:moveTo>
                  <a:lnTo>
                    <a:pt x="872981" y="0"/>
                  </a:lnTo>
                  <a:cubicBezTo>
                    <a:pt x="887263" y="0"/>
                    <a:pt x="898840" y="11578"/>
                    <a:pt x="898840" y="25860"/>
                  </a:cubicBezTo>
                  <a:lnTo>
                    <a:pt x="898840" y="260705"/>
                  </a:lnTo>
                  <a:cubicBezTo>
                    <a:pt x="898840" y="274987"/>
                    <a:pt x="887263" y="286565"/>
                    <a:pt x="872981" y="286565"/>
                  </a:cubicBezTo>
                  <a:lnTo>
                    <a:pt x="25860" y="286565"/>
                  </a:lnTo>
                  <a:cubicBezTo>
                    <a:pt x="11578" y="286565"/>
                    <a:pt x="0" y="274987"/>
                    <a:pt x="0" y="260705"/>
                  </a:cubicBezTo>
                  <a:lnTo>
                    <a:pt x="0" y="25860"/>
                  </a:lnTo>
                  <a:cubicBezTo>
                    <a:pt x="0" y="11578"/>
                    <a:pt x="11578" y="0"/>
                    <a:pt x="25860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98840" cy="30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36271" y="2839102"/>
            <a:ext cx="5039183" cy="12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3"/>
              </a:lnSpc>
            </a:pPr>
            <a:r>
              <a:rPr lang="en-US" sz="35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Financial transaction semantic reasoning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6378" y="296726"/>
            <a:ext cx="16538129" cy="105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7100">
                <a:solidFill>
                  <a:srgbClr val="A14949"/>
                </a:solidFill>
                <a:latin typeface="Gagalin"/>
                <a:ea typeface="Gagalin"/>
                <a:cs typeface="Gagalin"/>
                <a:sym typeface="Gagalin"/>
              </a:rPr>
              <a:t>Overall Research Solution 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69118" y="5981760"/>
            <a:ext cx="5847323" cy="1864221"/>
            <a:chOff x="0" y="0"/>
            <a:chExt cx="898840" cy="2865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8840" cy="286565"/>
            </a:xfrm>
            <a:custGeom>
              <a:avLst/>
              <a:gdLst/>
              <a:ahLst/>
              <a:cxnLst/>
              <a:rect r="r" b="b" t="t" l="l"/>
              <a:pathLst>
                <a:path h="286565" w="898840">
                  <a:moveTo>
                    <a:pt x="25860" y="0"/>
                  </a:moveTo>
                  <a:lnTo>
                    <a:pt x="872981" y="0"/>
                  </a:lnTo>
                  <a:cubicBezTo>
                    <a:pt x="887263" y="0"/>
                    <a:pt x="898840" y="11578"/>
                    <a:pt x="898840" y="25860"/>
                  </a:cubicBezTo>
                  <a:lnTo>
                    <a:pt x="898840" y="260705"/>
                  </a:lnTo>
                  <a:cubicBezTo>
                    <a:pt x="898840" y="274987"/>
                    <a:pt x="887263" y="286565"/>
                    <a:pt x="872981" y="286565"/>
                  </a:cubicBezTo>
                  <a:lnTo>
                    <a:pt x="25860" y="286565"/>
                  </a:lnTo>
                  <a:cubicBezTo>
                    <a:pt x="11578" y="286565"/>
                    <a:pt x="0" y="274987"/>
                    <a:pt x="0" y="260705"/>
                  </a:cubicBezTo>
                  <a:lnTo>
                    <a:pt x="0" y="25860"/>
                  </a:lnTo>
                  <a:cubicBezTo>
                    <a:pt x="0" y="11578"/>
                    <a:pt x="11578" y="0"/>
                    <a:pt x="25860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98840" cy="30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02276" y="5971226"/>
            <a:ext cx="4707172" cy="186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3"/>
              </a:lnSpc>
            </a:pPr>
            <a:r>
              <a:rPr lang="en-US" sz="35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Intelligent tax advisory language model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85083" y="5969576"/>
            <a:ext cx="5847323" cy="1864221"/>
            <a:chOff x="0" y="0"/>
            <a:chExt cx="898840" cy="2865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8840" cy="286565"/>
            </a:xfrm>
            <a:custGeom>
              <a:avLst/>
              <a:gdLst/>
              <a:ahLst/>
              <a:cxnLst/>
              <a:rect r="r" b="b" t="t" l="l"/>
              <a:pathLst>
                <a:path h="286565" w="898840">
                  <a:moveTo>
                    <a:pt x="25860" y="0"/>
                  </a:moveTo>
                  <a:lnTo>
                    <a:pt x="872981" y="0"/>
                  </a:lnTo>
                  <a:cubicBezTo>
                    <a:pt x="887263" y="0"/>
                    <a:pt x="898840" y="11578"/>
                    <a:pt x="898840" y="25860"/>
                  </a:cubicBezTo>
                  <a:lnTo>
                    <a:pt x="898840" y="260705"/>
                  </a:lnTo>
                  <a:cubicBezTo>
                    <a:pt x="898840" y="274987"/>
                    <a:pt x="887263" y="286565"/>
                    <a:pt x="872981" y="286565"/>
                  </a:cubicBezTo>
                  <a:lnTo>
                    <a:pt x="25860" y="286565"/>
                  </a:lnTo>
                  <a:cubicBezTo>
                    <a:pt x="11578" y="286565"/>
                    <a:pt x="0" y="274987"/>
                    <a:pt x="0" y="260705"/>
                  </a:cubicBezTo>
                  <a:lnTo>
                    <a:pt x="0" y="25860"/>
                  </a:lnTo>
                  <a:cubicBezTo>
                    <a:pt x="0" y="11578"/>
                    <a:pt x="11578" y="0"/>
                    <a:pt x="25860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98840" cy="30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31373" y="6036759"/>
            <a:ext cx="5318319" cy="164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31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Personalized recommendation and predictive modeling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85083" y="2577148"/>
            <a:ext cx="5847323" cy="1864221"/>
            <a:chOff x="0" y="0"/>
            <a:chExt cx="898840" cy="2865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8840" cy="286565"/>
            </a:xfrm>
            <a:custGeom>
              <a:avLst/>
              <a:gdLst/>
              <a:ahLst/>
              <a:cxnLst/>
              <a:rect r="r" b="b" t="t" l="l"/>
              <a:pathLst>
                <a:path h="286565" w="898840">
                  <a:moveTo>
                    <a:pt x="25860" y="0"/>
                  </a:moveTo>
                  <a:lnTo>
                    <a:pt x="872981" y="0"/>
                  </a:lnTo>
                  <a:cubicBezTo>
                    <a:pt x="887263" y="0"/>
                    <a:pt x="898840" y="11578"/>
                    <a:pt x="898840" y="25860"/>
                  </a:cubicBezTo>
                  <a:lnTo>
                    <a:pt x="898840" y="260705"/>
                  </a:lnTo>
                  <a:cubicBezTo>
                    <a:pt x="898840" y="274987"/>
                    <a:pt x="887263" y="286565"/>
                    <a:pt x="872981" y="286565"/>
                  </a:cubicBezTo>
                  <a:lnTo>
                    <a:pt x="25860" y="286565"/>
                  </a:lnTo>
                  <a:cubicBezTo>
                    <a:pt x="11578" y="286565"/>
                    <a:pt x="0" y="274987"/>
                    <a:pt x="0" y="260705"/>
                  </a:cubicBezTo>
                  <a:lnTo>
                    <a:pt x="0" y="25860"/>
                  </a:lnTo>
                  <a:cubicBezTo>
                    <a:pt x="0" y="11578"/>
                    <a:pt x="11578" y="0"/>
                    <a:pt x="25860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98840" cy="30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91507" y="2839102"/>
            <a:ext cx="3034475" cy="12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3"/>
              </a:lnSpc>
            </a:pPr>
            <a:r>
              <a:rPr lang="en-US" sz="35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Tax strategy optimization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02867" y="1468514"/>
            <a:ext cx="14282266" cy="7789786"/>
          </a:xfrm>
          <a:custGeom>
            <a:avLst/>
            <a:gdLst/>
            <a:ahLst/>
            <a:cxnLst/>
            <a:rect r="r" b="b" t="t" l="l"/>
            <a:pathLst>
              <a:path h="7789786" w="14282266">
                <a:moveTo>
                  <a:pt x="0" y="0"/>
                </a:moveTo>
                <a:lnTo>
                  <a:pt x="14282266" y="0"/>
                </a:lnTo>
                <a:lnTo>
                  <a:pt x="14282266" y="7789786"/>
                </a:lnTo>
                <a:lnTo>
                  <a:pt x="0" y="778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4556" y="263367"/>
            <a:ext cx="10898888" cy="10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4"/>
              </a:lnSpc>
            </a:pPr>
            <a:r>
              <a:rPr lang="en-US" sz="7400">
                <a:solidFill>
                  <a:srgbClr val="A14949"/>
                </a:solidFill>
                <a:latin typeface="Gagalin"/>
                <a:ea typeface="Gagalin"/>
                <a:cs typeface="Gagalin"/>
                <a:sym typeface="Gagalin"/>
              </a:rPr>
              <a:t>Overall system 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7004" y="332135"/>
            <a:ext cx="4724623" cy="4998690"/>
            <a:chOff x="0" y="0"/>
            <a:chExt cx="731968" cy="7744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968" cy="774428"/>
            </a:xfrm>
            <a:custGeom>
              <a:avLst/>
              <a:gdLst/>
              <a:ahLst/>
              <a:cxnLst/>
              <a:rect r="r" b="b" t="t" l="l"/>
              <a:pathLst>
                <a:path h="774428" w="731968">
                  <a:moveTo>
                    <a:pt x="45882" y="0"/>
                  </a:moveTo>
                  <a:lnTo>
                    <a:pt x="686086" y="0"/>
                  </a:lnTo>
                  <a:cubicBezTo>
                    <a:pt x="711426" y="0"/>
                    <a:pt x="731968" y="20542"/>
                    <a:pt x="731968" y="45882"/>
                  </a:cubicBezTo>
                  <a:lnTo>
                    <a:pt x="731968" y="728546"/>
                  </a:lnTo>
                  <a:cubicBezTo>
                    <a:pt x="731968" y="753886"/>
                    <a:pt x="711426" y="774428"/>
                    <a:pt x="686086" y="774428"/>
                  </a:cubicBezTo>
                  <a:lnTo>
                    <a:pt x="45882" y="774428"/>
                  </a:lnTo>
                  <a:cubicBezTo>
                    <a:pt x="20542" y="774428"/>
                    <a:pt x="0" y="753886"/>
                    <a:pt x="0" y="728546"/>
                  </a:cubicBezTo>
                  <a:lnTo>
                    <a:pt x="0" y="45882"/>
                  </a:lnTo>
                  <a:cubicBezTo>
                    <a:pt x="0" y="20542"/>
                    <a:pt x="20542" y="0"/>
                    <a:pt x="45882" y="0"/>
                  </a:cubicBezTo>
                  <a:close/>
                </a:path>
              </a:pathLst>
            </a:custGeom>
            <a:blipFill>
              <a:blip r:embed="rId2"/>
              <a:stretch>
                <a:fillRect l="-2900" t="0" r="-2900" b="0"/>
              </a:stretch>
            </a:blipFill>
            <a:ln w="9525" cap="rnd">
              <a:solidFill>
                <a:srgbClr val="A14949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3120" y="3779819"/>
            <a:ext cx="11444850" cy="367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0"/>
              </a:lnSpc>
            </a:pPr>
            <a:r>
              <a:rPr lang="en-US" sz="8000" b="true">
                <a:solidFill>
                  <a:srgbClr val="A1494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Financial Transaction Semantic Reasoning and</a:t>
            </a:r>
          </a:p>
          <a:p>
            <a:pPr algn="l">
              <a:lnSpc>
                <a:spcPts val="9280"/>
              </a:lnSpc>
            </a:pPr>
            <a:r>
              <a:rPr lang="en-US" sz="8000" b="true">
                <a:solidFill>
                  <a:srgbClr val="A1494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Taxable Income Inference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120" y="2960646"/>
            <a:ext cx="3718247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omponent 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6732" y="3290965"/>
            <a:ext cx="5194908" cy="4165092"/>
          </a:xfrm>
          <a:custGeom>
            <a:avLst/>
            <a:gdLst/>
            <a:ahLst/>
            <a:cxnLst/>
            <a:rect r="r" b="b" t="t" l="l"/>
            <a:pathLst>
              <a:path h="4165092" w="5194908">
                <a:moveTo>
                  <a:pt x="0" y="0"/>
                </a:moveTo>
                <a:lnTo>
                  <a:pt x="5194908" y="0"/>
                </a:lnTo>
                <a:lnTo>
                  <a:pt x="5194908" y="4165092"/>
                </a:lnTo>
                <a:lnTo>
                  <a:pt x="0" y="4165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12" t="0" r="-102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732" y="292144"/>
            <a:ext cx="7837675" cy="107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7137">
                <a:solidFill>
                  <a:srgbClr val="A14949"/>
                </a:solidFill>
                <a:latin typeface="Chewy"/>
                <a:ea typeface="Chewy"/>
                <a:cs typeface="Chewy"/>
                <a:sym typeface="Chewy"/>
              </a:rPr>
              <a:t>PROBLEM DEFINITION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0894" y="2074051"/>
            <a:ext cx="12119294" cy="101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Raw financial transactions are noisy, heterogeneous, and semantically unclear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0894" y="3462415"/>
            <a:ext cx="12119294" cy="101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Exist</a:t>
            </a: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ing systems mainly support filing, bookkeeping, or basic categorization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40894" y="4850779"/>
            <a:ext cx="12119294" cy="101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They do not expla</a:t>
            </a: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in why income is taxable, non-taxable, or uncertain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0894" y="6239143"/>
            <a:ext cx="12119294" cy="101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Manual transact</a:t>
            </a: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ion review is time-consuming and error-prone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40894" y="7627507"/>
            <a:ext cx="12119294" cy="101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No explainable, c</a:t>
            </a:r>
            <a:r>
              <a:rPr lang="en-US" b="true" sz="32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ontext-aware framework exists for Sri Lankan personalized tax compliance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3152" y="5227618"/>
            <a:ext cx="9908083" cy="4338082"/>
            <a:chOff x="0" y="0"/>
            <a:chExt cx="1420456" cy="621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0456" cy="621922"/>
            </a:xfrm>
            <a:custGeom>
              <a:avLst/>
              <a:gdLst/>
              <a:ahLst/>
              <a:cxnLst/>
              <a:rect r="r" b="b" t="t" l="l"/>
              <a:pathLst>
                <a:path h="621922" w="1420456">
                  <a:moveTo>
                    <a:pt x="15261" y="0"/>
                  </a:moveTo>
                  <a:lnTo>
                    <a:pt x="1405195" y="0"/>
                  </a:lnTo>
                  <a:cubicBezTo>
                    <a:pt x="1409242" y="0"/>
                    <a:pt x="1413124" y="1608"/>
                    <a:pt x="1415986" y="4470"/>
                  </a:cubicBezTo>
                  <a:cubicBezTo>
                    <a:pt x="1418848" y="7332"/>
                    <a:pt x="1420456" y="11214"/>
                    <a:pt x="1420456" y="15261"/>
                  </a:cubicBezTo>
                  <a:lnTo>
                    <a:pt x="1420456" y="606661"/>
                  </a:lnTo>
                  <a:cubicBezTo>
                    <a:pt x="1420456" y="610708"/>
                    <a:pt x="1418848" y="614590"/>
                    <a:pt x="1415986" y="617452"/>
                  </a:cubicBezTo>
                  <a:cubicBezTo>
                    <a:pt x="1413124" y="620314"/>
                    <a:pt x="1409242" y="621922"/>
                    <a:pt x="1405195" y="621922"/>
                  </a:cubicBezTo>
                  <a:lnTo>
                    <a:pt x="15261" y="621922"/>
                  </a:lnTo>
                  <a:cubicBezTo>
                    <a:pt x="6833" y="621922"/>
                    <a:pt x="0" y="615089"/>
                    <a:pt x="0" y="606661"/>
                  </a:cubicBezTo>
                  <a:lnTo>
                    <a:pt x="0" y="15261"/>
                  </a:lnTo>
                  <a:cubicBezTo>
                    <a:pt x="0" y="11214"/>
                    <a:pt x="1608" y="7332"/>
                    <a:pt x="4470" y="4470"/>
                  </a:cubicBezTo>
                  <a:cubicBezTo>
                    <a:pt x="7332" y="1608"/>
                    <a:pt x="11214" y="0"/>
                    <a:pt x="15261" y="0"/>
                  </a:cubicBezTo>
                  <a:close/>
                </a:path>
              </a:pathLst>
            </a:custGeom>
            <a:solidFill>
              <a:srgbClr val="A253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420456" cy="640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4301" y="2258488"/>
            <a:ext cx="17201381" cy="1773749"/>
            <a:chOff x="0" y="0"/>
            <a:chExt cx="2466048" cy="2542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6048" cy="254291"/>
            </a:xfrm>
            <a:custGeom>
              <a:avLst/>
              <a:gdLst/>
              <a:ahLst/>
              <a:cxnLst/>
              <a:rect r="r" b="b" t="t" l="l"/>
              <a:pathLst>
                <a:path h="254291" w="2466048">
                  <a:moveTo>
                    <a:pt x="8791" y="0"/>
                  </a:moveTo>
                  <a:lnTo>
                    <a:pt x="2457257" y="0"/>
                  </a:lnTo>
                  <a:cubicBezTo>
                    <a:pt x="2462112" y="0"/>
                    <a:pt x="2466048" y="3936"/>
                    <a:pt x="2466048" y="8791"/>
                  </a:cubicBezTo>
                  <a:lnTo>
                    <a:pt x="2466048" y="245500"/>
                  </a:lnTo>
                  <a:cubicBezTo>
                    <a:pt x="2466048" y="247831"/>
                    <a:pt x="2465122" y="250067"/>
                    <a:pt x="2463473" y="251716"/>
                  </a:cubicBezTo>
                  <a:cubicBezTo>
                    <a:pt x="2461825" y="253364"/>
                    <a:pt x="2459589" y="254291"/>
                    <a:pt x="2457257" y="254291"/>
                  </a:cubicBezTo>
                  <a:lnTo>
                    <a:pt x="8791" y="254291"/>
                  </a:lnTo>
                  <a:cubicBezTo>
                    <a:pt x="3936" y="254291"/>
                    <a:pt x="0" y="250355"/>
                    <a:pt x="0" y="245500"/>
                  </a:cubicBezTo>
                  <a:lnTo>
                    <a:pt x="0" y="8791"/>
                  </a:lnTo>
                  <a:cubicBezTo>
                    <a:pt x="0" y="6459"/>
                    <a:pt x="926" y="4223"/>
                    <a:pt x="2575" y="2575"/>
                  </a:cubicBezTo>
                  <a:cubicBezTo>
                    <a:pt x="4223" y="926"/>
                    <a:pt x="6459" y="0"/>
                    <a:pt x="8791" y="0"/>
                  </a:cubicBezTo>
                  <a:close/>
                </a:path>
              </a:pathLst>
            </a:custGeom>
            <a:solidFill>
              <a:srgbClr val="A2535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466048" cy="27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09158" y="282619"/>
            <a:ext cx="2857948" cy="1756794"/>
          </a:xfrm>
          <a:custGeom>
            <a:avLst/>
            <a:gdLst/>
            <a:ahLst/>
            <a:cxnLst/>
            <a:rect r="r" b="b" t="t" l="l"/>
            <a:pathLst>
              <a:path h="1756794" w="2857948">
                <a:moveTo>
                  <a:pt x="0" y="0"/>
                </a:moveTo>
                <a:lnTo>
                  <a:pt x="2857948" y="0"/>
                </a:lnTo>
                <a:lnTo>
                  <a:pt x="2857948" y="1756794"/>
                </a:lnTo>
                <a:lnTo>
                  <a:pt x="0" y="1756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77" r="0" b="-757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1566" y="4622787"/>
            <a:ext cx="4654785" cy="4654785"/>
          </a:xfrm>
          <a:custGeom>
            <a:avLst/>
            <a:gdLst/>
            <a:ahLst/>
            <a:cxnLst/>
            <a:rect r="r" b="b" t="t" l="l"/>
            <a:pathLst>
              <a:path h="4654785" w="4654785">
                <a:moveTo>
                  <a:pt x="0" y="0"/>
                </a:moveTo>
                <a:lnTo>
                  <a:pt x="4654786" y="0"/>
                </a:lnTo>
                <a:lnTo>
                  <a:pt x="4654786" y="4654785"/>
                </a:lnTo>
                <a:lnTo>
                  <a:pt x="0" y="4654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8293" y="2576813"/>
            <a:ext cx="16912942" cy="11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1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</a:t>
            </a:r>
            <a:r>
              <a:rPr lang="en-US" b="true" sz="3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lop an AI-drive</a:t>
            </a:r>
            <a:r>
              <a:rPr lang="en-US" b="true" sz="3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explainable framework to analyze personal financial transactions and infer taxable income for Sri Lankan taxpayers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9471" y="5507843"/>
            <a:ext cx="9429235" cy="367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</a:t>
            </a: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alize raw transaction rec</a:t>
            </a: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ords</a:t>
            </a:r>
          </a:p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Understand transaction semantics</a:t>
            </a:r>
          </a:p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Identify tax-relevant economic events</a:t>
            </a:r>
          </a:p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</a:t>
            </a: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rate explainable taxability reasoning</a:t>
            </a:r>
          </a:p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Estim</a:t>
            </a: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ate taxable amount with confidence</a:t>
            </a:r>
          </a:p>
          <a:p>
            <a:pPr algn="l" marL="820419" indent="-410209" lvl="1">
              <a:lnSpc>
                <a:spcPts val="47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Flag uncertain cases for review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53103" y="639001"/>
            <a:ext cx="6104260" cy="78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7"/>
              </a:lnSpc>
              <a:spcBef>
                <a:spcPct val="0"/>
              </a:spcBef>
            </a:pPr>
            <a:r>
              <a:rPr lang="en-US" sz="52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Rese</a:t>
            </a:r>
            <a:r>
              <a:rPr lang="en-US" sz="52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arch 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0651" y="4364101"/>
            <a:ext cx="3951387" cy="69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  <a:spcBef>
                <a:spcPct val="0"/>
              </a:spcBef>
            </a:pPr>
            <a:r>
              <a:rPr lang="en-US" sz="46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Sub</a:t>
            </a:r>
            <a:r>
              <a:rPr lang="en-US" sz="46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 Objectives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77786" y="2793485"/>
            <a:ext cx="5645681" cy="5904901"/>
          </a:xfrm>
          <a:custGeom>
            <a:avLst/>
            <a:gdLst/>
            <a:ahLst/>
            <a:cxnLst/>
            <a:rect r="r" b="b" t="t" l="l"/>
            <a:pathLst>
              <a:path h="5904901" w="5645681">
                <a:moveTo>
                  <a:pt x="0" y="0"/>
                </a:moveTo>
                <a:lnTo>
                  <a:pt x="5645681" y="0"/>
                </a:lnTo>
                <a:lnTo>
                  <a:pt x="5645681" y="5904902"/>
                </a:lnTo>
                <a:lnTo>
                  <a:pt x="0" y="5904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17" t="0" r="-1281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2330" y="464367"/>
            <a:ext cx="7468716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  <a:spcBef>
                <a:spcPct val="0"/>
              </a:spcBef>
            </a:pPr>
            <a:r>
              <a:rPr lang="en-US" sz="49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Rese</a:t>
            </a:r>
            <a:r>
              <a:rPr lang="en-US" sz="49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arch Gap and Novelty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3564" y="1913867"/>
            <a:ext cx="10474222" cy="71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899" indent="-412450" lvl="1">
              <a:lnSpc>
                <a:spcPts val="5501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oves beyond transaction classification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3564" y="3431062"/>
            <a:ext cx="10192127" cy="52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899" indent="-412450" lvl="1">
              <a:lnSpc>
                <a:spcPts val="4584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ombines semantic understanding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economic event inference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tax-rule mapping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explainable reasoning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 </a:t>
            </a:r>
          </a:p>
          <a:p>
            <a:pPr algn="ctr">
              <a:lnSpc>
                <a:spcPts val="4584"/>
              </a:lnSpc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uncertainty handling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9132" y="1028700"/>
            <a:ext cx="10932727" cy="1027442"/>
            <a:chOff x="0" y="0"/>
            <a:chExt cx="5588090" cy="525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90" cy="525161"/>
            </a:xfrm>
            <a:custGeom>
              <a:avLst/>
              <a:gdLst/>
              <a:ahLst/>
              <a:cxnLst/>
              <a:rect r="r" b="b" t="t" l="l"/>
              <a:pathLst>
                <a:path h="525161" w="5588090">
                  <a:moveTo>
                    <a:pt x="13831" y="0"/>
                  </a:moveTo>
                  <a:lnTo>
                    <a:pt x="5574259" y="0"/>
                  </a:lnTo>
                  <a:cubicBezTo>
                    <a:pt x="5577928" y="0"/>
                    <a:pt x="5581445" y="1457"/>
                    <a:pt x="5584039" y="4051"/>
                  </a:cubicBezTo>
                  <a:cubicBezTo>
                    <a:pt x="5586633" y="6645"/>
                    <a:pt x="5588090" y="10163"/>
                    <a:pt x="5588090" y="13831"/>
                  </a:cubicBezTo>
                  <a:lnTo>
                    <a:pt x="5588090" y="511330"/>
                  </a:lnTo>
                  <a:cubicBezTo>
                    <a:pt x="5588090" y="514998"/>
                    <a:pt x="5586633" y="518516"/>
                    <a:pt x="5584039" y="521110"/>
                  </a:cubicBezTo>
                  <a:cubicBezTo>
                    <a:pt x="5581445" y="523703"/>
                    <a:pt x="5577928" y="525161"/>
                    <a:pt x="5574259" y="525161"/>
                  </a:cubicBezTo>
                  <a:lnTo>
                    <a:pt x="13831" y="525161"/>
                  </a:lnTo>
                  <a:cubicBezTo>
                    <a:pt x="10163" y="525161"/>
                    <a:pt x="6645" y="523703"/>
                    <a:pt x="4051" y="521110"/>
                  </a:cubicBezTo>
                  <a:cubicBezTo>
                    <a:pt x="1457" y="518516"/>
                    <a:pt x="0" y="514998"/>
                    <a:pt x="0" y="511330"/>
                  </a:cubicBezTo>
                  <a:lnTo>
                    <a:pt x="0" y="13831"/>
                  </a:lnTo>
                  <a:cubicBezTo>
                    <a:pt x="0" y="10163"/>
                    <a:pt x="1457" y="6645"/>
                    <a:pt x="4051" y="4051"/>
                  </a:cubicBezTo>
                  <a:cubicBezTo>
                    <a:pt x="6645" y="1457"/>
                    <a:pt x="10163" y="0"/>
                    <a:pt x="13831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588090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01797" y="2216251"/>
            <a:ext cx="11199786" cy="1027442"/>
            <a:chOff x="0" y="0"/>
            <a:chExt cx="5724593" cy="5251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24593" cy="525161"/>
            </a:xfrm>
            <a:custGeom>
              <a:avLst/>
              <a:gdLst/>
              <a:ahLst/>
              <a:cxnLst/>
              <a:rect r="r" b="b" t="t" l="l"/>
              <a:pathLst>
                <a:path h="525161" w="5724593">
                  <a:moveTo>
                    <a:pt x="13501" y="0"/>
                  </a:moveTo>
                  <a:lnTo>
                    <a:pt x="5711092" y="0"/>
                  </a:lnTo>
                  <a:cubicBezTo>
                    <a:pt x="5718549" y="0"/>
                    <a:pt x="5724593" y="6045"/>
                    <a:pt x="5724593" y="13501"/>
                  </a:cubicBezTo>
                  <a:lnTo>
                    <a:pt x="5724593" y="511660"/>
                  </a:lnTo>
                  <a:cubicBezTo>
                    <a:pt x="5724593" y="515240"/>
                    <a:pt x="5723171" y="518674"/>
                    <a:pt x="5720639" y="521206"/>
                  </a:cubicBezTo>
                  <a:cubicBezTo>
                    <a:pt x="5718107" y="523738"/>
                    <a:pt x="5714673" y="525161"/>
                    <a:pt x="5711092" y="525161"/>
                  </a:cubicBezTo>
                  <a:lnTo>
                    <a:pt x="13501" y="525161"/>
                  </a:lnTo>
                  <a:cubicBezTo>
                    <a:pt x="9920" y="525161"/>
                    <a:pt x="6486" y="523738"/>
                    <a:pt x="3954" y="521206"/>
                  </a:cubicBezTo>
                  <a:cubicBezTo>
                    <a:pt x="1422" y="518674"/>
                    <a:pt x="0" y="515240"/>
                    <a:pt x="0" y="511660"/>
                  </a:cubicBezTo>
                  <a:lnTo>
                    <a:pt x="0" y="13501"/>
                  </a:lnTo>
                  <a:cubicBezTo>
                    <a:pt x="0" y="9920"/>
                    <a:pt x="1422" y="6486"/>
                    <a:pt x="3954" y="3954"/>
                  </a:cubicBezTo>
                  <a:cubicBezTo>
                    <a:pt x="6486" y="1422"/>
                    <a:pt x="9920" y="0"/>
                    <a:pt x="13501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724593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9132" y="3405618"/>
            <a:ext cx="12363048" cy="1027442"/>
            <a:chOff x="0" y="0"/>
            <a:chExt cx="6319176" cy="5251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19176" cy="525161"/>
            </a:xfrm>
            <a:custGeom>
              <a:avLst/>
              <a:gdLst/>
              <a:ahLst/>
              <a:cxnLst/>
              <a:rect r="r" b="b" t="t" l="l"/>
              <a:pathLst>
                <a:path h="525161" w="6319176">
                  <a:moveTo>
                    <a:pt x="12231" y="0"/>
                  </a:moveTo>
                  <a:lnTo>
                    <a:pt x="6306945" y="0"/>
                  </a:lnTo>
                  <a:cubicBezTo>
                    <a:pt x="6313700" y="0"/>
                    <a:pt x="6319176" y="5476"/>
                    <a:pt x="6319176" y="12231"/>
                  </a:cubicBezTo>
                  <a:lnTo>
                    <a:pt x="6319176" y="512930"/>
                  </a:lnTo>
                  <a:cubicBezTo>
                    <a:pt x="6319176" y="519685"/>
                    <a:pt x="6313700" y="525161"/>
                    <a:pt x="6306945" y="525161"/>
                  </a:cubicBezTo>
                  <a:lnTo>
                    <a:pt x="12231" y="525161"/>
                  </a:lnTo>
                  <a:cubicBezTo>
                    <a:pt x="5476" y="525161"/>
                    <a:pt x="0" y="519685"/>
                    <a:pt x="0" y="512930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319176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38535" y="4594985"/>
            <a:ext cx="12363048" cy="1027442"/>
            <a:chOff x="0" y="0"/>
            <a:chExt cx="6319176" cy="5251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9176" cy="525161"/>
            </a:xfrm>
            <a:custGeom>
              <a:avLst/>
              <a:gdLst/>
              <a:ahLst/>
              <a:cxnLst/>
              <a:rect r="r" b="b" t="t" l="l"/>
              <a:pathLst>
                <a:path h="525161" w="6319176">
                  <a:moveTo>
                    <a:pt x="12231" y="0"/>
                  </a:moveTo>
                  <a:lnTo>
                    <a:pt x="6306945" y="0"/>
                  </a:lnTo>
                  <a:cubicBezTo>
                    <a:pt x="6313700" y="0"/>
                    <a:pt x="6319176" y="5476"/>
                    <a:pt x="6319176" y="12231"/>
                  </a:cubicBezTo>
                  <a:lnTo>
                    <a:pt x="6319176" y="512930"/>
                  </a:lnTo>
                  <a:cubicBezTo>
                    <a:pt x="6319176" y="519685"/>
                    <a:pt x="6313700" y="525161"/>
                    <a:pt x="6306945" y="525161"/>
                  </a:cubicBezTo>
                  <a:lnTo>
                    <a:pt x="12231" y="525161"/>
                  </a:lnTo>
                  <a:cubicBezTo>
                    <a:pt x="5476" y="525161"/>
                    <a:pt x="0" y="519685"/>
                    <a:pt x="0" y="512930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319176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9132" y="5784351"/>
            <a:ext cx="15299807" cy="1027442"/>
            <a:chOff x="0" y="0"/>
            <a:chExt cx="7820254" cy="5251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20254" cy="525161"/>
            </a:xfrm>
            <a:custGeom>
              <a:avLst/>
              <a:gdLst/>
              <a:ahLst/>
              <a:cxnLst/>
              <a:rect r="r" b="b" t="t" l="l"/>
              <a:pathLst>
                <a:path h="525161" w="7820254">
                  <a:moveTo>
                    <a:pt x="9883" y="0"/>
                  </a:moveTo>
                  <a:lnTo>
                    <a:pt x="7810371" y="0"/>
                  </a:lnTo>
                  <a:cubicBezTo>
                    <a:pt x="7815829" y="0"/>
                    <a:pt x="7820254" y="4425"/>
                    <a:pt x="7820254" y="9883"/>
                  </a:cubicBezTo>
                  <a:lnTo>
                    <a:pt x="7820254" y="515278"/>
                  </a:lnTo>
                  <a:cubicBezTo>
                    <a:pt x="7820254" y="520736"/>
                    <a:pt x="7815829" y="525161"/>
                    <a:pt x="7810371" y="525161"/>
                  </a:cubicBezTo>
                  <a:lnTo>
                    <a:pt x="9883" y="525161"/>
                  </a:lnTo>
                  <a:cubicBezTo>
                    <a:pt x="4425" y="525161"/>
                    <a:pt x="0" y="520736"/>
                    <a:pt x="0" y="515278"/>
                  </a:cubicBezTo>
                  <a:lnTo>
                    <a:pt x="0" y="9883"/>
                  </a:lnTo>
                  <a:cubicBezTo>
                    <a:pt x="0" y="4425"/>
                    <a:pt x="4425" y="0"/>
                    <a:pt x="9883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820254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20324" y="6973718"/>
            <a:ext cx="12363048" cy="1027442"/>
            <a:chOff x="0" y="0"/>
            <a:chExt cx="6319176" cy="5251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9176" cy="525161"/>
            </a:xfrm>
            <a:custGeom>
              <a:avLst/>
              <a:gdLst/>
              <a:ahLst/>
              <a:cxnLst/>
              <a:rect r="r" b="b" t="t" l="l"/>
              <a:pathLst>
                <a:path h="525161" w="6319176">
                  <a:moveTo>
                    <a:pt x="12231" y="0"/>
                  </a:moveTo>
                  <a:lnTo>
                    <a:pt x="6306945" y="0"/>
                  </a:lnTo>
                  <a:cubicBezTo>
                    <a:pt x="6313700" y="0"/>
                    <a:pt x="6319176" y="5476"/>
                    <a:pt x="6319176" y="12231"/>
                  </a:cubicBezTo>
                  <a:lnTo>
                    <a:pt x="6319176" y="512930"/>
                  </a:lnTo>
                  <a:cubicBezTo>
                    <a:pt x="6319176" y="519685"/>
                    <a:pt x="6313700" y="525161"/>
                    <a:pt x="6306945" y="525161"/>
                  </a:cubicBezTo>
                  <a:lnTo>
                    <a:pt x="12231" y="525161"/>
                  </a:lnTo>
                  <a:cubicBezTo>
                    <a:pt x="5476" y="525161"/>
                    <a:pt x="0" y="519685"/>
                    <a:pt x="0" y="512930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319176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5435" y="8163085"/>
            <a:ext cx="13240261" cy="1027442"/>
            <a:chOff x="0" y="0"/>
            <a:chExt cx="6767550" cy="5251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7550" cy="525161"/>
            </a:xfrm>
            <a:custGeom>
              <a:avLst/>
              <a:gdLst/>
              <a:ahLst/>
              <a:cxnLst/>
              <a:rect r="r" b="b" t="t" l="l"/>
              <a:pathLst>
                <a:path h="525161" w="6767550">
                  <a:moveTo>
                    <a:pt x="11420" y="0"/>
                  </a:moveTo>
                  <a:lnTo>
                    <a:pt x="6756129" y="0"/>
                  </a:lnTo>
                  <a:cubicBezTo>
                    <a:pt x="6759158" y="0"/>
                    <a:pt x="6762063" y="1203"/>
                    <a:pt x="6764205" y="3345"/>
                  </a:cubicBezTo>
                  <a:cubicBezTo>
                    <a:pt x="6766347" y="5487"/>
                    <a:pt x="6767550" y="8392"/>
                    <a:pt x="6767550" y="11420"/>
                  </a:cubicBezTo>
                  <a:lnTo>
                    <a:pt x="6767550" y="513740"/>
                  </a:lnTo>
                  <a:cubicBezTo>
                    <a:pt x="6767550" y="516769"/>
                    <a:pt x="6766347" y="519674"/>
                    <a:pt x="6764205" y="521816"/>
                  </a:cubicBezTo>
                  <a:cubicBezTo>
                    <a:pt x="6762063" y="523957"/>
                    <a:pt x="6759158" y="525161"/>
                    <a:pt x="6756129" y="525161"/>
                  </a:cubicBezTo>
                  <a:lnTo>
                    <a:pt x="11420" y="525161"/>
                  </a:lnTo>
                  <a:cubicBezTo>
                    <a:pt x="8392" y="525161"/>
                    <a:pt x="5487" y="523957"/>
                    <a:pt x="3345" y="521816"/>
                  </a:cubicBezTo>
                  <a:cubicBezTo>
                    <a:pt x="1203" y="519674"/>
                    <a:pt x="0" y="516769"/>
                    <a:pt x="0" y="513740"/>
                  </a:cubicBezTo>
                  <a:lnTo>
                    <a:pt x="0" y="11420"/>
                  </a:lnTo>
                  <a:cubicBezTo>
                    <a:pt x="0" y="8392"/>
                    <a:pt x="1203" y="5487"/>
                    <a:pt x="3345" y="3345"/>
                  </a:cubicBezTo>
                  <a:cubicBezTo>
                    <a:pt x="5487" y="1203"/>
                    <a:pt x="8392" y="0"/>
                    <a:pt x="11420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767550" cy="55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7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92594" y="1974878"/>
            <a:ext cx="1437546" cy="1140961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27104" y="3161224"/>
            <a:ext cx="1464494" cy="1146227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94640" y="4353610"/>
            <a:ext cx="1437546" cy="1140961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565677" y="5538485"/>
            <a:ext cx="1464494" cy="1146227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94640" y="6739622"/>
            <a:ext cx="1437546" cy="1140961"/>
          </a:xfrm>
          <a:prstGeom prst="rect">
            <a:avLst/>
          </a:prstGeom>
        </p:spPr>
      </p:pic>
      <p:sp>
        <p:nvSpPr>
          <p:cNvPr name="Freeform 29" id="29"/>
          <p:cNvSpPr/>
          <p:nvPr/>
        </p:nvSpPr>
        <p:spPr>
          <a:xfrm flipH="false" flipV="false" rot="0">
            <a:off x="13635696" y="8010685"/>
            <a:ext cx="1571582" cy="1122559"/>
          </a:xfrm>
          <a:custGeom>
            <a:avLst/>
            <a:gdLst/>
            <a:ahLst/>
            <a:cxnLst/>
            <a:rect r="r" b="b" t="t" l="l"/>
            <a:pathLst>
              <a:path h="1122559" w="1571582">
                <a:moveTo>
                  <a:pt x="0" y="0"/>
                </a:moveTo>
                <a:lnTo>
                  <a:pt x="1571582" y="0"/>
                </a:lnTo>
                <a:lnTo>
                  <a:pt x="1571582" y="1122559"/>
                </a:lnTo>
                <a:lnTo>
                  <a:pt x="0" y="1122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1163" y="46685"/>
            <a:ext cx="7446544" cy="89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3"/>
              </a:lnSpc>
            </a:pPr>
            <a:r>
              <a:rPr lang="en-US" sz="5152">
                <a:solidFill>
                  <a:srgbClr val="A14949"/>
                </a:solidFill>
                <a:latin typeface="Ahsing"/>
                <a:ea typeface="Ahsing"/>
                <a:cs typeface="Ahsing"/>
                <a:sym typeface="Ahsing"/>
              </a:rPr>
              <a:t>Metho</a:t>
            </a:r>
            <a:r>
              <a:rPr lang="en-US" sz="5152">
                <a:solidFill>
                  <a:srgbClr val="A14949"/>
                </a:solidFill>
                <a:latin typeface="Ahsing"/>
                <a:ea typeface="Ahsing"/>
                <a:cs typeface="Ahsing"/>
                <a:sym typeface="Ahsing"/>
              </a:rPr>
              <a:t>dology Overview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2093" y="1097622"/>
            <a:ext cx="10615347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ataset C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onstruction and Preparation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Synthetic, mock, or anonymized transaction data collection and label design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16216" y="2285173"/>
            <a:ext cx="10967155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epr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ocessing and Normalization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Clean and standardize heterogeneous transaction records into a unified format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95435" y="3474539"/>
            <a:ext cx="12106255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emantic Transaction Understanding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Build models to interpret transaction meaning from descriptions, amounts, and context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64839" y="4663906"/>
            <a:ext cx="12106255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nomic Event Identification and Tax Rule Mapping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Infer the underlying financial event and connect it to tax-relevant rule categories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25437" y="5853273"/>
            <a:ext cx="14982015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ainable Taxability Reasoning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Generate a human-readable decision trace for taxable, non-taxable, partially taxable, or uncertain outcomes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46627" y="7042640"/>
            <a:ext cx="12106255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</a:t>
            </a: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nfidence Estimation and Human Review Support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Detect low-confidence or novel cases and flag them for manual review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30700" y="8232007"/>
            <a:ext cx="12965248" cy="89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44" indent="-325772" lvl="1">
              <a:lnSpc>
                <a:spcPts val="3500"/>
              </a:lnSpc>
              <a:buAutoNum type="arabicPeriod" startAt="1"/>
            </a:pPr>
            <a:r>
              <a:rPr lang="en-US" b="true" sz="30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 and Validation</a:t>
            </a:r>
          </a:p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b="true" sz="26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Assess classification, taxable amount estimation, calibration, and generalization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7012" y="2287683"/>
            <a:ext cx="13632529" cy="5711634"/>
            <a:chOff x="0" y="0"/>
            <a:chExt cx="1947861" cy="8160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7861" cy="816097"/>
            </a:xfrm>
            <a:custGeom>
              <a:avLst/>
              <a:gdLst/>
              <a:ahLst/>
              <a:cxnLst/>
              <a:rect r="r" b="b" t="t" l="l"/>
              <a:pathLst>
                <a:path h="816097" w="1947861">
                  <a:moveTo>
                    <a:pt x="11092" y="0"/>
                  </a:moveTo>
                  <a:lnTo>
                    <a:pt x="1936769" y="0"/>
                  </a:lnTo>
                  <a:cubicBezTo>
                    <a:pt x="1942895" y="0"/>
                    <a:pt x="1947861" y="4966"/>
                    <a:pt x="1947861" y="11092"/>
                  </a:cubicBezTo>
                  <a:lnTo>
                    <a:pt x="1947861" y="805005"/>
                  </a:lnTo>
                  <a:cubicBezTo>
                    <a:pt x="1947861" y="811131"/>
                    <a:pt x="1942895" y="816097"/>
                    <a:pt x="1936769" y="816097"/>
                  </a:cubicBezTo>
                  <a:lnTo>
                    <a:pt x="11092" y="816097"/>
                  </a:lnTo>
                  <a:cubicBezTo>
                    <a:pt x="4966" y="816097"/>
                    <a:pt x="0" y="811131"/>
                    <a:pt x="0" y="805005"/>
                  </a:cubicBezTo>
                  <a:lnTo>
                    <a:pt x="0" y="11092"/>
                  </a:lnTo>
                  <a:cubicBezTo>
                    <a:pt x="0" y="4966"/>
                    <a:pt x="4966" y="0"/>
                    <a:pt x="11092" y="0"/>
                  </a:cubicBezTo>
                  <a:close/>
                </a:path>
              </a:pathLst>
            </a:custGeom>
            <a:solidFill>
              <a:srgbClr val="8B74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947861" cy="835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7012" y="2491623"/>
            <a:ext cx="13433131" cy="519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Natural Language Processing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for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inancial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transaction t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ext</a:t>
            </a:r>
          </a:p>
          <a:p>
            <a:pPr algn="l">
              <a:lnSpc>
                <a:spcPts val="4059"/>
              </a:lnSpc>
            </a:pPr>
          </a:p>
          <a:p>
            <a:pPr algn="l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Machine Learning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for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ransaction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nderstanding</a:t>
            </a:r>
          </a:p>
          <a:p>
            <a:pPr algn="l">
              <a:lnSpc>
                <a:spcPts val="4059"/>
              </a:lnSpc>
            </a:pPr>
          </a:p>
          <a:p>
            <a:pPr algn="l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Sequence </a:t>
            </a: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/</a:t>
            </a: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 Temporal Modeling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for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transaction patterns</a:t>
            </a:r>
          </a:p>
          <a:p>
            <a:pPr algn="l">
              <a:lnSpc>
                <a:spcPts val="4059"/>
              </a:lnSpc>
            </a:pPr>
          </a:p>
          <a:p>
            <a:pPr algn="l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Tax Domain Knowledge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for t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x-r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ule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apping</a:t>
            </a:r>
          </a:p>
          <a:p>
            <a:pPr algn="l">
              <a:lnSpc>
                <a:spcPts val="4059"/>
              </a:lnSpc>
            </a:pPr>
          </a:p>
          <a:p>
            <a:pPr algn="l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b="true" sz="3499">
                <a:solidFill>
                  <a:srgbClr val="E9E4D9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Explainable AI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for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tra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spa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en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re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son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g and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nfi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den</a:t>
            </a:r>
            <a:r>
              <a:rPr lang="en-US" sz="3499">
                <a:solidFill>
                  <a:srgbClr val="E9E4D9"/>
                </a:solidFill>
                <a:latin typeface="Telegraf"/>
                <a:ea typeface="Telegraf"/>
                <a:cs typeface="Telegraf"/>
                <a:sym typeface="Telegraf"/>
              </a:rPr>
              <a:t>ce-aware outputs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15832" y="3077319"/>
            <a:ext cx="4200070" cy="3749661"/>
          </a:xfrm>
          <a:custGeom>
            <a:avLst/>
            <a:gdLst/>
            <a:ahLst/>
            <a:cxnLst/>
            <a:rect r="r" b="b" t="t" l="l"/>
            <a:pathLst>
              <a:path h="3749661" w="4200070">
                <a:moveTo>
                  <a:pt x="0" y="0"/>
                </a:moveTo>
                <a:lnTo>
                  <a:pt x="4200070" y="0"/>
                </a:lnTo>
                <a:lnTo>
                  <a:pt x="4200070" y="3749661"/>
                </a:lnTo>
                <a:lnTo>
                  <a:pt x="0" y="3749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16" t="0" r="-991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0232" y="887388"/>
            <a:ext cx="8117949" cy="72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8"/>
              </a:lnSpc>
              <a:spcBef>
                <a:spcPct val="0"/>
              </a:spcBef>
            </a:pPr>
            <a:r>
              <a:rPr lang="en-US" sz="4869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Key Domains</a:t>
            </a:r>
            <a:r>
              <a:rPr lang="en-US" sz="4869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 of Knowledge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637" y="2375282"/>
            <a:ext cx="5694900" cy="5536436"/>
          </a:xfrm>
          <a:custGeom>
            <a:avLst/>
            <a:gdLst/>
            <a:ahLst/>
            <a:cxnLst/>
            <a:rect r="r" b="b" t="t" l="l"/>
            <a:pathLst>
              <a:path h="5536436" w="5694900">
                <a:moveTo>
                  <a:pt x="0" y="0"/>
                </a:moveTo>
                <a:lnTo>
                  <a:pt x="5694901" y="0"/>
                </a:lnTo>
                <a:lnTo>
                  <a:pt x="5694901" y="5536436"/>
                </a:lnTo>
                <a:lnTo>
                  <a:pt x="0" y="553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462" t="-13896" r="-57417" b="-1215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6408" y="2988503"/>
            <a:ext cx="11521592" cy="581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</a:p>
          <a:p>
            <a:pPr algn="l">
              <a:lnSpc>
                <a:spcPts val="4147"/>
              </a:lnSpc>
            </a:pP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BERT / FinBERT / transformer models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Bi-LSTM / sequence-aware models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W</a:t>
            </a: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eak Supervision / Data Programming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4. Confidence calibration methods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5. Novelty detection and human-in-the-loop review</a:t>
            </a:r>
          </a:p>
          <a:p>
            <a:pPr algn="l">
              <a:lnSpc>
                <a:spcPts val="41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22371" y="1291284"/>
            <a:ext cx="5608515" cy="1579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9"/>
              </a:lnSpc>
              <a:spcBef>
                <a:spcPct val="0"/>
              </a:spcBef>
            </a:pPr>
            <a:r>
              <a:rPr lang="en-US" sz="5361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Latest</a:t>
            </a:r>
            <a:r>
              <a:rPr lang="en-US" sz="5361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 Technologies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3804" y="732976"/>
            <a:ext cx="17468653" cy="8640414"/>
            <a:chOff x="0" y="0"/>
            <a:chExt cx="2161614" cy="10691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1614" cy="1069186"/>
            </a:xfrm>
            <a:custGeom>
              <a:avLst/>
              <a:gdLst/>
              <a:ahLst/>
              <a:cxnLst/>
              <a:rect r="r" b="b" t="t" l="l"/>
              <a:pathLst>
                <a:path h="1069186" w="2161614">
                  <a:moveTo>
                    <a:pt x="8656" y="0"/>
                  </a:moveTo>
                  <a:lnTo>
                    <a:pt x="2152958" y="0"/>
                  </a:lnTo>
                  <a:cubicBezTo>
                    <a:pt x="2157739" y="0"/>
                    <a:pt x="2161614" y="3875"/>
                    <a:pt x="2161614" y="8656"/>
                  </a:cubicBezTo>
                  <a:lnTo>
                    <a:pt x="2161614" y="1060530"/>
                  </a:lnTo>
                  <a:cubicBezTo>
                    <a:pt x="2161614" y="1062826"/>
                    <a:pt x="2160702" y="1065027"/>
                    <a:pt x="2159079" y="1066651"/>
                  </a:cubicBezTo>
                  <a:cubicBezTo>
                    <a:pt x="2157456" y="1068274"/>
                    <a:pt x="2155254" y="1069186"/>
                    <a:pt x="2152958" y="1069186"/>
                  </a:cubicBezTo>
                  <a:lnTo>
                    <a:pt x="8656" y="1069186"/>
                  </a:lnTo>
                  <a:cubicBezTo>
                    <a:pt x="6360" y="1069186"/>
                    <a:pt x="4159" y="1068274"/>
                    <a:pt x="2535" y="1066651"/>
                  </a:cubicBezTo>
                  <a:cubicBezTo>
                    <a:pt x="912" y="1065027"/>
                    <a:pt x="0" y="1062826"/>
                    <a:pt x="0" y="1060530"/>
                  </a:cubicBezTo>
                  <a:lnTo>
                    <a:pt x="0" y="8656"/>
                  </a:lnTo>
                  <a:cubicBezTo>
                    <a:pt x="0" y="6360"/>
                    <a:pt x="912" y="4159"/>
                    <a:pt x="2535" y="2535"/>
                  </a:cubicBezTo>
                  <a:cubicBezTo>
                    <a:pt x="4159" y="912"/>
                    <a:pt x="6360" y="0"/>
                    <a:pt x="8656" y="0"/>
                  </a:cubicBezTo>
                  <a:close/>
                </a:path>
              </a:pathLst>
            </a:custGeom>
            <a:solidFill>
              <a:srgbClr val="E9E4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61614" cy="10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299416" y="596383"/>
            <a:ext cx="4798473" cy="1395425"/>
          </a:xfrm>
          <a:custGeom>
            <a:avLst/>
            <a:gdLst/>
            <a:ahLst/>
            <a:cxnLst/>
            <a:rect r="r" b="b" t="t" l="l"/>
            <a:pathLst>
              <a:path h="1395425" w="4798473">
                <a:moveTo>
                  <a:pt x="0" y="0"/>
                </a:moveTo>
                <a:lnTo>
                  <a:pt x="4798473" y="0"/>
                </a:lnTo>
                <a:lnTo>
                  <a:pt x="4798473" y="1395425"/>
                </a:lnTo>
                <a:lnTo>
                  <a:pt x="0" y="139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284" r="0" b="-9264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4625" y="5683285"/>
            <a:ext cx="15324675" cy="395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Validation approach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Compare baseline vs advanced models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Perform ablation studies for context modeling, weak supervision, rule mapping, and uncertainty estimation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Test on different bank formats and transaction  a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Include a small human-review-based evaluation to assess practical usefulness</a:t>
            </a:r>
          </a:p>
          <a:p>
            <a:pPr algn="l">
              <a:lnSpc>
                <a:spcPts val="44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7256"/>
            <a:ext cx="7200634" cy="68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Evaluation and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441" y="1725883"/>
            <a:ext cx="8019529" cy="362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Evaluation strategy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Semantic classification performance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Taxable amount estimation performance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Confidence calibration quality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Cross-bank generalization robustness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Human-review utility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4115" y="1728391"/>
            <a:ext cx="8627120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Metrics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Accuracy, Precision, Recall, Macro F1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RMSE / MAE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Expected Calibration Error (ECE)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OOD Accuracy / F1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Review effort reduction, uncertainty precision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568" y="1731844"/>
            <a:ext cx="9310334" cy="7130327"/>
            <a:chOff x="0" y="0"/>
            <a:chExt cx="1158998" cy="887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8998" cy="887619"/>
            </a:xfrm>
            <a:custGeom>
              <a:avLst/>
              <a:gdLst/>
              <a:ahLst/>
              <a:cxnLst/>
              <a:rect r="r" b="b" t="t" l="l"/>
              <a:pathLst>
                <a:path h="887619" w="1158998">
                  <a:moveTo>
                    <a:pt x="16241" y="0"/>
                  </a:moveTo>
                  <a:lnTo>
                    <a:pt x="1142757" y="0"/>
                  </a:lnTo>
                  <a:cubicBezTo>
                    <a:pt x="1151726" y="0"/>
                    <a:pt x="1158998" y="7271"/>
                    <a:pt x="1158998" y="16241"/>
                  </a:cubicBezTo>
                  <a:lnTo>
                    <a:pt x="1158998" y="871378"/>
                  </a:lnTo>
                  <a:cubicBezTo>
                    <a:pt x="1158998" y="880348"/>
                    <a:pt x="1151726" y="887619"/>
                    <a:pt x="1142757" y="887619"/>
                  </a:cubicBezTo>
                  <a:lnTo>
                    <a:pt x="16241" y="887619"/>
                  </a:lnTo>
                  <a:cubicBezTo>
                    <a:pt x="7271" y="887619"/>
                    <a:pt x="0" y="880348"/>
                    <a:pt x="0" y="871378"/>
                  </a:cubicBezTo>
                  <a:lnTo>
                    <a:pt x="0" y="16241"/>
                  </a:lnTo>
                  <a:cubicBezTo>
                    <a:pt x="0" y="7271"/>
                    <a:pt x="7271" y="0"/>
                    <a:pt x="16241" y="0"/>
                  </a:cubicBezTo>
                  <a:close/>
                </a:path>
              </a:pathLst>
            </a:custGeom>
            <a:solidFill>
              <a:srgbClr val="E9E4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58998" cy="906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59351" y="645335"/>
            <a:ext cx="3411971" cy="2866586"/>
          </a:xfrm>
          <a:custGeom>
            <a:avLst/>
            <a:gdLst/>
            <a:ahLst/>
            <a:cxnLst/>
            <a:rect r="r" b="b" t="t" l="l"/>
            <a:pathLst>
              <a:path h="2866586" w="3411971">
                <a:moveTo>
                  <a:pt x="0" y="0"/>
                </a:moveTo>
                <a:lnTo>
                  <a:pt x="3411970" y="0"/>
                </a:lnTo>
                <a:lnTo>
                  <a:pt x="3411970" y="2866587"/>
                </a:lnTo>
                <a:lnTo>
                  <a:pt x="0" y="2866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512" r="0" b="-951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80748" y="3683364"/>
            <a:ext cx="6947809" cy="517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32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Ethic</a:t>
            </a:r>
            <a:r>
              <a:rPr lang="en-US" b="true" sz="32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al handling</a:t>
            </a:r>
          </a:p>
          <a:p>
            <a:pPr algn="l" marL="690881" indent="-345440" lvl="1">
              <a:lnSpc>
                <a:spcPts val="3712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Obtain consent if voluntary or externally sourced samples are used</a:t>
            </a:r>
          </a:p>
          <a:p>
            <a:pPr algn="l" marL="690881" indent="-345440" lvl="1">
              <a:lnSpc>
                <a:spcPts val="3712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Treat outputs as decision-support, not legally binding tax decisions</a:t>
            </a:r>
          </a:p>
          <a:p>
            <a:pPr algn="l" marL="690881" indent="-345440" lvl="1">
              <a:lnSpc>
                <a:spcPts val="3712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Follow privacy, confidentiality, and responsible data-handling practices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5401" y="664385"/>
            <a:ext cx="8115300" cy="68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D</a:t>
            </a: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ata and Ethical Clearance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597" y="1934863"/>
            <a:ext cx="8640956" cy="264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b="true" sz="31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availability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Synthetic transaction data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Mock / manually curated records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Anonymized real samples where available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597" y="4787308"/>
            <a:ext cx="8302783" cy="421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199" b="true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Securi</a:t>
            </a:r>
            <a:r>
              <a:rPr lang="en-US" b="true" sz="31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ty and privacy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emove or mask personal identifiers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Controlled access during storage and processing</a:t>
            </a:r>
          </a:p>
          <a:p>
            <a:pPr algn="l" marL="690876" indent="-345438" lvl="1">
              <a:lnSpc>
                <a:spcPts val="419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 synthetic data extensively to reduce exposure to sensitive financial records</a:t>
            </a:r>
          </a:p>
          <a:p>
            <a:pPr algn="l">
              <a:lnSpc>
                <a:spcPts val="419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78311" y="1537280"/>
            <a:ext cx="10974917" cy="6990992"/>
          </a:xfrm>
          <a:custGeom>
            <a:avLst/>
            <a:gdLst/>
            <a:ahLst/>
            <a:cxnLst/>
            <a:rect r="r" b="b" t="t" l="l"/>
            <a:pathLst>
              <a:path h="6990992" w="10974917">
                <a:moveTo>
                  <a:pt x="0" y="0"/>
                </a:moveTo>
                <a:lnTo>
                  <a:pt x="10974917" y="0"/>
                </a:lnTo>
                <a:lnTo>
                  <a:pt x="10974917" y="6990992"/>
                </a:lnTo>
                <a:lnTo>
                  <a:pt x="0" y="6990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5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7751" y="2532952"/>
            <a:ext cx="6710560" cy="573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Main role of the component,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Acts as the foundational reasoning layer of the overall tax compliance system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Converts raw personal financial transactions into structured, tax-relevant outputs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Produces explainable taxable income inference for downstream system 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3155" y="477520"/>
            <a:ext cx="13317215" cy="55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System</a:t>
            </a:r>
            <a:r>
              <a:rPr lang="en-US" sz="3499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 Overview of the Individual Component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24633" y="1467139"/>
            <a:ext cx="6269434" cy="16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7"/>
              </a:lnSpc>
              <a:spcBef>
                <a:spcPct val="0"/>
              </a:spcBef>
            </a:pPr>
            <a:r>
              <a:rPr lang="en-US" b="true" sz="5523">
                <a:solidFill>
                  <a:srgbClr val="A14949"/>
                </a:solidFill>
                <a:latin typeface="Oswald Bold"/>
                <a:ea typeface="Oswald Bold"/>
                <a:cs typeface="Oswald Bold"/>
                <a:sym typeface="Oswald Bold"/>
              </a:rPr>
              <a:t>Dependencies and Common Components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04975"/>
            <a:ext cx="14868543" cy="558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b="true" sz="36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Dependencies</a:t>
            </a:r>
          </a:p>
          <a:p>
            <a:pPr algn="l" marL="690876" indent="-345438" lvl="1">
              <a:lnSpc>
                <a:spcPts val="4831"/>
              </a:lnSpc>
              <a:buFont typeface="Arial"/>
              <a:buChar char="•"/>
            </a:pPr>
            <a:r>
              <a:rPr lang="en-US" b="true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Input financial data source</a:t>
            </a:r>
          </a:p>
          <a:p>
            <a:pPr algn="l">
              <a:lnSpc>
                <a:spcPts val="4831"/>
              </a:lnSpc>
            </a:pPr>
            <a:r>
              <a:rPr lang="en-US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 Bank statements, mock records, synthetic or anonymized transaction data</a:t>
            </a:r>
          </a:p>
          <a:p>
            <a:pPr algn="l" marL="690876" indent="-345438" lvl="1">
              <a:lnSpc>
                <a:spcPts val="4831"/>
              </a:lnSpc>
              <a:buFont typeface="Arial"/>
              <a:buChar char="•"/>
            </a:pPr>
            <a:r>
              <a:rPr lang="en-US" b="true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Sri Lankan tax knowledge / rule base</a:t>
            </a:r>
          </a:p>
          <a:p>
            <a:pPr algn="l">
              <a:lnSpc>
                <a:spcPts val="4831"/>
              </a:lnSpc>
            </a:pPr>
            <a:r>
              <a:rPr lang="en-US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 Required for tax-rule mapping and reasoning</a:t>
            </a:r>
          </a:p>
          <a:p>
            <a:pPr algn="l" marL="690876" indent="-345438" lvl="1">
              <a:lnSpc>
                <a:spcPts val="4831"/>
              </a:lnSpc>
              <a:buFont typeface="Arial"/>
              <a:buChar char="•"/>
            </a:pPr>
            <a:r>
              <a:rPr lang="en-US" b="true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User tax-compliance context</a:t>
            </a:r>
          </a:p>
          <a:p>
            <a:pPr algn="l">
              <a:lnSpc>
                <a:spcPts val="4831"/>
              </a:lnSpc>
            </a:pPr>
            <a:r>
              <a:rPr lang="en-US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 Needed for personalized interpretation in the wider system</a:t>
            </a:r>
          </a:p>
          <a:p>
            <a:pPr algn="l" marL="690876" indent="-345438" lvl="1">
              <a:lnSpc>
                <a:spcPts val="4831"/>
              </a:lnSpc>
              <a:buFont typeface="Arial"/>
              <a:buChar char="•"/>
            </a:pPr>
            <a:r>
              <a:rPr lang="en-US" b="true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Human review path</a:t>
            </a:r>
          </a:p>
          <a:p>
            <a:pPr algn="l">
              <a:lnSpc>
                <a:spcPts val="4831"/>
              </a:lnSpc>
            </a:pPr>
            <a:r>
              <a:rPr lang="en-US" sz="3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 Supports low-confidence or novel transaction cases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280117" y="445317"/>
            <a:ext cx="5941373" cy="2891247"/>
          </a:xfrm>
          <a:custGeom>
            <a:avLst/>
            <a:gdLst/>
            <a:ahLst/>
            <a:cxnLst/>
            <a:rect r="r" b="b" t="t" l="l"/>
            <a:pathLst>
              <a:path h="2891247" w="5941373">
                <a:moveTo>
                  <a:pt x="0" y="0"/>
                </a:moveTo>
                <a:lnTo>
                  <a:pt x="5941373" y="0"/>
                </a:lnTo>
                <a:lnTo>
                  <a:pt x="5941373" y="2891247"/>
                </a:lnTo>
                <a:lnTo>
                  <a:pt x="0" y="2891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46" r="0" b="-258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4973" y="2148839"/>
            <a:ext cx="17783027" cy="710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b="true" sz="3199">
                <a:solidFill>
                  <a:srgbClr val="956655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Common components shared with the overall solution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Explainability / evidence generation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Confidence scoring and uncertainty handling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User-facing advisory or dashboard layer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Integration with other project components such as:</a:t>
            </a:r>
          </a:p>
          <a:p>
            <a:pPr algn="l">
              <a:lnSpc>
                <a:spcPts val="4591"/>
              </a:lnSpc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Tax Strategy Optimization</a:t>
            </a:r>
          </a:p>
          <a:p>
            <a:pPr algn="l">
              <a:lnSpc>
                <a:spcPts val="4591"/>
              </a:lnSpc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Tax Advisory Chatbot</a:t>
            </a:r>
          </a:p>
          <a:p>
            <a:pPr algn="l">
              <a:lnSpc>
                <a:spcPts val="4591"/>
              </a:lnSpc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Personalized Recommendation Engine</a:t>
            </a:r>
          </a:p>
          <a:p>
            <a:pPr algn="l">
              <a:lnSpc>
                <a:spcPts val="5083"/>
              </a:lnSpc>
            </a:pPr>
            <a:r>
              <a:rPr lang="en-US" b="true" sz="3099">
                <a:solidFill>
                  <a:srgbClr val="956655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Component contribution to the overall system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Supplies the structured tax-relevant outputs that later components depend on</a:t>
            </a:r>
          </a:p>
          <a:p>
            <a:pPr algn="l" marL="604518" indent="-302259" lvl="1">
              <a:lnSpc>
                <a:spcPts val="4591"/>
              </a:lnSpc>
              <a:buFont typeface="Arial"/>
              <a:buChar char="•"/>
            </a:pPr>
            <a:r>
              <a:rPr lang="en-US" b="true" sz="2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Without this component, later advisory and optimization outputs would not have a reliable reasoning base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38950" y="1738137"/>
            <a:ext cx="5682284" cy="4698622"/>
          </a:xfrm>
          <a:custGeom>
            <a:avLst/>
            <a:gdLst/>
            <a:ahLst/>
            <a:cxnLst/>
            <a:rect r="r" b="b" t="t" l="l"/>
            <a:pathLst>
              <a:path h="4698622" w="5682284">
                <a:moveTo>
                  <a:pt x="0" y="0"/>
                </a:moveTo>
                <a:lnTo>
                  <a:pt x="5682285" y="0"/>
                </a:lnTo>
                <a:lnTo>
                  <a:pt x="5682285" y="4698621"/>
                </a:lnTo>
                <a:lnTo>
                  <a:pt x="0" y="4698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01" r="0" b="-840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1327" y="377704"/>
            <a:ext cx="6269434" cy="16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7"/>
              </a:lnSpc>
              <a:spcBef>
                <a:spcPct val="0"/>
              </a:spcBef>
            </a:pPr>
            <a:r>
              <a:rPr lang="en-US" b="true" sz="5523">
                <a:solidFill>
                  <a:srgbClr val="A14949"/>
                </a:solidFill>
                <a:latin typeface="Oswald Bold"/>
                <a:ea typeface="Oswald Bold"/>
                <a:cs typeface="Oswald Bold"/>
                <a:sym typeface="Oswald Bold"/>
              </a:rPr>
              <a:t>Dependencies and Common Components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Financial Transacti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on Semantic Reasoning andTaxable Income Inference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4280" y="9797514"/>
            <a:ext cx="79522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IT22118936 | K A E H N Samarasinghe | R26-DS-004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3120" y="3779819"/>
            <a:ext cx="11444850" cy="485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0"/>
              </a:lnSpc>
            </a:pPr>
            <a:r>
              <a:rPr lang="en-US" sz="8000" b="true">
                <a:solidFill>
                  <a:srgbClr val="A1494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Tax Strategy Optimization &amp; Explainable Decision Engine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237004" y="332135"/>
            <a:ext cx="4724623" cy="4998690"/>
            <a:chOff x="0" y="0"/>
            <a:chExt cx="731968" cy="7744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968" cy="774428"/>
            </a:xfrm>
            <a:custGeom>
              <a:avLst/>
              <a:gdLst/>
              <a:ahLst/>
              <a:cxnLst/>
              <a:rect r="r" b="b" t="t" l="l"/>
              <a:pathLst>
                <a:path h="774428" w="731968">
                  <a:moveTo>
                    <a:pt x="45882" y="0"/>
                  </a:moveTo>
                  <a:lnTo>
                    <a:pt x="686086" y="0"/>
                  </a:lnTo>
                  <a:cubicBezTo>
                    <a:pt x="711426" y="0"/>
                    <a:pt x="731968" y="20542"/>
                    <a:pt x="731968" y="45882"/>
                  </a:cubicBezTo>
                  <a:lnTo>
                    <a:pt x="731968" y="728546"/>
                  </a:lnTo>
                  <a:cubicBezTo>
                    <a:pt x="731968" y="753886"/>
                    <a:pt x="711426" y="774428"/>
                    <a:pt x="686086" y="774428"/>
                  </a:cubicBezTo>
                  <a:lnTo>
                    <a:pt x="45882" y="774428"/>
                  </a:lnTo>
                  <a:cubicBezTo>
                    <a:pt x="20542" y="774428"/>
                    <a:pt x="0" y="753886"/>
                    <a:pt x="0" y="728546"/>
                  </a:cubicBezTo>
                  <a:lnTo>
                    <a:pt x="0" y="45882"/>
                  </a:lnTo>
                  <a:cubicBezTo>
                    <a:pt x="0" y="20542"/>
                    <a:pt x="20542" y="0"/>
                    <a:pt x="45882" y="0"/>
                  </a:cubicBezTo>
                  <a:close/>
                </a:path>
              </a:pathLst>
            </a:custGeom>
            <a:blipFill>
              <a:blip r:embed="rId2"/>
              <a:stretch>
                <a:fillRect l="-2900" t="0" r="-2900" b="0"/>
              </a:stretch>
            </a:blipFill>
            <a:ln w="9525" cap="rnd">
              <a:solidFill>
                <a:srgbClr val="A14949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3563" y="2960646"/>
            <a:ext cx="3657362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omponent B: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641340" y="637594"/>
            <a:ext cx="12381631" cy="113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Problem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77697"/>
            <a:ext cx="15135550" cy="5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545" indent="-326772" lvl="1">
              <a:lnSpc>
                <a:spcPts val="3511"/>
              </a:lnSpc>
              <a:buFont typeface="Arial"/>
              <a:buChar char="•"/>
            </a:pPr>
            <a:r>
              <a:rPr lang="en-US" b="true" sz="3027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Sri Lankan taxpayers struggle to identify effective tax-saving strategies due to comp</a:t>
            </a:r>
            <a:r>
              <a:rPr lang="en-US" b="true" sz="3027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lex tax regulations under the Inland Revenue Act.</a:t>
            </a:r>
          </a:p>
          <a:p>
            <a:pPr algn="l">
              <a:lnSpc>
                <a:spcPts val="3511"/>
              </a:lnSpc>
            </a:pPr>
          </a:p>
          <a:p>
            <a:pPr algn="l" marL="653545" indent="-326772" lvl="1">
              <a:lnSpc>
                <a:spcPts val="3511"/>
              </a:lnSpc>
              <a:buFont typeface="Arial"/>
              <a:buChar char="•"/>
            </a:pPr>
            <a:r>
              <a:rPr lang="en-US" b="true" sz="3027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individuals depend on auditors or tax consultants to understand deductions, exemptions, and tax planning options.</a:t>
            </a:r>
          </a:p>
          <a:p>
            <a:pPr algn="l">
              <a:lnSpc>
                <a:spcPts val="3511"/>
              </a:lnSpc>
            </a:pPr>
          </a:p>
          <a:p>
            <a:pPr algn="l" marL="653545" indent="-326772" lvl="1">
              <a:lnSpc>
                <a:spcPts val="3511"/>
              </a:lnSpc>
              <a:buFont typeface="Arial"/>
              <a:buChar char="•"/>
            </a:pPr>
            <a:r>
              <a:rPr lang="en-US" b="true" sz="3027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digital tax systems mainly focus on tax calculation and filing, rather than providing intelligent tax strategy recommendations.</a:t>
            </a:r>
          </a:p>
          <a:p>
            <a:pPr algn="l">
              <a:lnSpc>
                <a:spcPts val="3511"/>
              </a:lnSpc>
            </a:pPr>
          </a:p>
          <a:p>
            <a:pPr algn="l" marL="653545" indent="-326772" lvl="1">
              <a:lnSpc>
                <a:spcPts val="3511"/>
              </a:lnSpc>
              <a:buFont typeface="Arial"/>
              <a:buChar char="•"/>
            </a:pPr>
            <a:r>
              <a:rPr lang="en-US" b="true" sz="3027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 a result, taxpayers may overpay taxes or miss beneficial deductions, reducing financial efficiency and understanding of tax decisions.</a:t>
            </a:r>
          </a:p>
          <a:p>
            <a:pPr algn="l">
              <a:lnSpc>
                <a:spcPts val="351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690392" y="7501947"/>
            <a:ext cx="1473858" cy="1256799"/>
          </a:xfrm>
          <a:custGeom>
            <a:avLst/>
            <a:gdLst/>
            <a:ahLst/>
            <a:cxnLst/>
            <a:rect r="r" b="b" t="t" l="l"/>
            <a:pathLst>
              <a:path h="1256799" w="1473858">
                <a:moveTo>
                  <a:pt x="0" y="0"/>
                </a:moveTo>
                <a:lnTo>
                  <a:pt x="1473858" y="0"/>
                </a:lnTo>
                <a:lnTo>
                  <a:pt x="1473858" y="1256799"/>
                </a:lnTo>
                <a:lnTo>
                  <a:pt x="0" y="1256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3311" y="168613"/>
            <a:ext cx="1861932" cy="1861932"/>
          </a:xfrm>
          <a:custGeom>
            <a:avLst/>
            <a:gdLst/>
            <a:ahLst/>
            <a:cxnLst/>
            <a:rect r="r" b="b" t="t" l="l"/>
            <a:pathLst>
              <a:path h="1861932" w="1861932">
                <a:moveTo>
                  <a:pt x="0" y="0"/>
                </a:moveTo>
                <a:lnTo>
                  <a:pt x="1861932" y="0"/>
                </a:lnTo>
                <a:lnTo>
                  <a:pt x="1861932" y="1861931"/>
                </a:lnTo>
                <a:lnTo>
                  <a:pt x="0" y="1861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32113" y="5908365"/>
            <a:ext cx="2332137" cy="2375325"/>
          </a:xfrm>
          <a:custGeom>
            <a:avLst/>
            <a:gdLst/>
            <a:ahLst/>
            <a:cxnLst/>
            <a:rect r="r" b="b" t="t" l="l"/>
            <a:pathLst>
              <a:path h="2375325" w="2332137">
                <a:moveTo>
                  <a:pt x="0" y="0"/>
                </a:moveTo>
                <a:lnTo>
                  <a:pt x="2332137" y="0"/>
                </a:lnTo>
                <a:lnTo>
                  <a:pt x="2332137" y="2375325"/>
                </a:lnTo>
                <a:lnTo>
                  <a:pt x="0" y="2375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0707" y="943305"/>
            <a:ext cx="6648301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Research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01994"/>
            <a:ext cx="16727044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 an intelligent tax strategy optimization engine that helps taxpayers id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entify effective tax-saving strategies based on their financial profile and Sri Lankan tax laws.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8497" y="4055170"/>
            <a:ext cx="5545634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Sub -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1033" y="5084759"/>
            <a:ext cx="16819503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alyze the user's financial profile such as income, deductions, and exemptions.</a:t>
            </a:r>
          </a:p>
          <a:p>
            <a:pPr algn="l">
              <a:lnSpc>
                <a:spcPts val="382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59123" y="7304901"/>
            <a:ext cx="11490185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the most beneficial t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ax st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rategy using optimization methods.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1033" y="6154662"/>
            <a:ext cx="11865514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rate possible tax-saving strategies based on Sri Lankan tax laws.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9123" y="8455140"/>
            <a:ext cx="14231541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 clear explanati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 to help users understand tax decisions.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3875" y="2212930"/>
            <a:ext cx="4177360" cy="3136818"/>
          </a:xfrm>
          <a:custGeom>
            <a:avLst/>
            <a:gdLst/>
            <a:ahLst/>
            <a:cxnLst/>
            <a:rect r="r" b="b" t="t" l="l"/>
            <a:pathLst>
              <a:path h="3136818" w="4177360">
                <a:moveTo>
                  <a:pt x="0" y="0"/>
                </a:moveTo>
                <a:lnTo>
                  <a:pt x="4177360" y="0"/>
                </a:lnTo>
                <a:lnTo>
                  <a:pt x="4177360" y="3136818"/>
                </a:lnTo>
                <a:lnTo>
                  <a:pt x="0" y="313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6295" y="9797514"/>
            <a:ext cx="678822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6956" y="648007"/>
            <a:ext cx="3511079" cy="129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8"/>
              </a:lnSpc>
            </a:pPr>
            <a:r>
              <a:rPr lang="en-US" sz="757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Novelty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661" y="2146255"/>
            <a:ext cx="13886100" cy="695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Introduces an intelligent tax strategy optimization engine tailored for Sri Lankan tax regulations.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ombines tax rule-based compliance with optimization techniques to identify the most beneficial tax strategies.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Integrates categorized financial data from Component A with tax rule evaluation for intelligent tax planning.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Provides transparent explanations using Explainable AI (XAI) to help users understand tax recommendations.</a:t>
            </a:r>
          </a:p>
          <a:p>
            <a:pPr algn="l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477299"/>
            <a:ext cx="16510518" cy="754386"/>
            <a:chOff x="0" y="0"/>
            <a:chExt cx="5339961" cy="2439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1.Receive categorized financial data from Component 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597584"/>
            <a:ext cx="16510518" cy="754386"/>
            <a:chOff x="0" y="0"/>
            <a:chExt cx="5339961" cy="243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2.Apply Sri Lankan tax rules (Inland Revenue Act No. 24 of 2017)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919929"/>
            <a:ext cx="16510518" cy="754386"/>
            <a:chOff x="0" y="0"/>
            <a:chExt cx="5339961" cy="2439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4.Use optimization techniques to identify the best strategy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717868"/>
            <a:ext cx="16510518" cy="754386"/>
            <a:chOff x="0" y="0"/>
            <a:chExt cx="5339961" cy="2439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3.Generate possible tax-saving strategies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7055315"/>
            <a:ext cx="16510518" cy="754386"/>
            <a:chOff x="0" y="0"/>
            <a:chExt cx="5339961" cy="2439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60629">
            <a:off x="8379170" y="3101158"/>
            <a:ext cx="733976" cy="604451"/>
            <a:chOff x="0" y="0"/>
            <a:chExt cx="6477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7332" y="297280"/>
            <a:ext cx="8295774" cy="107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2"/>
              </a:lnSpc>
            </a:pPr>
            <a:r>
              <a:rPr lang="en-US" sz="628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Research Methodology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8659" y="7219846"/>
            <a:ext cx="16510518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5.Provide explanations using Explainable AI</a:t>
            </a:r>
          </a:p>
        </p:txBody>
      </p:sp>
      <p:grpSp>
        <p:nvGrpSpPr>
          <p:cNvPr name="Group 27" id="27"/>
          <p:cNvGrpSpPr/>
          <p:nvPr/>
        </p:nvGrpSpPr>
        <p:grpSpPr>
          <a:xfrm rot="-5460629">
            <a:off x="8379170" y="4273582"/>
            <a:ext cx="733976" cy="604451"/>
            <a:chOff x="0" y="0"/>
            <a:chExt cx="64770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60629">
            <a:off x="8379170" y="5446729"/>
            <a:ext cx="733976" cy="604451"/>
            <a:chOff x="0" y="0"/>
            <a:chExt cx="6477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60629">
            <a:off x="8379170" y="6619875"/>
            <a:ext cx="733976" cy="604451"/>
            <a:chOff x="0" y="0"/>
            <a:chExt cx="6477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6528" y="1964830"/>
            <a:ext cx="16916154" cy="6488212"/>
            <a:chOff x="0" y="0"/>
            <a:chExt cx="2415011" cy="926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5011" cy="926280"/>
            </a:xfrm>
            <a:custGeom>
              <a:avLst/>
              <a:gdLst/>
              <a:ahLst/>
              <a:cxnLst/>
              <a:rect r="r" b="b" t="t" l="l"/>
              <a:pathLst>
                <a:path h="926280" w="2415011">
                  <a:moveTo>
                    <a:pt x="8939" y="0"/>
                  </a:moveTo>
                  <a:lnTo>
                    <a:pt x="2406072" y="0"/>
                  </a:lnTo>
                  <a:cubicBezTo>
                    <a:pt x="2408443" y="0"/>
                    <a:pt x="2410716" y="942"/>
                    <a:pt x="2412392" y="2618"/>
                  </a:cubicBezTo>
                  <a:cubicBezTo>
                    <a:pt x="2414069" y="4294"/>
                    <a:pt x="2415011" y="6568"/>
                    <a:pt x="2415011" y="8939"/>
                  </a:cubicBezTo>
                  <a:lnTo>
                    <a:pt x="2415011" y="917341"/>
                  </a:lnTo>
                  <a:cubicBezTo>
                    <a:pt x="2415011" y="919712"/>
                    <a:pt x="2414069" y="921986"/>
                    <a:pt x="2412392" y="923662"/>
                  </a:cubicBezTo>
                  <a:cubicBezTo>
                    <a:pt x="2410716" y="925338"/>
                    <a:pt x="2408443" y="926280"/>
                    <a:pt x="2406072" y="926280"/>
                  </a:cubicBezTo>
                  <a:lnTo>
                    <a:pt x="8939" y="926280"/>
                  </a:lnTo>
                  <a:cubicBezTo>
                    <a:pt x="6568" y="926280"/>
                    <a:pt x="4294" y="925338"/>
                    <a:pt x="2618" y="923662"/>
                  </a:cubicBezTo>
                  <a:cubicBezTo>
                    <a:pt x="942" y="921986"/>
                    <a:pt x="0" y="919712"/>
                    <a:pt x="0" y="917341"/>
                  </a:cubicBezTo>
                  <a:lnTo>
                    <a:pt x="0" y="8939"/>
                  </a:lnTo>
                  <a:cubicBezTo>
                    <a:pt x="0" y="6568"/>
                    <a:pt x="942" y="4294"/>
                    <a:pt x="2618" y="2618"/>
                  </a:cubicBezTo>
                  <a:cubicBezTo>
                    <a:pt x="4294" y="942"/>
                    <a:pt x="6568" y="0"/>
                    <a:pt x="8939" y="0"/>
                  </a:cubicBezTo>
                  <a:close/>
                </a:path>
              </a:pathLst>
            </a:custGeom>
            <a:solidFill>
              <a:srgbClr val="8B74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415011" cy="94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980878" y="7441992"/>
            <a:ext cx="2278422" cy="2022099"/>
          </a:xfrm>
          <a:custGeom>
            <a:avLst/>
            <a:gdLst/>
            <a:ahLst/>
            <a:cxnLst/>
            <a:rect r="r" b="b" t="t" l="l"/>
            <a:pathLst>
              <a:path h="2022099" w="2278422">
                <a:moveTo>
                  <a:pt x="0" y="0"/>
                </a:moveTo>
                <a:lnTo>
                  <a:pt x="2278422" y="0"/>
                </a:lnTo>
                <a:lnTo>
                  <a:pt x="2278422" y="2022100"/>
                </a:lnTo>
                <a:lnTo>
                  <a:pt x="0" y="2022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3791" y="506743"/>
            <a:ext cx="8117949" cy="69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6"/>
              </a:lnSpc>
              <a:spcBef>
                <a:spcPct val="0"/>
              </a:spcBef>
            </a:pPr>
            <a:r>
              <a:rPr lang="en-US" sz="4669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Key Domains</a:t>
            </a:r>
            <a:r>
              <a:rPr lang="en-US" sz="4669">
                <a:solidFill>
                  <a:srgbClr val="A14949"/>
                </a:solidFill>
                <a:latin typeface="Norwester"/>
                <a:ea typeface="Norwester"/>
                <a:cs typeface="Norwester"/>
                <a:sym typeface="Norwester"/>
              </a:rPr>
              <a:t> of Knowledge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Strategy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Optimization &amp; Explainable Decision Engine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312" y="2475861"/>
            <a:ext cx="15288818" cy="518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This component uses several knowledge areas to generate and optimize tax strategies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147"/>
              </a:lnSpc>
            </a:pPr>
          </a:p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• Financial Data Input – Use categorized financial data from Component A.</a:t>
            </a:r>
          </a:p>
          <a:p>
            <a:pPr algn="l">
              <a:lnSpc>
                <a:spcPts val="3147"/>
              </a:lnSpc>
            </a:pPr>
          </a:p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 Sri Lankan Tax Rules – 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App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ly Inland Revenue Act No. 24 of 2017 to identify deductions and taxable income.</a:t>
            </a:r>
          </a:p>
          <a:p>
            <a:pPr algn="l">
              <a:lnSpc>
                <a:spcPts val="3147"/>
              </a:lnSpc>
            </a:pPr>
          </a:p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• Tax Strategy Optimization – Generate tax-saving strategies and select the 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be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st op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tion.</a:t>
            </a:r>
          </a:p>
          <a:p>
            <a:pPr algn="l">
              <a:lnSpc>
                <a:spcPts val="3147"/>
              </a:lnSpc>
            </a:pPr>
          </a:p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 Explai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abl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 AI – Provide clear explanat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io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ns for tax re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ommendat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ons.</a:t>
            </a:r>
          </a:p>
          <a:p>
            <a:pPr algn="l">
              <a:lnSpc>
                <a:spcPts val="3147"/>
              </a:lnSpc>
            </a:pPr>
          </a:p>
          <a:p>
            <a:pPr algn="l">
              <a:lnSpc>
                <a:spcPts val="3147"/>
              </a:lnSpc>
            </a:pP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 Decision Support – Present the recommended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 strategy </a:t>
            </a:r>
            <a:r>
              <a:rPr lang="en-US" sz="2713">
                <a:solidFill>
                  <a:srgbClr val="E9E4D9"/>
                </a:solidFill>
                <a:latin typeface="Canva Sans"/>
                <a:ea typeface="Canva Sans"/>
                <a:cs typeface="Canva Sans"/>
                <a:sym typeface="Canva Sans"/>
              </a:rPr>
              <a:t>to help users make tax decisions.</a:t>
            </a:r>
          </a:p>
          <a:p>
            <a:pPr algn="l">
              <a:lnSpc>
                <a:spcPts val="3310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2253" y="6064600"/>
            <a:ext cx="2787047" cy="2787047"/>
          </a:xfrm>
          <a:custGeom>
            <a:avLst/>
            <a:gdLst/>
            <a:ahLst/>
            <a:cxnLst/>
            <a:rect r="r" b="b" t="t" l="l"/>
            <a:pathLst>
              <a:path h="2787047" w="2787047">
                <a:moveTo>
                  <a:pt x="0" y="0"/>
                </a:moveTo>
                <a:lnTo>
                  <a:pt x="2787047" y="0"/>
                </a:lnTo>
                <a:lnTo>
                  <a:pt x="2787047" y="2787048"/>
                </a:lnTo>
                <a:lnTo>
                  <a:pt x="0" y="278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1204" y="6255836"/>
            <a:ext cx="1969966" cy="2715492"/>
          </a:xfrm>
          <a:custGeom>
            <a:avLst/>
            <a:gdLst/>
            <a:ahLst/>
            <a:cxnLst/>
            <a:rect r="r" b="b" t="t" l="l"/>
            <a:pathLst>
              <a:path h="2715492" w="1969966">
                <a:moveTo>
                  <a:pt x="0" y="0"/>
                </a:moveTo>
                <a:lnTo>
                  <a:pt x="1969966" y="0"/>
                </a:lnTo>
                <a:lnTo>
                  <a:pt x="1969966" y="2715492"/>
                </a:lnTo>
                <a:lnTo>
                  <a:pt x="0" y="271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65940" y="9686891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529" y="495607"/>
            <a:ext cx="5951339" cy="129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8"/>
              </a:lnSpc>
            </a:pPr>
            <a:r>
              <a:rPr lang="en-US" sz="757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T</a:t>
            </a:r>
            <a:r>
              <a:rPr lang="en-US" sz="757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echnologies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77635"/>
            <a:ext cx="15370354" cy="268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326" indent="-416163" lvl="1">
              <a:lnSpc>
                <a:spcPts val="5397"/>
              </a:lnSpc>
              <a:buFont typeface="Arial"/>
              <a:buChar char="•"/>
            </a:pPr>
            <a:r>
              <a:rPr lang="en-US" b="true" sz="3855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</a:t>
            </a:r>
            <a:r>
              <a:rPr lang="en-US" b="true" sz="3855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for data processing and system development</a:t>
            </a:r>
          </a:p>
          <a:p>
            <a:pPr algn="l" marL="832326" indent="-416163" lvl="1">
              <a:lnSpc>
                <a:spcPts val="5397"/>
              </a:lnSpc>
              <a:buFont typeface="Arial"/>
              <a:buChar char="•"/>
            </a:pPr>
            <a:r>
              <a:rPr lang="en-US" b="true" sz="3855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Rule-based tax engine for applying Sri Lankan tax regulations</a:t>
            </a:r>
          </a:p>
          <a:p>
            <a:pPr algn="l" marL="832326" indent="-416163" lvl="1">
              <a:lnSpc>
                <a:spcPts val="5397"/>
              </a:lnSpc>
              <a:buFont typeface="Arial"/>
              <a:buChar char="•"/>
            </a:pPr>
            <a:r>
              <a:rPr lang="en-US" b="true" sz="3855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 algorithms for selecting the best strategy</a:t>
            </a:r>
          </a:p>
          <a:p>
            <a:pPr algn="l" marL="832326" indent="-416163" lvl="1">
              <a:lnSpc>
                <a:spcPts val="5397"/>
              </a:lnSpc>
              <a:buFont typeface="Arial"/>
              <a:buChar char="•"/>
            </a:pPr>
            <a:r>
              <a:rPr lang="en-US" b="true" sz="3855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Explainable AI techniques for transparent recommendations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27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Strategy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Optimization &amp; Explainable Decision Engine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8964" y="9797514"/>
            <a:ext cx="6942892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 | A L V Chalanika  | R26-DS-004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3804" y="732976"/>
            <a:ext cx="17468653" cy="8640414"/>
            <a:chOff x="0" y="0"/>
            <a:chExt cx="2161614" cy="10691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1614" cy="1069186"/>
            </a:xfrm>
            <a:custGeom>
              <a:avLst/>
              <a:gdLst/>
              <a:ahLst/>
              <a:cxnLst/>
              <a:rect r="r" b="b" t="t" l="l"/>
              <a:pathLst>
                <a:path h="1069186" w="2161614">
                  <a:moveTo>
                    <a:pt x="8656" y="0"/>
                  </a:moveTo>
                  <a:lnTo>
                    <a:pt x="2152958" y="0"/>
                  </a:lnTo>
                  <a:cubicBezTo>
                    <a:pt x="2157739" y="0"/>
                    <a:pt x="2161614" y="3875"/>
                    <a:pt x="2161614" y="8656"/>
                  </a:cubicBezTo>
                  <a:lnTo>
                    <a:pt x="2161614" y="1060530"/>
                  </a:lnTo>
                  <a:cubicBezTo>
                    <a:pt x="2161614" y="1062826"/>
                    <a:pt x="2160702" y="1065027"/>
                    <a:pt x="2159079" y="1066651"/>
                  </a:cubicBezTo>
                  <a:cubicBezTo>
                    <a:pt x="2157456" y="1068274"/>
                    <a:pt x="2155254" y="1069186"/>
                    <a:pt x="2152958" y="1069186"/>
                  </a:cubicBezTo>
                  <a:lnTo>
                    <a:pt x="8656" y="1069186"/>
                  </a:lnTo>
                  <a:cubicBezTo>
                    <a:pt x="6360" y="1069186"/>
                    <a:pt x="4159" y="1068274"/>
                    <a:pt x="2535" y="1066651"/>
                  </a:cubicBezTo>
                  <a:cubicBezTo>
                    <a:pt x="912" y="1065027"/>
                    <a:pt x="0" y="1062826"/>
                    <a:pt x="0" y="1060530"/>
                  </a:cubicBezTo>
                  <a:lnTo>
                    <a:pt x="0" y="8656"/>
                  </a:lnTo>
                  <a:cubicBezTo>
                    <a:pt x="0" y="6360"/>
                    <a:pt x="912" y="4159"/>
                    <a:pt x="2535" y="2535"/>
                  </a:cubicBezTo>
                  <a:cubicBezTo>
                    <a:pt x="4159" y="912"/>
                    <a:pt x="6360" y="0"/>
                    <a:pt x="8656" y="0"/>
                  </a:cubicBezTo>
                  <a:close/>
                </a:path>
              </a:pathLst>
            </a:custGeom>
            <a:solidFill>
              <a:srgbClr val="E9E4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61614" cy="10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9575" y="5844809"/>
            <a:ext cx="15324675" cy="338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Validation approach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Compare optimized strategy vs basic tax calculation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Test using different financial profile scenarios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Verify compliance with Inland Revenue Act No. 24 of 2017</a:t>
            </a:r>
          </a:p>
          <a:p>
            <a:pPr algn="l" marL="647698" indent="-323849" lvl="1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Evaluate usefulness of explanations for decision making</a:t>
            </a:r>
          </a:p>
          <a:p>
            <a:pPr algn="l">
              <a:lnSpc>
                <a:spcPts val="44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97256"/>
            <a:ext cx="7200634" cy="68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Evaluation and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0441" y="1725883"/>
            <a:ext cx="8447689" cy="297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Evaluation strategy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Tax strat</a:t>
            </a: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egy recommendation effectiveness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Correct application of Sri Lankan tax rules</a:t>
            </a:r>
          </a:p>
          <a:p>
            <a:pPr algn="l" marL="669288" indent="-334644" lvl="1">
              <a:lnSpc>
                <a:spcPts val="511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Quality and clarity of explanations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38130" y="2722089"/>
            <a:ext cx="8597503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Metrics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Tax o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utcome comparison between strategies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Reduction in total tax liability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Strategy selection accuracy</a:t>
            </a:r>
          </a:p>
          <a:p>
            <a:pPr algn="l" marL="647698" indent="-323849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User understanding of explanations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568" y="1731844"/>
            <a:ext cx="9159884" cy="6547330"/>
            <a:chOff x="0" y="0"/>
            <a:chExt cx="1140269" cy="815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0269" cy="815045"/>
            </a:xfrm>
            <a:custGeom>
              <a:avLst/>
              <a:gdLst/>
              <a:ahLst/>
              <a:cxnLst/>
              <a:rect r="r" b="b" t="t" l="l"/>
              <a:pathLst>
                <a:path h="815045" w="1140269">
                  <a:moveTo>
                    <a:pt x="16508" y="0"/>
                  </a:moveTo>
                  <a:lnTo>
                    <a:pt x="1123761" y="0"/>
                  </a:lnTo>
                  <a:cubicBezTo>
                    <a:pt x="1128139" y="0"/>
                    <a:pt x="1132338" y="1739"/>
                    <a:pt x="1135434" y="4835"/>
                  </a:cubicBezTo>
                  <a:cubicBezTo>
                    <a:pt x="1138530" y="7931"/>
                    <a:pt x="1140269" y="12130"/>
                    <a:pt x="1140269" y="16508"/>
                  </a:cubicBezTo>
                  <a:lnTo>
                    <a:pt x="1140269" y="798537"/>
                  </a:lnTo>
                  <a:cubicBezTo>
                    <a:pt x="1140269" y="807654"/>
                    <a:pt x="1132878" y="815045"/>
                    <a:pt x="1123761" y="815045"/>
                  </a:cubicBezTo>
                  <a:lnTo>
                    <a:pt x="16508" y="815045"/>
                  </a:lnTo>
                  <a:cubicBezTo>
                    <a:pt x="12130" y="815045"/>
                    <a:pt x="7931" y="813306"/>
                    <a:pt x="4835" y="810210"/>
                  </a:cubicBezTo>
                  <a:cubicBezTo>
                    <a:pt x="1739" y="807114"/>
                    <a:pt x="0" y="802915"/>
                    <a:pt x="0" y="798537"/>
                  </a:cubicBezTo>
                  <a:lnTo>
                    <a:pt x="0" y="16508"/>
                  </a:lnTo>
                  <a:cubicBezTo>
                    <a:pt x="0" y="7391"/>
                    <a:pt x="7391" y="0"/>
                    <a:pt x="16508" y="0"/>
                  </a:cubicBezTo>
                  <a:close/>
                </a:path>
              </a:pathLst>
            </a:custGeom>
            <a:solidFill>
              <a:srgbClr val="E9E4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40269" cy="83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86539" y="5702593"/>
            <a:ext cx="3456500" cy="2985159"/>
          </a:xfrm>
          <a:custGeom>
            <a:avLst/>
            <a:gdLst/>
            <a:ahLst/>
            <a:cxnLst/>
            <a:rect r="r" b="b" t="t" l="l"/>
            <a:pathLst>
              <a:path h="2985159" w="3456500">
                <a:moveTo>
                  <a:pt x="0" y="0"/>
                </a:moveTo>
                <a:lnTo>
                  <a:pt x="3456500" y="0"/>
                </a:lnTo>
                <a:lnTo>
                  <a:pt x="3456500" y="2985159"/>
                </a:lnTo>
                <a:lnTo>
                  <a:pt x="0" y="2985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85865" y="2942608"/>
            <a:ext cx="6947809" cy="311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30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Ethic</a:t>
            </a:r>
            <a:r>
              <a:rPr lang="en-US" b="true" sz="30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al handling</a:t>
            </a:r>
          </a:p>
          <a:p>
            <a:pPr algn="l" marL="647702" indent="-323851" lvl="1">
              <a:lnSpc>
                <a:spcPts val="34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 data only for research purposes</a:t>
            </a:r>
          </a:p>
          <a:p>
            <a:pPr algn="l" marL="647702" indent="-323851" lvl="1">
              <a:lnSpc>
                <a:spcPts val="34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</a:t>
            </a:r>
            <a:r>
              <a:rPr lang="en-US" b="true" sz="30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rovide tax recommendations as decision support, not legal advice</a:t>
            </a:r>
          </a:p>
          <a:p>
            <a:pPr algn="l">
              <a:lnSpc>
                <a:spcPts val="3480"/>
              </a:lnSpc>
            </a:pPr>
          </a:p>
          <a:p>
            <a:pPr algn="l">
              <a:lnSpc>
                <a:spcPts val="34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Strategy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Optimization &amp; Explainable Decision Engine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8860" y="296073"/>
            <a:ext cx="8115300" cy="68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D</a:t>
            </a:r>
            <a:r>
              <a:rPr lang="en-US" sz="45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ata and Ethical Clearance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597" y="1925338"/>
            <a:ext cx="8302783" cy="20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b="true" sz="29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availability</a:t>
            </a:r>
          </a:p>
          <a:p>
            <a:pPr algn="l" marL="647697" indent="-323848" lvl="1">
              <a:lnSpc>
                <a:spcPts val="392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Ca</a:t>
            </a: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tegorized financial data from Component A</a:t>
            </a:r>
          </a:p>
          <a:p>
            <a:pPr algn="l" marL="647697" indent="-323848" lvl="1">
              <a:lnSpc>
                <a:spcPts val="392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Synthetic financial profiles for testing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597" y="4656748"/>
            <a:ext cx="8302783" cy="20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99" b="true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Securi</a:t>
            </a:r>
            <a:r>
              <a:rPr lang="en-US" b="true" sz="2999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ty and privacy</a:t>
            </a:r>
          </a:p>
          <a:p>
            <a:pPr algn="l" marL="647697" indent="-323848" lvl="1">
              <a:lnSpc>
                <a:spcPts val="392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Mask personal financial information</a:t>
            </a:r>
          </a:p>
          <a:p>
            <a:pPr algn="l" marL="647697" indent="-323848" lvl="1">
              <a:lnSpc>
                <a:spcPts val="392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Secure storage and controlled access</a:t>
            </a:r>
          </a:p>
          <a:p>
            <a:pPr algn="l">
              <a:lnSpc>
                <a:spcPts val="3929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8762" y="1836173"/>
            <a:ext cx="10492473" cy="6990610"/>
          </a:xfrm>
          <a:custGeom>
            <a:avLst/>
            <a:gdLst/>
            <a:ahLst/>
            <a:cxnLst/>
            <a:rect r="r" b="b" t="t" l="l"/>
            <a:pathLst>
              <a:path h="6990610" w="10492473">
                <a:moveTo>
                  <a:pt x="0" y="0"/>
                </a:moveTo>
                <a:lnTo>
                  <a:pt x="10492473" y="0"/>
                </a:lnTo>
                <a:lnTo>
                  <a:pt x="10492473" y="6990610"/>
                </a:lnTo>
                <a:lnTo>
                  <a:pt x="0" y="6990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8762" y="1836173"/>
            <a:ext cx="10775127" cy="6835421"/>
          </a:xfrm>
          <a:custGeom>
            <a:avLst/>
            <a:gdLst/>
            <a:ahLst/>
            <a:cxnLst/>
            <a:rect r="r" b="b" t="t" l="l"/>
            <a:pathLst>
              <a:path h="6835421" w="10775127">
                <a:moveTo>
                  <a:pt x="0" y="0"/>
                </a:moveTo>
                <a:lnTo>
                  <a:pt x="10775127" y="0"/>
                </a:lnTo>
                <a:lnTo>
                  <a:pt x="10775127" y="6835421"/>
                </a:lnTo>
                <a:lnTo>
                  <a:pt x="0" y="6835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9" r="0" b="-58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70089" y="1836173"/>
            <a:ext cx="10633800" cy="7022073"/>
          </a:xfrm>
          <a:custGeom>
            <a:avLst/>
            <a:gdLst/>
            <a:ahLst/>
            <a:cxnLst/>
            <a:rect r="r" b="b" t="t" l="l"/>
            <a:pathLst>
              <a:path h="7022073" w="10633800">
                <a:moveTo>
                  <a:pt x="0" y="0"/>
                </a:moveTo>
                <a:lnTo>
                  <a:pt x="10633800" y="0"/>
                </a:lnTo>
                <a:lnTo>
                  <a:pt x="10633800" y="7022073"/>
                </a:lnTo>
                <a:lnTo>
                  <a:pt x="0" y="7022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2" t="0" r="-982" b="-383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29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Strategy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Optimization &amp; Explainable Decision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919" y="1928862"/>
            <a:ext cx="6710560" cy="70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 role of the component,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Acts as the tax strategy optimization module of the intelligent tax advisory system.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 categorized financial data from Component A.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and evaluates tax-saving strategies based on Sri Lankan tax regulations.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347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Provides optimized tax recommendations with clear explanations.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3155" y="477520"/>
            <a:ext cx="13317215" cy="55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System</a:t>
            </a:r>
            <a:r>
              <a:rPr lang="en-US" sz="3499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 Overview of the Individual Component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54169" y="5563611"/>
            <a:ext cx="2946783" cy="2844985"/>
          </a:xfrm>
          <a:custGeom>
            <a:avLst/>
            <a:gdLst/>
            <a:ahLst/>
            <a:cxnLst/>
            <a:rect r="r" b="b" t="t" l="l"/>
            <a:pathLst>
              <a:path h="2844985" w="2946783">
                <a:moveTo>
                  <a:pt x="0" y="0"/>
                </a:moveTo>
                <a:lnTo>
                  <a:pt x="2946783" y="0"/>
                </a:lnTo>
                <a:lnTo>
                  <a:pt x="2946783" y="2844985"/>
                </a:lnTo>
                <a:lnTo>
                  <a:pt x="0" y="28449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446" y="2190365"/>
            <a:ext cx="2925887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Dependencies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7209" y="2972432"/>
            <a:ext cx="15246235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egorized Financial Data (Component A) – Provides categorized income, deductions, and taxable values required for tax strategy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209" y="4013324"/>
            <a:ext cx="15500921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Lankan Tax Rules Module – Contains Inland Revenue Act No. 24 of 2017 regulations used to evaluate tax strategies.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209" y="5054216"/>
            <a:ext cx="11837655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Tax Strategy Generation Module – Generates possible tax-saving strategies based on user financial profiles.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209" y="6288112"/>
            <a:ext cx="9936429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imization Engine – Evaluates generated strategies and selects the most beneficial tax strategy.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6295" y="9797514"/>
            <a:ext cx="678822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IT22064486 | A L V Chalanika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Tax Str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ategy Optimization &amp; Explainable Decision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895" y="1925337"/>
            <a:ext cx="4384328" cy="48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895" y="2641035"/>
            <a:ext cx="17330105" cy="486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his component uses several common modules within the system to generate and explain optimized tax strategies</a:t>
            </a: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</a:t>
            </a:r>
          </a:p>
          <a:p>
            <a:pPr algn="l">
              <a:lnSpc>
                <a:spcPts val="3479"/>
              </a:lnSpc>
            </a:pPr>
          </a:p>
          <a:p>
            <a:pPr algn="l" marL="647697" indent="-323848" lvl="1">
              <a:lnSpc>
                <a:spcPts val="3479"/>
              </a:lnSpc>
              <a:buAutoNum type="arabicPeriod" startAt="1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Rule-Based Tax Engine – 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Applies Sri Lankan tax regulations to evaluate tax strategies.</a:t>
            </a:r>
          </a:p>
          <a:p>
            <a:pPr algn="l" marL="647697" indent="-323848" lvl="1">
              <a:lnSpc>
                <a:spcPts val="3479"/>
              </a:lnSpc>
              <a:buAutoNum type="arabicPeriod" startAt="1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Optimization Algorithms – 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Select the most beneficial tax-saving strategy from multiple options.</a:t>
            </a:r>
          </a:p>
          <a:p>
            <a:pPr algn="l" marL="647697" indent="-323848" lvl="1">
              <a:lnSpc>
                <a:spcPts val="3479"/>
              </a:lnSpc>
              <a:buAutoNum type="arabicPeriod" startAt="1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Explainable AI Module – 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Generates clear explanations for the recommended tax strategy.</a:t>
            </a:r>
          </a:p>
          <a:p>
            <a:pPr algn="l" marL="647697" indent="-323848" lvl="1">
              <a:lnSpc>
                <a:spcPts val="3479"/>
              </a:lnSpc>
              <a:buAutoNum type="arabicPeriod" startAt="1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Financial Data Processing Module –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Processes categorized financial data received from Component A.</a:t>
            </a:r>
          </a:p>
          <a:p>
            <a:pPr algn="l" marL="647697" indent="-323848" lvl="1">
              <a:lnSpc>
                <a:spcPts val="3479"/>
              </a:lnSpc>
              <a:buAutoNum type="arabicPeriod" startAt="1"/>
            </a:pPr>
            <a:r>
              <a:rPr lang="en-US" b="true" sz="29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Decision Support Interface </a:t>
            </a: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 Displays the recommended tax strategy and explanation to the user.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7939" y="3829449"/>
            <a:ext cx="13189429" cy="22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sz="7300" b="true">
                <a:solidFill>
                  <a:srgbClr val="A1494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Intelligent Tax Advisory Language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954525" y="332135"/>
            <a:ext cx="3931475" cy="4159533"/>
            <a:chOff x="0" y="0"/>
            <a:chExt cx="731968" cy="7744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968" cy="774428"/>
            </a:xfrm>
            <a:custGeom>
              <a:avLst/>
              <a:gdLst/>
              <a:ahLst/>
              <a:cxnLst/>
              <a:rect r="r" b="b" t="t" l="l"/>
              <a:pathLst>
                <a:path h="774428" w="731968">
                  <a:moveTo>
                    <a:pt x="55138" y="0"/>
                  </a:moveTo>
                  <a:lnTo>
                    <a:pt x="676830" y="0"/>
                  </a:lnTo>
                  <a:cubicBezTo>
                    <a:pt x="707282" y="0"/>
                    <a:pt x="731968" y="24686"/>
                    <a:pt x="731968" y="55138"/>
                  </a:cubicBezTo>
                  <a:lnTo>
                    <a:pt x="731968" y="719290"/>
                  </a:lnTo>
                  <a:cubicBezTo>
                    <a:pt x="731968" y="749742"/>
                    <a:pt x="707282" y="774428"/>
                    <a:pt x="676830" y="774428"/>
                  </a:cubicBezTo>
                  <a:lnTo>
                    <a:pt x="55138" y="774428"/>
                  </a:lnTo>
                  <a:cubicBezTo>
                    <a:pt x="24686" y="774428"/>
                    <a:pt x="0" y="749742"/>
                    <a:pt x="0" y="719290"/>
                  </a:cubicBezTo>
                  <a:lnTo>
                    <a:pt x="0" y="55138"/>
                  </a:lnTo>
                  <a:cubicBezTo>
                    <a:pt x="0" y="24686"/>
                    <a:pt x="24686" y="0"/>
                    <a:pt x="551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490" r="0" b="-18490"/>
              </a:stretch>
            </a:blipFill>
            <a:ln w="9525" cap="rnd">
              <a:solidFill>
                <a:srgbClr val="A14949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3284" y="961813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323" y="2960646"/>
            <a:ext cx="3687842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omponent C: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2024" y="5392042"/>
            <a:ext cx="6017276" cy="4004224"/>
          </a:xfrm>
          <a:custGeom>
            <a:avLst/>
            <a:gdLst/>
            <a:ahLst/>
            <a:cxnLst/>
            <a:rect r="r" b="b" t="t" l="l"/>
            <a:pathLst>
              <a:path h="4004224" w="6017276">
                <a:moveTo>
                  <a:pt x="0" y="0"/>
                </a:moveTo>
                <a:lnTo>
                  <a:pt x="6017276" y="0"/>
                </a:lnTo>
                <a:lnTo>
                  <a:pt x="6017276" y="4004224"/>
                </a:lnTo>
                <a:lnTo>
                  <a:pt x="0" y="4004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65" t="0" r="-36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6005" y="388336"/>
            <a:ext cx="2604000" cy="1950487"/>
          </a:xfrm>
          <a:custGeom>
            <a:avLst/>
            <a:gdLst/>
            <a:ahLst/>
            <a:cxnLst/>
            <a:rect r="r" b="b" t="t" l="l"/>
            <a:pathLst>
              <a:path h="1950487" w="2604000">
                <a:moveTo>
                  <a:pt x="0" y="0"/>
                </a:moveTo>
                <a:lnTo>
                  <a:pt x="2604000" y="0"/>
                </a:lnTo>
                <a:lnTo>
                  <a:pt x="2604000" y="1950486"/>
                </a:lnTo>
                <a:lnTo>
                  <a:pt x="0" y="1950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04270" y="9797514"/>
            <a:ext cx="6812280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6005" y="789541"/>
            <a:ext cx="12381631" cy="113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Problem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3934" y="2203453"/>
            <a:ext cx="16644066" cy="292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Tax law</a:t>
            </a: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are too complex for average people to interpret correctly without expert help.</a:t>
            </a: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43934" y="3105822"/>
            <a:ext cx="16644066" cy="243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</a:p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eneral-purpose AI carries a high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risk of giving "hallucinated" or wrong legal advice.</a:t>
            </a: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43934" y="4369138"/>
            <a:ext cx="16288044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</a:t>
            </a: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 digital tools lack clear l</a:t>
            </a: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egal proof and transparent reasoning for their answers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3934" y="6100401"/>
            <a:ext cx="9137482" cy="19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 a res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ult, taxpayers face heavy fines, legal risks, or miss out on major tax savings.</a:t>
            </a:r>
          </a:p>
          <a:p>
            <a:pPr algn="l">
              <a:lnSpc>
                <a:spcPts val="3827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9158" y="350921"/>
            <a:ext cx="2481821" cy="1756794"/>
          </a:xfrm>
          <a:custGeom>
            <a:avLst/>
            <a:gdLst/>
            <a:ahLst/>
            <a:cxnLst/>
            <a:rect r="r" b="b" t="t" l="l"/>
            <a:pathLst>
              <a:path h="1756794" w="2481821">
                <a:moveTo>
                  <a:pt x="0" y="0"/>
                </a:moveTo>
                <a:lnTo>
                  <a:pt x="2481821" y="0"/>
                </a:lnTo>
                <a:lnTo>
                  <a:pt x="2481821" y="1756795"/>
                </a:lnTo>
                <a:lnTo>
                  <a:pt x="0" y="1756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81843" y="924255"/>
            <a:ext cx="4026287" cy="4026287"/>
          </a:xfrm>
          <a:custGeom>
            <a:avLst/>
            <a:gdLst/>
            <a:ahLst/>
            <a:cxnLst/>
            <a:rect r="r" b="b" t="t" l="l"/>
            <a:pathLst>
              <a:path h="4026287" w="4026287">
                <a:moveTo>
                  <a:pt x="0" y="0"/>
                </a:moveTo>
                <a:lnTo>
                  <a:pt x="4026287" y="0"/>
                </a:lnTo>
                <a:lnTo>
                  <a:pt x="4026287" y="4026287"/>
                </a:lnTo>
                <a:lnTo>
                  <a:pt x="0" y="402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0707" y="943305"/>
            <a:ext cx="6648301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Research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01994"/>
            <a:ext cx="11625469" cy="243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3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 an intelligent, AI-driven conversational language model to interpret tax-related queries and provide accurate, persona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lized, and explainable tax advisory guidance grounded in verified regulatory sources.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1384" y="4570794"/>
            <a:ext cx="5545634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Sub -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497" y="5524183"/>
            <a:ext cx="16421457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lop a natural language query understanding and preprocessing pipeline.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8497" y="7329361"/>
            <a:ext cx="15474315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a t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ax knowledge retrieval and information grounding mechanism.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497" y="6236272"/>
            <a:ext cx="11865514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ild a conversational intent detection and query classification model.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497" y="8031925"/>
            <a:ext cx="15585043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 a resp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onse validation and regulatory compliance mechanism.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8860" y="3935755"/>
            <a:ext cx="7150440" cy="4388832"/>
          </a:xfrm>
          <a:custGeom>
            <a:avLst/>
            <a:gdLst/>
            <a:ahLst/>
            <a:cxnLst/>
            <a:rect r="r" b="b" t="t" l="l"/>
            <a:pathLst>
              <a:path h="4388832" w="7150440">
                <a:moveTo>
                  <a:pt x="0" y="0"/>
                </a:moveTo>
                <a:lnTo>
                  <a:pt x="7150440" y="0"/>
                </a:lnTo>
                <a:lnTo>
                  <a:pt x="7150440" y="4388832"/>
                </a:lnTo>
                <a:lnTo>
                  <a:pt x="0" y="438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39" t="0" r="-145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66258" y="464367"/>
            <a:ext cx="4020860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  <a:spcBef>
                <a:spcPct val="0"/>
              </a:spcBef>
            </a:pPr>
            <a:r>
              <a:rPr lang="en-US" sz="49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Rese</a:t>
            </a:r>
            <a:r>
              <a:rPr lang="en-US" sz="4999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arch Gap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Intellig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ent Tax Advisory Language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3564" y="1913867"/>
            <a:ext cx="10474222" cy="71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899" indent="-412450" lvl="1">
              <a:lnSpc>
                <a:spcPts val="5501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tatic 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3564" y="3072209"/>
            <a:ext cx="10192127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899" indent="-412450" lvl="1">
              <a:lnSpc>
                <a:spcPts val="4584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 "Hallucination" Gap</a:t>
            </a:r>
          </a:p>
          <a:p>
            <a:pPr algn="l">
              <a:lnSpc>
                <a:spcPts val="4584"/>
              </a:lnSpc>
            </a:pPr>
          </a:p>
          <a:p>
            <a:pPr algn="l" marL="824899" indent="-412450" lvl="1">
              <a:lnSpc>
                <a:spcPts val="4584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"Black Box" Gap </a:t>
            </a:r>
          </a:p>
          <a:p>
            <a:pPr algn="l">
              <a:lnSpc>
                <a:spcPts val="4584"/>
              </a:lnSpc>
            </a:pPr>
          </a:p>
          <a:p>
            <a:pPr algn="l" marL="824899" indent="-412450" lvl="1">
              <a:lnSpc>
                <a:spcPts val="4584"/>
              </a:lnSpc>
              <a:buFont typeface="Arial"/>
              <a:buChar char="•"/>
            </a:pPr>
            <a:r>
              <a:rPr lang="en-US" sz="38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Legal Conflict Blindness: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45260" y="3474357"/>
            <a:ext cx="7570725" cy="4857346"/>
          </a:xfrm>
          <a:custGeom>
            <a:avLst/>
            <a:gdLst/>
            <a:ahLst/>
            <a:cxnLst/>
            <a:rect r="r" b="b" t="t" l="l"/>
            <a:pathLst>
              <a:path h="4857346" w="7570725">
                <a:moveTo>
                  <a:pt x="0" y="0"/>
                </a:moveTo>
                <a:lnTo>
                  <a:pt x="7570725" y="0"/>
                </a:lnTo>
                <a:lnTo>
                  <a:pt x="7570725" y="4857345"/>
                </a:lnTo>
                <a:lnTo>
                  <a:pt x="0" y="4857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59" t="-1471" r="-1012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6956" y="648007"/>
            <a:ext cx="3511079" cy="129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8"/>
              </a:lnSpc>
            </a:pPr>
            <a:r>
              <a:rPr lang="en-US" sz="757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Novelty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249" y="2186091"/>
            <a:ext cx="10038041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Graph-Aug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mented Agentic SLM Architecture: 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3221" y="3483882"/>
            <a:ext cx="12507198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Neuro-Symbolic Rea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soning Loop: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5249" y="4933152"/>
            <a:ext cx="11306792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 Tax-Rule Mapping: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249" y="6445341"/>
            <a:ext cx="6959798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"Think Tw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ice" Self-Correction: </a:t>
            </a:r>
          </a:p>
          <a:p>
            <a:pPr algn="l">
              <a:lnSpc>
                <a:spcPts val="3827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613" y="2556770"/>
            <a:ext cx="9766604" cy="6092611"/>
          </a:xfrm>
          <a:custGeom>
            <a:avLst/>
            <a:gdLst/>
            <a:ahLst/>
            <a:cxnLst/>
            <a:rect r="r" b="b" t="t" l="l"/>
            <a:pathLst>
              <a:path h="6092611" w="9766604">
                <a:moveTo>
                  <a:pt x="0" y="0"/>
                </a:moveTo>
                <a:lnTo>
                  <a:pt x="9766604" y="0"/>
                </a:lnTo>
                <a:lnTo>
                  <a:pt x="9766604" y="6092611"/>
                </a:lnTo>
                <a:lnTo>
                  <a:pt x="0" y="609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07699" y="1290171"/>
            <a:ext cx="8080301" cy="5660022"/>
          </a:xfrm>
          <a:custGeom>
            <a:avLst/>
            <a:gdLst/>
            <a:ahLst/>
            <a:cxnLst/>
            <a:rect r="r" b="b" t="t" l="l"/>
            <a:pathLst>
              <a:path h="5660022" w="8080301">
                <a:moveTo>
                  <a:pt x="0" y="0"/>
                </a:moveTo>
                <a:lnTo>
                  <a:pt x="8080301" y="0"/>
                </a:lnTo>
                <a:lnTo>
                  <a:pt x="8080301" y="5660022"/>
                </a:lnTo>
                <a:lnTo>
                  <a:pt x="0" y="566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73892"/>
            <a:ext cx="10053830" cy="11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Th</a:t>
            </a: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e Comp</a:t>
            </a: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arison: General LLMs vs.   Intelligent Tax Advisory Language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Intellig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6574" y="1825151"/>
            <a:ext cx="8757426" cy="6073633"/>
          </a:xfrm>
          <a:custGeom>
            <a:avLst/>
            <a:gdLst/>
            <a:ahLst/>
            <a:cxnLst/>
            <a:rect r="r" b="b" t="t" l="l"/>
            <a:pathLst>
              <a:path h="6073633" w="8757426">
                <a:moveTo>
                  <a:pt x="0" y="0"/>
                </a:moveTo>
                <a:lnTo>
                  <a:pt x="8757426" y="0"/>
                </a:lnTo>
                <a:lnTo>
                  <a:pt x="8757426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39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20374" y="4754046"/>
            <a:ext cx="9887756" cy="5016996"/>
          </a:xfrm>
          <a:custGeom>
            <a:avLst/>
            <a:gdLst/>
            <a:ahLst/>
            <a:cxnLst/>
            <a:rect r="r" b="b" t="t" l="l"/>
            <a:pathLst>
              <a:path h="5016996" w="9887756">
                <a:moveTo>
                  <a:pt x="0" y="0"/>
                </a:moveTo>
                <a:lnTo>
                  <a:pt x="9887756" y="0"/>
                </a:lnTo>
                <a:lnTo>
                  <a:pt x="9887756" y="5016996"/>
                </a:lnTo>
                <a:lnTo>
                  <a:pt x="0" y="5016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73892"/>
            <a:ext cx="10053830" cy="11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Th</a:t>
            </a: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e Comp</a:t>
            </a:r>
            <a:r>
              <a:rPr lang="en-US" sz="4004">
                <a:solidFill>
                  <a:srgbClr val="A14949"/>
                </a:solidFill>
                <a:latin typeface="Calistoga"/>
                <a:ea typeface="Calistoga"/>
                <a:cs typeface="Calistoga"/>
                <a:sym typeface="Calistoga"/>
              </a:rPr>
              <a:t>arison: General LLMs vs.   Intelligent Tax Advisory Language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701" y="100870"/>
            <a:ext cx="9657299" cy="3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Intellig</a:t>
            </a:r>
            <a:r>
              <a:rPr lang="en-US" sz="2179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8741" y="1441257"/>
            <a:ext cx="16510518" cy="1129744"/>
            <a:chOff x="0" y="0"/>
            <a:chExt cx="5339961" cy="365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9961" cy="365391"/>
            </a:xfrm>
            <a:custGeom>
              <a:avLst/>
              <a:gdLst/>
              <a:ahLst/>
              <a:cxnLst/>
              <a:rect r="r" b="b" t="t" l="l"/>
              <a:pathLst>
                <a:path h="365391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356232"/>
                  </a:lnTo>
                  <a:cubicBezTo>
                    <a:pt x="5339961" y="361290"/>
                    <a:pt x="5335860" y="365391"/>
                    <a:pt x="5330803" y="365391"/>
                  </a:cubicBezTo>
                  <a:lnTo>
                    <a:pt x="9158" y="365391"/>
                  </a:lnTo>
                  <a:cubicBezTo>
                    <a:pt x="6729" y="365391"/>
                    <a:pt x="4400" y="364426"/>
                    <a:pt x="2682" y="362708"/>
                  </a:cubicBezTo>
                  <a:cubicBezTo>
                    <a:pt x="965" y="360991"/>
                    <a:pt x="0" y="358661"/>
                    <a:pt x="0" y="356232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339961" cy="336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Tax Knowledge Base Construction</a:t>
              </a:r>
            </a:p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8741" y="2765201"/>
            <a:ext cx="16510518" cy="754386"/>
            <a:chOff x="0" y="0"/>
            <a:chExt cx="5339961" cy="243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Query Preprocessing and Normalization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8741" y="5087546"/>
            <a:ext cx="16510518" cy="754386"/>
            <a:chOff x="0" y="0"/>
            <a:chExt cx="5339961" cy="2439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Knowledge Retrieval (GraphRAG Pipeline)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8741" y="3885486"/>
            <a:ext cx="16510518" cy="754386"/>
            <a:chOff x="0" y="0"/>
            <a:chExt cx="5339961" cy="2439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Intent Detection and Classification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8741" y="6222932"/>
            <a:ext cx="16510518" cy="754386"/>
            <a:chOff x="0" y="0"/>
            <a:chExt cx="5339961" cy="2439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8741" y="7391656"/>
            <a:ext cx="16510518" cy="754386"/>
            <a:chOff x="0" y="0"/>
            <a:chExt cx="5339961" cy="2439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6. Response Validation and Compliance Checking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8741" y="8422266"/>
            <a:ext cx="16510518" cy="754386"/>
            <a:chOff x="0" y="0"/>
            <a:chExt cx="5339961" cy="2439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60629">
            <a:off x="8239211" y="2268775"/>
            <a:ext cx="733976" cy="604451"/>
            <a:chOff x="0" y="0"/>
            <a:chExt cx="6477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39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7332" y="297280"/>
            <a:ext cx="8295774" cy="107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2"/>
              </a:lnSpc>
            </a:pPr>
            <a:r>
              <a:rPr lang="en-US" sz="628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Research Methodology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6387464"/>
            <a:ext cx="16510518" cy="89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91" indent="-334646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5.C</a:t>
            </a: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onversational Response Generation</a:t>
            </a:r>
          </a:p>
          <a:p>
            <a:pPr algn="ctr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888741" y="8586798"/>
            <a:ext cx="16510518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Experimental Evaluation and Performance Analysis</a:t>
            </a:r>
          </a:p>
        </p:txBody>
      </p:sp>
      <p:grpSp>
        <p:nvGrpSpPr>
          <p:cNvPr name="Group 34" id="34"/>
          <p:cNvGrpSpPr/>
          <p:nvPr/>
        </p:nvGrpSpPr>
        <p:grpSpPr>
          <a:xfrm rot="-5460629">
            <a:off x="8239211" y="3441199"/>
            <a:ext cx="733976" cy="604451"/>
            <a:chOff x="0" y="0"/>
            <a:chExt cx="6477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5460629">
            <a:off x="8239211" y="4614346"/>
            <a:ext cx="733976" cy="604451"/>
            <a:chOff x="0" y="0"/>
            <a:chExt cx="6477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60629">
            <a:off x="8239211" y="5787493"/>
            <a:ext cx="733976" cy="604451"/>
            <a:chOff x="0" y="0"/>
            <a:chExt cx="64770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5460629">
            <a:off x="8239211" y="6901872"/>
            <a:ext cx="733976" cy="604451"/>
            <a:chOff x="0" y="0"/>
            <a:chExt cx="6477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5460629">
            <a:off x="8239211" y="8075019"/>
            <a:ext cx="733976" cy="604451"/>
            <a:chOff x="0" y="0"/>
            <a:chExt cx="647700" cy="533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1309" y="3504891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83816"/>
            <a:ext cx="11891211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KEY </a:t>
            </a:r>
            <a:r>
              <a:rPr lang="en-US" sz="750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Domain KnowleDge</a:t>
            </a:r>
          </a:p>
          <a:p>
            <a:pPr algn="ctr">
              <a:lnSpc>
                <a:spcPts val="105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0069" y="2395852"/>
            <a:ext cx="12204263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Conversational AI and Natural Language Processing (NLP)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10069" y="3422266"/>
            <a:ext cx="11376184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Retrieval-Augmented Generation (RAG) Architectures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0069" y="4448680"/>
            <a:ext cx="1080766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Sri Lankan Inland Revenue Act and Tax Regulations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10069" y="5475094"/>
            <a:ext cx="1044380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Neuro-Symbolic Reasoning for Legal Compliance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23641" y="6501508"/>
            <a:ext cx="10794088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Semantic Search and Information Retrieval Theory</a:t>
            </a:r>
          </a:p>
          <a:p>
            <a:pPr algn="ctr">
              <a:lnSpc>
                <a:spcPts val="38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911" y="2000684"/>
            <a:ext cx="5848120" cy="3086100"/>
            <a:chOff x="0" y="0"/>
            <a:chExt cx="154024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0246" cy="812800"/>
            </a:xfrm>
            <a:custGeom>
              <a:avLst/>
              <a:gdLst/>
              <a:ahLst/>
              <a:cxnLst/>
              <a:rect r="r" b="b" t="t" l="l"/>
              <a:pathLst>
                <a:path h="812800" w="1540246">
                  <a:moveTo>
                    <a:pt x="0" y="0"/>
                  </a:moveTo>
                  <a:lnTo>
                    <a:pt x="1540246" y="0"/>
                  </a:lnTo>
                  <a:lnTo>
                    <a:pt x="154024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540246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1. Transformer-based Language Models</a:t>
              </a:r>
            </a:p>
            <a:p>
              <a:pPr algn="ctr">
                <a:lnSpc>
                  <a:spcPts val="2783"/>
                </a:lnSpc>
              </a:pP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• 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Ex: 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BERT, R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BERT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Dis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lBERT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 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ten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class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cation</a:t>
              </a: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88292" y="2000330"/>
            <a:ext cx="5111416" cy="3086100"/>
            <a:chOff x="0" y="0"/>
            <a:chExt cx="134621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6216" cy="812800"/>
            </a:xfrm>
            <a:custGeom>
              <a:avLst/>
              <a:gdLst/>
              <a:ahLst/>
              <a:cxnLst/>
              <a:rect r="r" b="b" t="t" l="l"/>
              <a:pathLst>
                <a:path h="812800" w="1346216">
                  <a:moveTo>
                    <a:pt x="0" y="0"/>
                  </a:moveTo>
                  <a:lnTo>
                    <a:pt x="1346216" y="0"/>
                  </a:lnTo>
                  <a:lnTo>
                    <a:pt x="134621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346217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Graph-Augmented Retrieval (GraphRAG)</a:t>
              </a:r>
            </a:p>
            <a:p>
              <a:pPr algn="ctr">
                <a:lnSpc>
                  <a:spcPts val="2783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Ex: Neo4j for Knowledge Graphs, Pinecone for vector storage.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64461" y="1944617"/>
            <a:ext cx="5657853" cy="3086100"/>
            <a:chOff x="0" y="0"/>
            <a:chExt cx="149013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490134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RAG Frameworks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b="true" sz="24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•Ex: LangChain, Hugging Face Transformers for grounding.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92124" y="5783192"/>
            <a:ext cx="5657853" cy="3086100"/>
            <a:chOff x="0" y="0"/>
            <a:chExt cx="149013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90134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4.Neuro-Symbolic Integration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Ex: Hybrid LLM + Symbolic Rule Engines for factual validatio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35534" y="5783192"/>
            <a:ext cx="5657853" cy="3086100"/>
            <a:chOff x="0" y="0"/>
            <a:chExt cx="149013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90134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5. Backend &amp; Deployment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b="true" sz="24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• Ex: FastAPI for modular services, Python-based NLP pipelines.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54052" y="154431"/>
            <a:ext cx="1887298" cy="1674449"/>
          </a:xfrm>
          <a:custGeom>
            <a:avLst/>
            <a:gdLst/>
            <a:ahLst/>
            <a:cxnLst/>
            <a:rect r="r" b="b" t="t" l="l"/>
            <a:pathLst>
              <a:path h="1674449" w="1887298">
                <a:moveTo>
                  <a:pt x="0" y="0"/>
                </a:moveTo>
                <a:lnTo>
                  <a:pt x="1887299" y="0"/>
                </a:lnTo>
                <a:lnTo>
                  <a:pt x="1887299" y="1674449"/>
                </a:lnTo>
                <a:lnTo>
                  <a:pt x="0" y="1674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687" t="0" r="-1381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54394" y="390355"/>
            <a:ext cx="8710067" cy="126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5"/>
              </a:lnSpc>
            </a:pPr>
            <a:r>
              <a:rPr lang="en-US" sz="7411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Latest Technologies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72515" y="6141892"/>
            <a:ext cx="3726324" cy="2626171"/>
          </a:xfrm>
          <a:custGeom>
            <a:avLst/>
            <a:gdLst/>
            <a:ahLst/>
            <a:cxnLst/>
            <a:rect r="r" b="b" t="t" l="l"/>
            <a:pathLst>
              <a:path h="2626171" w="3726324">
                <a:moveTo>
                  <a:pt x="0" y="0"/>
                </a:moveTo>
                <a:lnTo>
                  <a:pt x="3726324" y="0"/>
                </a:lnTo>
                <a:lnTo>
                  <a:pt x="3726324" y="2626171"/>
                </a:lnTo>
                <a:lnTo>
                  <a:pt x="0" y="2626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8147" y="693604"/>
            <a:ext cx="11173884" cy="125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3"/>
              </a:lnSpc>
            </a:pPr>
            <a:r>
              <a:rPr lang="en-US" sz="7338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Evaluation and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61417"/>
            <a:ext cx="3901753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Evaluation Strategy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282" y="3277773"/>
            <a:ext cx="5222557" cy="214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ent classification performance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Knowledge retrieval accuracy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Hallucination rate analysis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Legal consistency scoring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User satisfaction evaluation</a:t>
            </a:r>
          </a:p>
          <a:p>
            <a:pPr algn="l">
              <a:lnSpc>
                <a:spcPts val="278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64458" y="2461417"/>
            <a:ext cx="1522735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8188" y="6113317"/>
            <a:ext cx="4034582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Validati</a:t>
            </a: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287" y="3095465"/>
            <a:ext cx="5807988" cy="214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Accuracy, Precision, Recall, F1-score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Response Correctness Rate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Evidence Alignment Rate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BLEU / ROUGE (for generation quality)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Latency and Response Time</a:t>
            </a:r>
          </a:p>
          <a:p>
            <a:pPr algn="l">
              <a:lnSpc>
                <a:spcPts val="278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76820" y="6910623"/>
            <a:ext cx="6352342" cy="179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Compare baseline vs. transformer models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Expert-verified query testing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Adversarial testing for hallucinations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Multi-turn conversational robustness</a:t>
            </a:r>
          </a:p>
          <a:p>
            <a:pPr algn="l">
              <a:lnSpc>
                <a:spcPts val="2783"/>
              </a:lnSpc>
            </a:pP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437397"/>
            <a:ext cx="5131468" cy="5612732"/>
            <a:chOff x="0" y="0"/>
            <a:chExt cx="1351498" cy="1478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444" y="494080"/>
            <a:ext cx="13670888" cy="14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2"/>
              </a:lnSpc>
            </a:pPr>
            <a:r>
              <a:rPr lang="en-US" sz="8351">
                <a:solidFill>
                  <a:srgbClr val="AF8E84"/>
                </a:solidFill>
                <a:latin typeface="Gagalin"/>
                <a:ea typeface="Gagalin"/>
                <a:cs typeface="Gagalin"/>
                <a:sym typeface="Gagalin"/>
              </a:rPr>
              <a:t>Data and Ethical Clearance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29345" y="2437397"/>
            <a:ext cx="5131468" cy="5612732"/>
            <a:chOff x="0" y="0"/>
            <a:chExt cx="1351498" cy="1478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59233" y="2437397"/>
            <a:ext cx="5131468" cy="5612732"/>
            <a:chOff x="0" y="0"/>
            <a:chExt cx="1351498" cy="1478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A1494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76820" y="2855023"/>
            <a:ext cx="5131468" cy="52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and Privacy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7690" y="2936177"/>
            <a:ext cx="5131468" cy="104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5"/>
              </a:lnSpc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Availability</a:t>
            </a:r>
          </a:p>
          <a:p>
            <a:pPr algn="ctr">
              <a:lnSpc>
                <a:spcPts val="4175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427389" y="2711767"/>
            <a:ext cx="5131468" cy="154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Ethical</a:t>
            </a: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Handling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557206"/>
            <a:ext cx="5131468" cy="277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Official </a:t>
            </a: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 IRA documents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IRD circulars and public FAQs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Synthetic user query datasets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Simulated interaction logs</a:t>
            </a:r>
          </a:p>
          <a:p>
            <a:pPr algn="ctr">
              <a:lnSpc>
                <a:spcPts val="3131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759233" y="3635311"/>
            <a:ext cx="5131468" cy="355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Anony</a:t>
            </a: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mization of interaction logs</a:t>
            </a:r>
          </a:p>
          <a:p>
            <a:pPr algn="ctr" marL="582930" indent="-291465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 storage of sensitive identifiers</a:t>
            </a:r>
          </a:p>
          <a:p>
            <a:pPr algn="ctr" marL="582930" indent="-291465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Secure handling of session data</a:t>
            </a:r>
          </a:p>
          <a:p>
            <a:pPr algn="ctr" marL="582930" indent="-291465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Access-controlled knowledge base</a:t>
            </a:r>
          </a:p>
          <a:p>
            <a:pPr algn="ctr">
              <a:lnSpc>
                <a:spcPts val="3131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489767" y="3505200"/>
            <a:ext cx="5131468" cy="355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erified knowledge grounding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"Advisory-only" system disclaimer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Avoidance of biased or unverified legal advice</a:t>
            </a:r>
          </a:p>
          <a:p>
            <a:pPr algn="ctr" marL="582928" indent="-291464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Adherence to responsible AI guidelines</a:t>
            </a:r>
          </a:p>
          <a:p>
            <a:pPr algn="ctr">
              <a:lnSpc>
                <a:spcPts val="31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7757" y="1741092"/>
            <a:ext cx="12240883" cy="6671281"/>
          </a:xfrm>
          <a:custGeom>
            <a:avLst/>
            <a:gdLst/>
            <a:ahLst/>
            <a:cxnLst/>
            <a:rect r="r" b="b" t="t" l="l"/>
            <a:pathLst>
              <a:path h="6671281" w="12240883">
                <a:moveTo>
                  <a:pt x="0" y="0"/>
                </a:moveTo>
                <a:lnTo>
                  <a:pt x="12240882" y="0"/>
                </a:lnTo>
                <a:lnTo>
                  <a:pt x="12240882" y="6671281"/>
                </a:lnTo>
                <a:lnTo>
                  <a:pt x="0" y="667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4807" y="371305"/>
            <a:ext cx="7743054" cy="138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7"/>
              </a:lnSpc>
            </a:pPr>
            <a:r>
              <a:rPr lang="en-US" sz="8084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System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6076" y="2348723"/>
            <a:ext cx="4995301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Main Role of the Component,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076" y="3382630"/>
            <a:ext cx="5538091" cy="160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1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Acts as the primary conversational interface providing expert-level tax guidance to users.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99" y="5246569"/>
            <a:ext cx="5453271" cy="160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1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Tr</a:t>
            </a: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ansforms complex regulatory text into simplified, human-readable explanations.</a:t>
            </a:r>
          </a:p>
          <a:p>
            <a:pPr algn="l">
              <a:lnSpc>
                <a:spcPts val="313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6076" y="8522208"/>
            <a:ext cx="13394770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Ve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rifies every advisory response against hard-coded legal rules to ensure 100% compliance.</a:t>
            </a:r>
          </a:p>
          <a:p>
            <a:pPr algn="l">
              <a:lnSpc>
                <a:spcPts val="2783"/>
              </a:lnSpc>
            </a:pP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6537" y="4074033"/>
            <a:ext cx="6972763" cy="3711403"/>
          </a:xfrm>
          <a:custGeom>
            <a:avLst/>
            <a:gdLst/>
            <a:ahLst/>
            <a:cxnLst/>
            <a:rect r="r" b="b" t="t" l="l"/>
            <a:pathLst>
              <a:path h="3711403" w="6972763">
                <a:moveTo>
                  <a:pt x="0" y="0"/>
                </a:moveTo>
                <a:lnTo>
                  <a:pt x="6972763" y="0"/>
                </a:lnTo>
                <a:lnTo>
                  <a:pt x="6972763" y="3711403"/>
                </a:lnTo>
                <a:lnTo>
                  <a:pt x="0" y="3711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036" y="1817001"/>
            <a:ext cx="2925887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Dependencies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799" y="2560968"/>
            <a:ext cx="8308428" cy="108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Financial Profile (Comp A/B) – Provides the personalized context (income, deductions) to tailor the advice.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209" y="4054983"/>
            <a:ext cx="8328017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Tax Knowledge Base – Provides the raw legal text and rules from the Inland Revenue Act.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209" y="5677223"/>
            <a:ext cx="7603201" cy="108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Symbolic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Rule Engine – Shared logic module used to validate the accuracy of tax calculations.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4270" y="9797514"/>
            <a:ext cx="681228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IT22896186 | HEWAGAMA S.R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Int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ligent Tax Advisory Language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895" y="1925337"/>
            <a:ext cx="4384328" cy="48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0711" y="2554866"/>
            <a:ext cx="12435960" cy="108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Tr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ansformer Models –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Used for semantic understanding and embedding generation.</a:t>
            </a:r>
          </a:p>
          <a:p>
            <a:pPr algn="l">
              <a:lnSpc>
                <a:spcPts val="2783"/>
              </a:lnSpc>
            </a:pPr>
          </a:p>
          <a:p>
            <a:pPr algn="l">
              <a:lnSpc>
                <a:spcPts val="278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10711" y="3338583"/>
            <a:ext cx="11208544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ector Database –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Stores and retrieves tax-related document embeddings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</a:t>
            </a:r>
          </a:p>
          <a:p>
            <a:pPr algn="l">
              <a:lnSpc>
                <a:spcPts val="278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10711" y="4298513"/>
            <a:ext cx="11034832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Preprocessing Pipeline –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Shared text cleaning and normalization services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0711" y="5258442"/>
            <a:ext cx="11918990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Adv</a:t>
            </a: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isory Dashboard –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UI component where the chatbot interface is hosted.</a:t>
            </a:r>
          </a:p>
          <a:p>
            <a:pPr algn="l">
              <a:lnSpc>
                <a:spcPts val="2783"/>
              </a:lnSpc>
            </a:pP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7939" y="3829449"/>
            <a:ext cx="13189429" cy="335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sz="7300" b="true">
                <a:solidFill>
                  <a:srgbClr val="A1494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Personalized Recommendation and Predictive Impact Modeling  Engine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954525" y="332135"/>
            <a:ext cx="3931475" cy="4159533"/>
            <a:chOff x="0" y="0"/>
            <a:chExt cx="731968" cy="7744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968" cy="774428"/>
            </a:xfrm>
            <a:custGeom>
              <a:avLst/>
              <a:gdLst/>
              <a:ahLst/>
              <a:cxnLst/>
              <a:rect r="r" b="b" t="t" l="l"/>
              <a:pathLst>
                <a:path h="774428" w="731968">
                  <a:moveTo>
                    <a:pt x="55138" y="0"/>
                  </a:moveTo>
                  <a:lnTo>
                    <a:pt x="676830" y="0"/>
                  </a:lnTo>
                  <a:cubicBezTo>
                    <a:pt x="707282" y="0"/>
                    <a:pt x="731968" y="24686"/>
                    <a:pt x="731968" y="55138"/>
                  </a:cubicBezTo>
                  <a:lnTo>
                    <a:pt x="731968" y="719290"/>
                  </a:lnTo>
                  <a:cubicBezTo>
                    <a:pt x="731968" y="749742"/>
                    <a:pt x="707282" y="774428"/>
                    <a:pt x="676830" y="774428"/>
                  </a:cubicBezTo>
                  <a:lnTo>
                    <a:pt x="55138" y="774428"/>
                  </a:lnTo>
                  <a:cubicBezTo>
                    <a:pt x="24686" y="774428"/>
                    <a:pt x="0" y="749742"/>
                    <a:pt x="0" y="719290"/>
                  </a:cubicBezTo>
                  <a:lnTo>
                    <a:pt x="0" y="55138"/>
                  </a:lnTo>
                  <a:cubicBezTo>
                    <a:pt x="0" y="24686"/>
                    <a:pt x="24686" y="0"/>
                    <a:pt x="55138" y="0"/>
                  </a:cubicBezTo>
                  <a:close/>
                </a:path>
              </a:pathLst>
            </a:custGeom>
            <a:blipFill>
              <a:blip r:embed="rId2"/>
              <a:stretch>
                <a:fillRect l="-2900" t="0" r="-2900" b="0"/>
              </a:stretch>
            </a:blipFill>
            <a:ln w="9525" cap="rnd">
              <a:solidFill>
                <a:srgbClr val="A14949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3284" y="961813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7939" y="2960646"/>
            <a:ext cx="3748608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  <a:spcBef>
                <a:spcPct val="0"/>
              </a:spcBef>
            </a:pP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4599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omponent 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005" y="388336"/>
            <a:ext cx="2604000" cy="1950487"/>
          </a:xfrm>
          <a:custGeom>
            <a:avLst/>
            <a:gdLst/>
            <a:ahLst/>
            <a:cxnLst/>
            <a:rect r="r" b="b" t="t" l="l"/>
            <a:pathLst>
              <a:path h="1950487" w="2604000">
                <a:moveTo>
                  <a:pt x="0" y="0"/>
                </a:moveTo>
                <a:lnTo>
                  <a:pt x="2604000" y="0"/>
                </a:lnTo>
                <a:lnTo>
                  <a:pt x="2604000" y="1950486"/>
                </a:lnTo>
                <a:lnTo>
                  <a:pt x="0" y="1950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87948" y="4475136"/>
            <a:ext cx="7991389" cy="5413114"/>
          </a:xfrm>
          <a:custGeom>
            <a:avLst/>
            <a:gdLst/>
            <a:ahLst/>
            <a:cxnLst/>
            <a:rect r="r" b="b" t="t" l="l"/>
            <a:pathLst>
              <a:path h="5413114" w="7991389">
                <a:moveTo>
                  <a:pt x="0" y="0"/>
                </a:moveTo>
                <a:lnTo>
                  <a:pt x="7991389" y="0"/>
                </a:lnTo>
                <a:lnTo>
                  <a:pt x="7991389" y="5413114"/>
                </a:lnTo>
                <a:lnTo>
                  <a:pt x="0" y="541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6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6005" y="789541"/>
            <a:ext cx="12381631" cy="113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Problem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3934" y="2203453"/>
            <a:ext cx="15771540" cy="243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sala</a:t>
            </a: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ried taxpayers struggle to choose effective tax-saving strategies</a:t>
            </a: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  <a:p>
            <a:pPr algn="l">
              <a:lnSpc>
                <a:spcPts val="382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43934" y="3105822"/>
            <a:ext cx="15847680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tax systems mainly f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ocus on tax filing and rule-based calculations.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3934" y="4369138"/>
            <a:ext cx="16288044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solutions do not c</a:t>
            </a: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onsider user financial behavior, feasibility,</a:t>
            </a:r>
          </a:p>
          <a:p>
            <a:pPr algn="just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or long-term financial outcomes.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3934" y="5862276"/>
            <a:ext cx="9137482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 a res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ult, taxpayers may select sub-optimal tax strategies or fail to</a:t>
            </a:r>
          </a:p>
          <a:p>
            <a:pPr algn="just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adopt beneficial ones.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75035" y="5806373"/>
            <a:ext cx="4315178" cy="3813862"/>
          </a:xfrm>
          <a:custGeom>
            <a:avLst/>
            <a:gdLst/>
            <a:ahLst/>
            <a:cxnLst/>
            <a:rect r="r" b="b" t="t" l="l"/>
            <a:pathLst>
              <a:path h="3813862" w="4315178">
                <a:moveTo>
                  <a:pt x="0" y="0"/>
                </a:moveTo>
                <a:lnTo>
                  <a:pt x="4315178" y="0"/>
                </a:lnTo>
                <a:lnTo>
                  <a:pt x="4315178" y="3813862"/>
                </a:lnTo>
                <a:lnTo>
                  <a:pt x="0" y="3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72" r="0" b="-657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158" y="350921"/>
            <a:ext cx="2481821" cy="1756794"/>
          </a:xfrm>
          <a:custGeom>
            <a:avLst/>
            <a:gdLst/>
            <a:ahLst/>
            <a:cxnLst/>
            <a:rect r="r" b="b" t="t" l="l"/>
            <a:pathLst>
              <a:path h="1756794" w="2481821">
                <a:moveTo>
                  <a:pt x="0" y="0"/>
                </a:moveTo>
                <a:lnTo>
                  <a:pt x="2481821" y="0"/>
                </a:lnTo>
                <a:lnTo>
                  <a:pt x="2481821" y="1756795"/>
                </a:lnTo>
                <a:lnTo>
                  <a:pt x="0" y="1756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49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0707" y="943305"/>
            <a:ext cx="6648301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Research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01994"/>
            <a:ext cx="16727044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 an AI-driven personalized recommendation engine that helps taxpayers 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the most suitable tax strategies based on their financial profile and predicted future outcomes.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1384" y="4285361"/>
            <a:ext cx="5545634" cy="8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7"/>
              </a:lnSpc>
              <a:spcBef>
                <a:spcPct val="0"/>
              </a:spcBef>
            </a:pPr>
            <a:r>
              <a:rPr lang="en-US" sz="579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Sub -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497" y="5313359"/>
            <a:ext cx="16161023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rate multiple tax-saving strategies based on Sri Lankan tax regulations.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8497" y="6965833"/>
            <a:ext cx="10175751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Rank strategies 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learning-to-rank models.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497" y="6139444"/>
            <a:ext cx="11865514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user adoption probability for each strategy.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497" y="7792222"/>
            <a:ext cx="11127581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l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ong-term financial impact of tax decisions.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5840" y="552280"/>
            <a:ext cx="5231755" cy="98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  <a:spcBef>
                <a:spcPct val="0"/>
              </a:spcBef>
            </a:pPr>
            <a:r>
              <a:rPr lang="en-US" sz="6599">
                <a:solidFill>
                  <a:srgbClr val="A14949"/>
                </a:solidFill>
                <a:latin typeface="Gagalin"/>
                <a:ea typeface="Gagalin"/>
                <a:cs typeface="Gagalin"/>
                <a:sym typeface="Gagalin"/>
              </a:rPr>
              <a:t>Research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2551" y="2208081"/>
            <a:ext cx="16745449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systems that recommend the most suitable tax-saving strategies for individual taxpayers.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2551" y="3840845"/>
            <a:ext cx="16230600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Limited integration of user financial profiles with tax regulations for personalized planning.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5840" y="5476859"/>
            <a:ext cx="15594583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Absence of tools that predict long-term financial impact of tax decisions.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551" y="6735303"/>
            <a:ext cx="16551576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nsufficient decision-support systems that combine behavioral prediction with tax strategy optimization.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1251" y="6205260"/>
            <a:ext cx="5659824" cy="2808688"/>
          </a:xfrm>
          <a:custGeom>
            <a:avLst/>
            <a:gdLst/>
            <a:ahLst/>
            <a:cxnLst/>
            <a:rect r="r" b="b" t="t" l="l"/>
            <a:pathLst>
              <a:path h="2808688" w="5659824">
                <a:moveTo>
                  <a:pt x="0" y="0"/>
                </a:moveTo>
                <a:lnTo>
                  <a:pt x="5659824" y="0"/>
                </a:lnTo>
                <a:lnTo>
                  <a:pt x="5659824" y="2808688"/>
                </a:lnTo>
                <a:lnTo>
                  <a:pt x="0" y="2808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4567" y="1198844"/>
            <a:ext cx="7750034" cy="8435412"/>
          </a:xfrm>
          <a:custGeom>
            <a:avLst/>
            <a:gdLst/>
            <a:ahLst/>
            <a:cxnLst/>
            <a:rect r="r" b="b" t="t" l="l"/>
            <a:pathLst>
              <a:path h="8435412" w="7750034">
                <a:moveTo>
                  <a:pt x="0" y="0"/>
                </a:moveTo>
                <a:lnTo>
                  <a:pt x="7750034" y="0"/>
                </a:lnTo>
                <a:lnTo>
                  <a:pt x="7750034" y="8435412"/>
                </a:lnTo>
                <a:lnTo>
                  <a:pt x="0" y="8435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6956" y="648007"/>
            <a:ext cx="3511079" cy="129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8"/>
              </a:lnSpc>
            </a:pPr>
            <a:r>
              <a:rPr lang="en-US" sz="757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Novelty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3424" y="2427395"/>
            <a:ext cx="13787884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ombines recommendation systems, behavioral prediction, and</a:t>
            </a:r>
          </a:p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predictive financial modeling.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424" y="3987209"/>
            <a:ext cx="12507198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learning-to-rank algorithms to prioritize tax strategies.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7256" y="5677535"/>
            <a:ext cx="11306792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Predicts future financial outcomes using simulation techniques.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47256" y="7367860"/>
            <a:ext cx="11695807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827"/>
              </a:lnSpc>
              <a:buFont typeface="Arial"/>
              <a:buChar char="•"/>
            </a:pPr>
            <a:r>
              <a:rPr lang="en-US" b="true" sz="3300">
                <a:solidFill>
                  <a:srgbClr val="A149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Provides personalized decision support for taxpayers.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8741" y="1644916"/>
            <a:ext cx="16510518" cy="754386"/>
            <a:chOff x="0" y="0"/>
            <a:chExt cx="5339961" cy="2439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Financial Data Collection and Profile Construction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8741" y="2765201"/>
            <a:ext cx="16510518" cy="754386"/>
            <a:chOff x="0" y="0"/>
            <a:chExt cx="5339961" cy="243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Data Preprocessing and Feature Engineering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8741" y="5087546"/>
            <a:ext cx="16510518" cy="754386"/>
            <a:chOff x="0" y="0"/>
            <a:chExt cx="5339961" cy="2439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Adoption Probability Prediction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8741" y="3885486"/>
            <a:ext cx="16510518" cy="754386"/>
            <a:chOff x="0" y="0"/>
            <a:chExt cx="5339961" cy="2439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Tax Strategy Generation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8741" y="6222932"/>
            <a:ext cx="16510518" cy="754386"/>
            <a:chOff x="0" y="0"/>
            <a:chExt cx="5339961" cy="2439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8741" y="7391656"/>
            <a:ext cx="16510518" cy="754386"/>
            <a:chOff x="0" y="0"/>
            <a:chExt cx="5339961" cy="2439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  <a:r>
                <a:rPr lang="en-US" b="true" sz="3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6. Predictive Financial Impact Modeling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8741" y="8422266"/>
            <a:ext cx="16510518" cy="754386"/>
            <a:chOff x="0" y="0"/>
            <a:chExt cx="5339961" cy="2439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9961" cy="243989"/>
            </a:xfrm>
            <a:custGeom>
              <a:avLst/>
              <a:gdLst/>
              <a:ahLst/>
              <a:cxnLst/>
              <a:rect r="r" b="b" t="t" l="l"/>
              <a:pathLst>
                <a:path h="243989" w="5339961">
                  <a:moveTo>
                    <a:pt x="9158" y="0"/>
                  </a:moveTo>
                  <a:lnTo>
                    <a:pt x="5330803" y="0"/>
                  </a:lnTo>
                  <a:cubicBezTo>
                    <a:pt x="5335860" y="0"/>
                    <a:pt x="5339961" y="4100"/>
                    <a:pt x="5339961" y="9158"/>
                  </a:cubicBezTo>
                  <a:lnTo>
                    <a:pt x="5339961" y="234831"/>
                  </a:lnTo>
                  <a:cubicBezTo>
                    <a:pt x="5339961" y="239889"/>
                    <a:pt x="5335860" y="243989"/>
                    <a:pt x="5330803" y="243989"/>
                  </a:cubicBezTo>
                  <a:lnTo>
                    <a:pt x="9158" y="243989"/>
                  </a:lnTo>
                  <a:cubicBezTo>
                    <a:pt x="6729" y="243989"/>
                    <a:pt x="4400" y="243024"/>
                    <a:pt x="2682" y="241307"/>
                  </a:cubicBezTo>
                  <a:cubicBezTo>
                    <a:pt x="965" y="239589"/>
                    <a:pt x="0" y="237260"/>
                    <a:pt x="0" y="234831"/>
                  </a:cubicBezTo>
                  <a:lnTo>
                    <a:pt x="0" y="9158"/>
                  </a:lnTo>
                  <a:cubicBezTo>
                    <a:pt x="0" y="6729"/>
                    <a:pt x="965" y="4400"/>
                    <a:pt x="2682" y="2682"/>
                  </a:cubicBezTo>
                  <a:cubicBezTo>
                    <a:pt x="4400" y="965"/>
                    <a:pt x="6729" y="0"/>
                    <a:pt x="9158" y="0"/>
                  </a:cubicBezTo>
                  <a:close/>
                </a:path>
              </a:pathLst>
            </a:custGeom>
            <a:solidFill>
              <a:srgbClr val="C4A8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5339961" cy="215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60629">
            <a:off x="8239211" y="2268775"/>
            <a:ext cx="733976" cy="604451"/>
            <a:chOff x="0" y="0"/>
            <a:chExt cx="6477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7332" y="297280"/>
            <a:ext cx="8295774" cy="107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2"/>
              </a:lnSpc>
            </a:pPr>
            <a:r>
              <a:rPr lang="en-US" sz="628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Research Methodology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6387464"/>
            <a:ext cx="16510518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</a:t>
            </a: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 Ranking using Learning-to-Rank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8741" y="8586798"/>
            <a:ext cx="16510518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Evaluation and Decision Support Output</a:t>
            </a:r>
          </a:p>
        </p:txBody>
      </p:sp>
      <p:grpSp>
        <p:nvGrpSpPr>
          <p:cNvPr name="Group 34" id="34"/>
          <p:cNvGrpSpPr/>
          <p:nvPr/>
        </p:nvGrpSpPr>
        <p:grpSpPr>
          <a:xfrm rot="-5460629">
            <a:off x="8239211" y="3441199"/>
            <a:ext cx="733976" cy="604451"/>
            <a:chOff x="0" y="0"/>
            <a:chExt cx="6477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5460629">
            <a:off x="8239211" y="4614346"/>
            <a:ext cx="733976" cy="604451"/>
            <a:chOff x="0" y="0"/>
            <a:chExt cx="6477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60629">
            <a:off x="8239211" y="5787493"/>
            <a:ext cx="733976" cy="604451"/>
            <a:chOff x="0" y="0"/>
            <a:chExt cx="64770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5460629">
            <a:off x="8239211" y="6901872"/>
            <a:ext cx="733976" cy="604451"/>
            <a:chOff x="0" y="0"/>
            <a:chExt cx="6477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5460629">
            <a:off x="8239211" y="8075019"/>
            <a:ext cx="733976" cy="604451"/>
            <a:chOff x="0" y="0"/>
            <a:chExt cx="647700" cy="533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1309" y="3504891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83816"/>
            <a:ext cx="11891211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KEY </a:t>
            </a:r>
            <a:r>
              <a:rPr lang="en-US" sz="7500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Domain KnowleDge</a:t>
            </a:r>
          </a:p>
          <a:p>
            <a:pPr algn="ctr">
              <a:lnSpc>
                <a:spcPts val="105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0390" y="2395177"/>
            <a:ext cx="12767221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Recommendation Systems and Learning-to-Rank Algorithms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60390" y="3384166"/>
            <a:ext cx="10648131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Behavioral Prediction and User Decision 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0390" y="4410580"/>
            <a:ext cx="12301314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Predictive Financial Modeling and Monte Carlo Simulation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0770" y="5436994"/>
            <a:ext cx="11227371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3827"/>
              </a:lnSpc>
              <a:spcBef>
                <a:spcPct val="0"/>
              </a:spcBef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Sri Lankan Inland Revenue Act and Tax Regulations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0390" y="6463408"/>
            <a:ext cx="11557918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5. Financial Data Analysis and Decision Support Systems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911" y="2000684"/>
            <a:ext cx="5848120" cy="3086100"/>
            <a:chOff x="0" y="0"/>
            <a:chExt cx="154024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0246" cy="812800"/>
            </a:xfrm>
            <a:custGeom>
              <a:avLst/>
              <a:gdLst/>
              <a:ahLst/>
              <a:cxnLst/>
              <a:rect r="r" b="b" t="t" l="l"/>
              <a:pathLst>
                <a:path h="812800" w="1540246">
                  <a:moveTo>
                    <a:pt x="0" y="0"/>
                  </a:moveTo>
                  <a:lnTo>
                    <a:pt x="1540246" y="0"/>
                  </a:lnTo>
                  <a:lnTo>
                    <a:pt x="154024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540246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1. Machine Learning–based Recommendation Systems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• </a:t>
              </a: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Ex: Collaborative filtering / Hybrid recommendation models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88292" y="2000330"/>
            <a:ext cx="5111416" cy="3086100"/>
            <a:chOff x="0" y="0"/>
            <a:chExt cx="134621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6216" cy="812800"/>
            </a:xfrm>
            <a:custGeom>
              <a:avLst/>
              <a:gdLst/>
              <a:ahLst/>
              <a:cxnLst/>
              <a:rect r="r" b="b" t="t" l="l"/>
              <a:pathLst>
                <a:path h="812800" w="1346216">
                  <a:moveTo>
                    <a:pt x="0" y="0"/>
                  </a:moveTo>
                  <a:lnTo>
                    <a:pt x="1346216" y="0"/>
                  </a:lnTo>
                  <a:lnTo>
                    <a:pt x="134621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346217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Learning-to-Rank Algorithms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Ex: RankNet, LambdaMART, Gradient Boosted Ranking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64461" y="1944617"/>
            <a:ext cx="5657853" cy="3086100"/>
            <a:chOff x="0" y="0"/>
            <a:chExt cx="149013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490134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Behavioral Prediction Models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Ex: Logistic Regression, Random Forest, Gradient Boosting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92124" y="5783192"/>
            <a:ext cx="5657853" cy="3086100"/>
            <a:chOff x="0" y="0"/>
            <a:chExt cx="149013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90134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Predictive Financial Modeling and Simulation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Ex: Monte Carlo Simulation, Time-series forecasting</a:t>
              </a:r>
            </a:p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783192"/>
            <a:ext cx="5657853" cy="3086100"/>
            <a:chOff x="0" y="0"/>
            <a:chExt cx="149013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013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0134">
                  <a:moveTo>
                    <a:pt x="0" y="0"/>
                  </a:moveTo>
                  <a:lnTo>
                    <a:pt x="1490134" y="0"/>
                  </a:lnTo>
                  <a:lnTo>
                    <a:pt x="149013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E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90134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  <a:r>
                <a:rPr lang="en-US" sz="24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5. Decision Support and Data Visualization Technologies</a:t>
              </a:r>
            </a:p>
            <a:p>
              <a:pPr algn="ctr">
                <a:lnSpc>
                  <a:spcPts val="2783"/>
                </a:lnSpc>
              </a:pPr>
            </a:p>
            <a:p>
              <a:pPr algn="ctr">
                <a:lnSpc>
                  <a:spcPts val="2783"/>
                </a:lnSpc>
              </a:pPr>
              <a:r>
                <a:rPr lang="en-US" b="true" sz="24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• Ex: Interactive dashboards and financial analytics tools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54052" y="154431"/>
            <a:ext cx="1887298" cy="1674449"/>
          </a:xfrm>
          <a:custGeom>
            <a:avLst/>
            <a:gdLst/>
            <a:ahLst/>
            <a:cxnLst/>
            <a:rect r="r" b="b" t="t" l="l"/>
            <a:pathLst>
              <a:path h="1674449" w="1887298">
                <a:moveTo>
                  <a:pt x="0" y="0"/>
                </a:moveTo>
                <a:lnTo>
                  <a:pt x="1887299" y="0"/>
                </a:lnTo>
                <a:lnTo>
                  <a:pt x="1887299" y="1674449"/>
                </a:lnTo>
                <a:lnTo>
                  <a:pt x="0" y="1674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687" t="0" r="-1381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54394" y="390355"/>
            <a:ext cx="8710067" cy="126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75"/>
              </a:lnSpc>
            </a:pPr>
            <a:r>
              <a:rPr lang="en-US" sz="7411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Latest Technologies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1229" y="6879092"/>
            <a:ext cx="4439648" cy="2517787"/>
          </a:xfrm>
          <a:custGeom>
            <a:avLst/>
            <a:gdLst/>
            <a:ahLst/>
            <a:cxnLst/>
            <a:rect r="r" b="b" t="t" l="l"/>
            <a:pathLst>
              <a:path h="2517787" w="4439648">
                <a:moveTo>
                  <a:pt x="0" y="0"/>
                </a:moveTo>
                <a:lnTo>
                  <a:pt x="4439647" y="0"/>
                </a:lnTo>
                <a:lnTo>
                  <a:pt x="4439647" y="2517787"/>
                </a:lnTo>
                <a:lnTo>
                  <a:pt x="0" y="2517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8147" y="693604"/>
            <a:ext cx="11173884" cy="125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3"/>
              </a:lnSpc>
            </a:pPr>
            <a:r>
              <a:rPr lang="en-US" sz="7338">
                <a:solidFill>
                  <a:srgbClr val="956655"/>
                </a:solidFill>
                <a:latin typeface="Gagalin"/>
                <a:ea typeface="Gagalin"/>
                <a:cs typeface="Gagalin"/>
                <a:sym typeface="Gagalin"/>
              </a:rPr>
              <a:t>Evaluation and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61417"/>
            <a:ext cx="3901753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Evaluation Strategy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282" y="3277773"/>
            <a:ext cx="604234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Recommendation ranking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224" y="3816649"/>
            <a:ext cx="5208463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Adoption prediction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0161" y="4505116"/>
            <a:ext cx="557480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Predictive financial impact 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26550" y="5041183"/>
            <a:ext cx="4621113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Personalization effectiveness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48095" y="5577250"/>
            <a:ext cx="455525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Decision-support usefulness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4458" y="2461417"/>
            <a:ext cx="1522735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38188" y="6113317"/>
            <a:ext cx="4034582" cy="51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Validati</a:t>
            </a:r>
            <a:r>
              <a:rPr lang="en-US" b="true" sz="32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5287" y="3095465"/>
            <a:ext cx="5557763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Accuracy, Precision, Recall, F1-score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72769" y="3816649"/>
            <a:ext cx="2250951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RMSE / MAE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2629" y="4486066"/>
            <a:ext cx="530869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Recommendation relevance score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37623" y="5047279"/>
            <a:ext cx="5293895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User satisfaction / decision-support usefulness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76820" y="6910623"/>
            <a:ext cx="622190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Compare baseline and advanced models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76820" y="7446690"/>
            <a:ext cx="555441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Perform model performance testing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233" y="8019360"/>
            <a:ext cx="5537002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Conduct scenario-based evaluation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4233" y="8593527"/>
            <a:ext cx="514044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Validate recommendation quality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437397"/>
            <a:ext cx="5131468" cy="5612732"/>
            <a:chOff x="0" y="0"/>
            <a:chExt cx="1351498" cy="1478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895B4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444" y="494080"/>
            <a:ext cx="13670888" cy="14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2"/>
              </a:lnSpc>
            </a:pPr>
            <a:r>
              <a:rPr lang="en-US" sz="8351">
                <a:solidFill>
                  <a:srgbClr val="AF8E84"/>
                </a:solidFill>
                <a:latin typeface="Gagalin"/>
                <a:ea typeface="Gagalin"/>
                <a:cs typeface="Gagalin"/>
                <a:sym typeface="Gagalin"/>
              </a:rPr>
              <a:t>Data and Ethical Clearance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29345" y="2437397"/>
            <a:ext cx="5131468" cy="5612732"/>
            <a:chOff x="0" y="0"/>
            <a:chExt cx="1351498" cy="1478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895B4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59233" y="2437397"/>
            <a:ext cx="5131468" cy="5612732"/>
            <a:chOff x="0" y="0"/>
            <a:chExt cx="1351498" cy="1478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498" cy="1478250"/>
            </a:xfrm>
            <a:custGeom>
              <a:avLst/>
              <a:gdLst/>
              <a:ahLst/>
              <a:cxnLst/>
              <a:rect r="r" b="b" t="t" l="l"/>
              <a:pathLst>
                <a:path h="1478250" w="1351498">
                  <a:moveTo>
                    <a:pt x="76944" y="0"/>
                  </a:moveTo>
                  <a:lnTo>
                    <a:pt x="1274553" y="0"/>
                  </a:lnTo>
                  <a:cubicBezTo>
                    <a:pt x="1317049" y="0"/>
                    <a:pt x="1351498" y="34449"/>
                    <a:pt x="1351498" y="76944"/>
                  </a:cubicBezTo>
                  <a:lnTo>
                    <a:pt x="1351498" y="1401306"/>
                  </a:lnTo>
                  <a:cubicBezTo>
                    <a:pt x="1351498" y="1443801"/>
                    <a:pt x="1317049" y="1478250"/>
                    <a:pt x="1274553" y="1478250"/>
                  </a:cubicBezTo>
                  <a:lnTo>
                    <a:pt x="76944" y="1478250"/>
                  </a:lnTo>
                  <a:cubicBezTo>
                    <a:pt x="34449" y="1478250"/>
                    <a:pt x="0" y="1443801"/>
                    <a:pt x="0" y="1401306"/>
                  </a:cubicBezTo>
                  <a:lnTo>
                    <a:pt x="0" y="76944"/>
                  </a:lnTo>
                  <a:cubicBezTo>
                    <a:pt x="0" y="34449"/>
                    <a:pt x="34449" y="0"/>
                    <a:pt x="76944" y="0"/>
                  </a:cubicBezTo>
                  <a:close/>
                </a:path>
              </a:pathLst>
            </a:custGeom>
            <a:solidFill>
              <a:srgbClr val="895B4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1498" cy="149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76820" y="2855023"/>
            <a:ext cx="5131468" cy="52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and Privacy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7690" y="2936177"/>
            <a:ext cx="5131468" cy="104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5"/>
              </a:lnSpc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Availability</a:t>
            </a:r>
          </a:p>
          <a:p>
            <a:pPr algn="ctr">
              <a:lnSpc>
                <a:spcPts val="4175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427389" y="2772410"/>
            <a:ext cx="5131468" cy="154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Ethical</a:t>
            </a: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Handling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557206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Synthetic financial profile datasets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3915" y="5932230"/>
            <a:ext cx="5131468" cy="43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Mock f</a:t>
            </a: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inancial records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4750308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Simulated tax planning scenarios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736521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Publicly available tax regulations and policy guidelines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59233" y="3635311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Remove or anonymize personal identifiers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76820" y="4717542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 synthetic or simulated financial 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6630" y="5932230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Ensure secure storage and controlled access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6820" y="7012746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Follow data protection </a:t>
            </a:r>
          </a:p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practices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89767" y="3505200"/>
            <a:ext cx="5131468" cy="121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 financial data only for research and decision-support purposes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29345" y="4817805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Ensure recommendations are advisory,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27389" y="5932230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Avoid misuse of personal financial information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7389" y="7051913"/>
            <a:ext cx="5131468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Follow ethical research guidelines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54322" y="1759096"/>
            <a:ext cx="11374316" cy="7723879"/>
          </a:xfrm>
          <a:custGeom>
            <a:avLst/>
            <a:gdLst/>
            <a:ahLst/>
            <a:cxnLst/>
            <a:rect r="r" b="b" t="t" l="l"/>
            <a:pathLst>
              <a:path h="7723879" w="11374316">
                <a:moveTo>
                  <a:pt x="0" y="0"/>
                </a:moveTo>
                <a:lnTo>
                  <a:pt x="11374316" y="0"/>
                </a:lnTo>
                <a:lnTo>
                  <a:pt x="11374316" y="7723879"/>
                </a:lnTo>
                <a:lnTo>
                  <a:pt x="0" y="772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3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4807" y="371305"/>
            <a:ext cx="8817298" cy="138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7"/>
              </a:lnSpc>
            </a:pPr>
            <a:r>
              <a:rPr lang="en-US" sz="8084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System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6076" y="2348723"/>
            <a:ext cx="4995301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Main Role of the Component,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076" y="3382630"/>
            <a:ext cx="5538091" cy="121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1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Acts as the core decision-support engine of the overall AI-driven tax advisory system.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6076" y="5114925"/>
            <a:ext cx="6248246" cy="160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1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Analyzes user financial profiles and potential tax strategies to generate personalized tax-saving recommendations.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2814" y="7309866"/>
            <a:ext cx="6002759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Predicts the long-term financial impact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47833" y="2938444"/>
            <a:ext cx="8007943" cy="5953919"/>
          </a:xfrm>
          <a:custGeom>
            <a:avLst/>
            <a:gdLst/>
            <a:ahLst/>
            <a:cxnLst/>
            <a:rect r="r" b="b" t="t" l="l"/>
            <a:pathLst>
              <a:path h="5953919" w="8007943">
                <a:moveTo>
                  <a:pt x="0" y="0"/>
                </a:moveTo>
                <a:lnTo>
                  <a:pt x="8007943" y="0"/>
                </a:lnTo>
                <a:lnTo>
                  <a:pt x="8007943" y="5953919"/>
                </a:lnTo>
                <a:lnTo>
                  <a:pt x="0" y="5953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092" t="-1280" r="0" b="-12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036" y="1817001"/>
            <a:ext cx="2925887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Dependencies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799" y="2560968"/>
            <a:ext cx="8308428" cy="108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Financial Profile Module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Provides income details, deductions, investments, and financial attributes required for tax strategy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209" y="4054983"/>
            <a:ext cx="8328017" cy="108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Tax Strategy Generation Module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Generates possible tax-saving strategies that will later be evaluated and ranked by the recommendation engine.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209" y="5677223"/>
            <a:ext cx="7603201" cy="144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Tax Regulation and Policy Data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 Provides Sri Lankan tax rules, deduction policies, and compliance constraints used during strategy evaluation.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9721" y="7737290"/>
            <a:ext cx="7113460" cy="144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Financial Data Preprocessing Module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Cleans and structures financial data before it is used for recommendation and predictive modeling.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59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9405"/>
            <a:ext cx="14391670" cy="111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7"/>
              </a:lnSpc>
            </a:pPr>
            <a:r>
              <a:rPr lang="en-US" sz="6569">
                <a:solidFill>
                  <a:srgbClr val="895B4E"/>
                </a:solidFill>
                <a:latin typeface="Gagalin"/>
                <a:ea typeface="Gagalin"/>
                <a:cs typeface="Gagalin"/>
                <a:sym typeface="Gagalin"/>
              </a:rPr>
              <a:t>Dependencies and Common Components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651" y="9797514"/>
            <a:ext cx="7287518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IT22238580 | S.N.M.Pihillegedara | 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820" y="149563"/>
            <a:ext cx="11554697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Perso</a:t>
            </a: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nalized Recommendation and Predictive Impact Modeling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895" y="1925337"/>
            <a:ext cx="4384328" cy="48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A2535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Common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0711" y="2554866"/>
            <a:ext cx="1448380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Machine Learning Models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Used for adoption probability prediction and recommendation ranking.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711" y="3338583"/>
            <a:ext cx="1707728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Learning-to-Rank Engine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 Prioritizes tax strategies based on expected savings, feasibility, and user behavior patterns.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0711" y="4298513"/>
            <a:ext cx="1707728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Predictive Impact Modeling Module 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 Estimates future financial outcomes and tax liabilities using forecasting and simulation techniques.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0711" y="5258442"/>
            <a:ext cx="1707728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Decision Support Dashboard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Presents ranked tax strategies and predicted financial outcomes to users in an understandable format.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0711" y="6394584"/>
            <a:ext cx="1707728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Processing and Feature Engineering Pipeline</a:t>
            </a: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– Extracts relevant financial features needed for model training and recommendation generation.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60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" y="762"/>
            <a:ext cx="18192750" cy="89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b="true" sz="3099">
                <a:solidFill>
                  <a:srgbClr val="A14949"/>
                </a:solidFill>
                <a:latin typeface="TT Drugs Bold"/>
                <a:ea typeface="TT Drugs Bold"/>
                <a:cs typeface="TT Drugs Bold"/>
                <a:sym typeface="TT Drugs Bold"/>
              </a:rPr>
              <a:t>An Intelligent AI-Driven Decision Support System for Personalized Income Tax Compliance and Advisory in Sri Lanka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32979" y="673587"/>
            <a:ext cx="6154862" cy="119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0"/>
              </a:lnSpc>
              <a:spcBef>
                <a:spcPct val="0"/>
              </a:spcBef>
            </a:pPr>
            <a:r>
              <a:rPr lang="en-US" sz="8000">
                <a:solidFill>
                  <a:srgbClr val="A14949"/>
                </a:solidFill>
                <a:latin typeface="Marykate"/>
                <a:ea typeface="Marykate"/>
                <a:cs typeface="Marykate"/>
                <a:sym typeface="Marykate"/>
              </a:rPr>
              <a:t>Commercialization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3189" y="2183511"/>
            <a:ext cx="4804168" cy="295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 Market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Individual taxpayers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Freelancers &amp; small businesses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Tax consultants and accounting firms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8618" y="2183511"/>
            <a:ext cx="5443584" cy="344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alue Proposition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Explainable AI-based tax analysis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Automatic taxable income detection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Reduced manual tax preparation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4330" y="2183511"/>
            <a:ext cx="5443584" cy="295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32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Commerci</a:t>
            </a: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alization &amp; Pric</a:t>
            </a:r>
            <a:r>
              <a:rPr lang="en-US" b="true" sz="3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ing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SaaS platform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Freemium + subscription model</a:t>
            </a:r>
          </a:p>
          <a:p>
            <a:pPr algn="l" marL="712465" indent="-356233" lvl="1">
              <a:lnSpc>
                <a:spcPts val="382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Enterprise API licensing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0244" y="6277405"/>
            <a:ext cx="9505755" cy="231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b="true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Cost &amp; Investm</a:t>
            </a:r>
            <a:r>
              <a:rPr lang="en-US" b="true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ent</a:t>
            </a:r>
          </a:p>
          <a:p>
            <a:pPr algn="l" marL="712465" indent="-356233" lvl="1">
              <a:lnSpc>
                <a:spcPts val="4520"/>
              </a:lnSpc>
              <a:buFont typeface="Arial"/>
              <a:buChar char="•"/>
            </a:pPr>
            <a:r>
              <a:rPr lang="en-US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Development: 3–4 engineers</a:t>
            </a:r>
          </a:p>
          <a:p>
            <a:pPr algn="l" marL="712465" indent="-356233" lvl="1">
              <a:lnSpc>
                <a:spcPts val="4520"/>
              </a:lnSpc>
              <a:buFont typeface="Arial"/>
              <a:buChar char="•"/>
            </a:pPr>
            <a:r>
              <a:rPr lang="en-US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loud infrastructure</a:t>
            </a:r>
          </a:p>
          <a:p>
            <a:pPr algn="l" marL="712465" indent="-356233" lvl="1">
              <a:lnSpc>
                <a:spcPts val="4520"/>
              </a:lnSpc>
              <a:buFont typeface="Arial"/>
              <a:buChar char="•"/>
            </a:pPr>
            <a:r>
              <a:rPr lang="en-US" sz="32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Telegraf"/>
                <a:ea typeface="Telegraf"/>
                <a:cs typeface="Telegraf"/>
                <a:sym typeface="Telegraf"/>
              </a:rPr>
              <a:t>Estimated initial investment: LKR 4M – 6M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139" y="1028700"/>
            <a:ext cx="16275161" cy="8341020"/>
          </a:xfrm>
          <a:custGeom>
            <a:avLst/>
            <a:gdLst/>
            <a:ahLst/>
            <a:cxnLst/>
            <a:rect r="r" b="b" t="t" l="l"/>
            <a:pathLst>
              <a:path h="8341020" w="16275161">
                <a:moveTo>
                  <a:pt x="0" y="0"/>
                </a:moveTo>
                <a:lnTo>
                  <a:pt x="16275161" y="0"/>
                </a:lnTo>
                <a:lnTo>
                  <a:pt x="16275161" y="8341020"/>
                </a:lnTo>
                <a:lnTo>
                  <a:pt x="0" y="8341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61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59542" y="-142875"/>
            <a:ext cx="5350761" cy="124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0"/>
              </a:lnSpc>
            </a:pPr>
            <a:r>
              <a:rPr lang="en-US" sz="7293">
                <a:solidFill>
                  <a:srgbClr val="A14949"/>
                </a:solidFill>
                <a:latin typeface="Gagalin"/>
                <a:ea typeface="Gagalin"/>
                <a:cs typeface="Gagalin"/>
                <a:sym typeface="Gagalin"/>
              </a:rPr>
              <a:t>Gantt Chart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9565700"/>
            <a:ext cx="3698574" cy="645100"/>
          </a:xfrm>
          <a:custGeom>
            <a:avLst/>
            <a:gdLst/>
            <a:ahLst/>
            <a:cxnLst/>
            <a:rect r="r" b="b" t="t" l="l"/>
            <a:pathLst>
              <a:path h="645100" w="3698574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1421" y="884764"/>
            <a:ext cx="13585159" cy="8517472"/>
          </a:xfrm>
          <a:custGeom>
            <a:avLst/>
            <a:gdLst/>
            <a:ahLst/>
            <a:cxnLst/>
            <a:rect r="r" b="b" t="t" l="l"/>
            <a:pathLst>
              <a:path h="8517472" w="13585159">
                <a:moveTo>
                  <a:pt x="0" y="0"/>
                </a:moveTo>
                <a:lnTo>
                  <a:pt x="13585158" y="0"/>
                </a:lnTo>
                <a:lnTo>
                  <a:pt x="13585158" y="8517472"/>
                </a:lnTo>
                <a:lnTo>
                  <a:pt x="0" y="8517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72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235" y="957261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62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20370" y="9615206"/>
            <a:ext cx="1487760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A14949"/>
                </a:solidFill>
                <a:latin typeface="Telegraf"/>
                <a:ea typeface="Telegraf"/>
                <a:cs typeface="Telegraf"/>
                <a:sym typeface="Telegraf"/>
              </a:rPr>
              <a:t>16/3/2026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27698" y="9797514"/>
            <a:ext cx="1965424" cy="38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A14949"/>
                </a:solidFill>
                <a:latin typeface="Telegraf Bold"/>
                <a:ea typeface="Telegraf Bold"/>
                <a:cs typeface="Telegraf Bold"/>
                <a:sym typeface="Telegraf Bold"/>
              </a:rPr>
              <a:t>R26-DS-004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43683" y="-104775"/>
            <a:ext cx="9037439" cy="96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0"/>
              </a:lnSpc>
            </a:pPr>
            <a:r>
              <a:rPr lang="en-US" sz="5693">
                <a:solidFill>
                  <a:srgbClr val="A14949"/>
                </a:solidFill>
                <a:latin typeface="Gagalin"/>
                <a:ea typeface="Gagalin"/>
                <a:cs typeface="Gagalin"/>
                <a:sym typeface="Gagalin"/>
              </a:rPr>
              <a:t>work breakdown structure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bg>
      <p:bgPr>
        <a:solidFill>
          <a:srgbClr val="E3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94113" y="2031332"/>
            <a:ext cx="4923845" cy="4832564"/>
            <a:chOff x="0" y="0"/>
            <a:chExt cx="1588008" cy="1558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8008" cy="1558433"/>
            </a:xfrm>
            <a:custGeom>
              <a:avLst/>
              <a:gdLst/>
              <a:ahLst/>
              <a:cxnLst/>
              <a:rect r="r" b="b" t="t" l="l"/>
              <a:pathLst>
                <a:path h="1558433" w="1588008">
                  <a:moveTo>
                    <a:pt x="1588008" y="44025"/>
                  </a:moveTo>
                  <a:lnTo>
                    <a:pt x="1588008" y="1514408"/>
                  </a:lnTo>
                  <a:cubicBezTo>
                    <a:pt x="1588008" y="1538723"/>
                    <a:pt x="1568297" y="1558433"/>
                    <a:pt x="1543983" y="1558433"/>
                  </a:cubicBezTo>
                  <a:lnTo>
                    <a:pt x="44025" y="1558433"/>
                  </a:lnTo>
                  <a:cubicBezTo>
                    <a:pt x="32349" y="1558433"/>
                    <a:pt x="21151" y="1553795"/>
                    <a:pt x="12895" y="1545539"/>
                  </a:cubicBezTo>
                  <a:cubicBezTo>
                    <a:pt x="4638" y="1537282"/>
                    <a:pt x="0" y="1526084"/>
                    <a:pt x="0" y="1514408"/>
                  </a:cubicBezTo>
                  <a:lnTo>
                    <a:pt x="0" y="44025"/>
                  </a:lnTo>
                  <a:cubicBezTo>
                    <a:pt x="0" y="19711"/>
                    <a:pt x="19711" y="0"/>
                    <a:pt x="44025" y="0"/>
                  </a:cubicBezTo>
                  <a:lnTo>
                    <a:pt x="1543983" y="0"/>
                  </a:lnTo>
                  <a:cubicBezTo>
                    <a:pt x="1555659" y="0"/>
                    <a:pt x="1566857" y="4638"/>
                    <a:pt x="1575113" y="12895"/>
                  </a:cubicBezTo>
                  <a:cubicBezTo>
                    <a:pt x="1583370" y="21151"/>
                    <a:pt x="1588008" y="32349"/>
                    <a:pt x="1588008" y="44025"/>
                  </a:cubicBezTo>
                  <a:close/>
                </a:path>
              </a:pathLst>
            </a:custGeom>
            <a:ln w="19050" cap="rnd">
              <a:solidFill>
                <a:srgbClr val="A14949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588008" cy="1577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62855" y="2031332"/>
            <a:ext cx="4923845" cy="4832564"/>
            <a:chOff x="0" y="0"/>
            <a:chExt cx="1588008" cy="15584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8008" cy="1558433"/>
            </a:xfrm>
            <a:custGeom>
              <a:avLst/>
              <a:gdLst/>
              <a:ahLst/>
              <a:cxnLst/>
              <a:rect r="r" b="b" t="t" l="l"/>
              <a:pathLst>
                <a:path h="1558433" w="1588008">
                  <a:moveTo>
                    <a:pt x="1588008" y="44025"/>
                  </a:moveTo>
                  <a:lnTo>
                    <a:pt x="1588008" y="1514408"/>
                  </a:lnTo>
                  <a:cubicBezTo>
                    <a:pt x="1588008" y="1538723"/>
                    <a:pt x="1568297" y="1558433"/>
                    <a:pt x="1543983" y="1558433"/>
                  </a:cubicBezTo>
                  <a:lnTo>
                    <a:pt x="44025" y="1558433"/>
                  </a:lnTo>
                  <a:cubicBezTo>
                    <a:pt x="32349" y="1558433"/>
                    <a:pt x="21151" y="1553795"/>
                    <a:pt x="12895" y="1545539"/>
                  </a:cubicBezTo>
                  <a:cubicBezTo>
                    <a:pt x="4638" y="1537282"/>
                    <a:pt x="0" y="1526084"/>
                    <a:pt x="0" y="1514408"/>
                  </a:cubicBezTo>
                  <a:lnTo>
                    <a:pt x="0" y="44025"/>
                  </a:lnTo>
                  <a:cubicBezTo>
                    <a:pt x="0" y="19711"/>
                    <a:pt x="19711" y="0"/>
                    <a:pt x="44025" y="0"/>
                  </a:cubicBezTo>
                  <a:lnTo>
                    <a:pt x="1543983" y="0"/>
                  </a:lnTo>
                  <a:cubicBezTo>
                    <a:pt x="1555659" y="0"/>
                    <a:pt x="1566857" y="4638"/>
                    <a:pt x="1575113" y="12895"/>
                  </a:cubicBezTo>
                  <a:cubicBezTo>
                    <a:pt x="1583370" y="21151"/>
                    <a:pt x="1588008" y="32349"/>
                    <a:pt x="1588008" y="44025"/>
                  </a:cubicBezTo>
                  <a:close/>
                </a:path>
              </a:pathLst>
            </a:custGeom>
            <a:ln w="19050" cap="rnd">
              <a:solidFill>
                <a:srgbClr val="A1494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588008" cy="1577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21235" y="9518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14949"/>
                </a:solidFill>
                <a:latin typeface="Canva Sans"/>
                <a:ea typeface="Canva Sans"/>
                <a:cs typeface="Canva Sans"/>
                <a:sym typeface="Canva Sans"/>
              </a:rPr>
              <a:t>63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6801" y="2875911"/>
            <a:ext cx="11238986" cy="31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38"/>
              </a:lnSpc>
              <a:spcBef>
                <a:spcPct val="0"/>
              </a:spcBef>
            </a:pPr>
            <a:r>
              <a:rPr lang="en-US" sz="19084">
                <a:solidFill>
                  <a:srgbClr val="A1494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D4EBCF-A0D0-4775-AEBF-8E6021273AD6}"/>
</file>

<file path=customXml/itemProps2.xml><?xml version="1.0" encoding="utf-8"?>
<ds:datastoreItem xmlns:ds="http://schemas.openxmlformats.org/officeDocument/2006/customXml" ds:itemID="{A685BB9D-E3AA-4AA3-9DA0-4368EC8429EE}"/>
</file>

<file path=customXml/itemProps3.xml><?xml version="1.0" encoding="utf-8"?>
<ds:datastoreItem xmlns:ds="http://schemas.openxmlformats.org/officeDocument/2006/customXml" ds:itemID="{8151F236-66AC-4970-89B5-67F9E397FA6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Project Presentation - R26-DS-004</dc:title>
  <cp:revision>1</cp:revision>
  <dcterms:created xsi:type="dcterms:W3CDTF">2006-08-16T00:00:00Z</dcterms:created>
  <dcterms:modified xsi:type="dcterms:W3CDTF">2011-08-01T06:04:30Z</dcterms:modified>
  <dc:identifier>DAHD8XQ6Goc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