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8"/>
  </p:normalViewPr>
  <p:slideViewPr>
    <p:cSldViewPr snapToGrid="0" snapToObjects="1">
      <p:cViewPr>
        <p:scale>
          <a:sx n="103" d="100"/>
          <a:sy n="103" d="100"/>
        </p:scale>
        <p:origin x="800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357806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4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411952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6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34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3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9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964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100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18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96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58889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92240" y="0"/>
            <a:ext cx="594360" cy="685800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5552" y="0"/>
            <a:ext cx="7132320" cy="685800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4864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2297" y="591301"/>
            <a:ext cx="6790765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9BCC4D"/>
                </a:solidFill>
                <a:latin typeface="Aptos"/>
              </a:defRPr>
            </a:pPr>
            <a:r>
              <a:rPr sz="2000" dirty="0"/>
              <a:t>RESEARCH PROJECT  •  R26-DS-004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297" y="1457933"/>
            <a:ext cx="11090191" cy="318856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400"/>
              </a:spcAft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rPr lang="en-GB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AI-Driven Decision Support System for Personalized Income Tax Compliance and Advisory in Sri Lanka</a:t>
            </a:r>
            <a:endParaRPr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5852160" cy="8597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BSc (Hons) Information Technology — Data Science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SLIIT  |  Academic Year 2025/2026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5806440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Meet 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173736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30352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" y="1371195"/>
            <a:ext cx="2651760" cy="438912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7512" y="2892879"/>
            <a:ext cx="2651760" cy="73152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3127248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287D49"/>
                </a:solidFill>
                <a:latin typeface="Aptos"/>
              </a:defRPr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47872"/>
            <a:ext cx="237744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125C37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Samarasinghe K.A.E.H.N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005072"/>
            <a:ext cx="2377440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47468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IT22118936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462272"/>
            <a:ext cx="2331720" cy="62376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Financial Transaction</a:t>
            </a:r>
          </a:p>
          <a:p>
            <a:pPr algn="ctr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Semantic Reasoning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417320"/>
            <a:ext cx="2651760" cy="438912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29000" y="2880360"/>
            <a:ext cx="2651760" cy="73152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93592" y="3127248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287D49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MEMBER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547872"/>
            <a:ext cx="237744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125C37"/>
                </a:solidFill>
                <a:latin typeface="Aptos"/>
              </a:defRPr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Chalanika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A.V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6160" y="4005072"/>
            <a:ext cx="2377440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47468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IT22064486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4462272"/>
            <a:ext cx="2331720" cy="62376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Tax Strategy</a:t>
            </a:r>
          </a:p>
          <a:p>
            <a:pPr algn="ctr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417320"/>
            <a:ext cx="2651760" cy="438912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2880360"/>
            <a:ext cx="2651760" cy="73152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9672" y="3127248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287D49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MEMBER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47872"/>
            <a:ext cx="237744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125C37"/>
                </a:solidFill>
                <a:latin typeface="Aptos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Hewagama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05072"/>
            <a:ext cx="2377440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47468"/>
                </a:solidFill>
                <a:latin typeface="Aptos"/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IT22896186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4462272"/>
            <a:ext cx="2331720" cy="62376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Tax Advisory</a:t>
            </a:r>
          </a:p>
          <a:p>
            <a:pPr algn="ctr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1417320"/>
            <a:ext cx="2651760" cy="438912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81160" y="2880360"/>
            <a:ext cx="2651760" cy="73152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45752" y="3127248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287D49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MEMBER 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547872"/>
            <a:ext cx="237744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125C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Pihillegedara S.N.M.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005072"/>
            <a:ext cx="2377440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47468"/>
                </a:solidFill>
                <a:latin typeface="Aptos"/>
              </a:defRPr>
            </a:pP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IT22238580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45752" y="4462272"/>
            <a:ext cx="2331720" cy="108542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</a:t>
            </a:r>
          </a:p>
          <a:p>
            <a:pPr algn="ctr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Predictive Impact Modeling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42" name="Oval 41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DB63D27-3528-E0F0-91BE-6BE16780D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90" y="1499615"/>
            <a:ext cx="1301291" cy="130129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3C71BBC-B46C-052C-1125-44132DAE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352" y="1463040"/>
            <a:ext cx="1410480" cy="141048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7FCA358-CDFE-7D11-B52D-90FB89592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960" y="1548636"/>
            <a:ext cx="1188720" cy="123329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D18ABC2-57FD-C87D-C668-5063B3EDD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200" y="1485900"/>
            <a:ext cx="964810" cy="13039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173736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30352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5152" y="1371600"/>
            <a:ext cx="3691128" cy="4526280"/>
          </a:xfrm>
          <a:prstGeom prst="round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8848" y="3884627"/>
            <a:ext cx="35661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TAX IS COMPLEX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371600"/>
            <a:ext cx="3154680" cy="205740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00600" y="1371600"/>
            <a:ext cx="82296" cy="205740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01768" y="1536192"/>
            <a:ext cx="420624" cy="420624"/>
          </a:xfrm>
          <a:prstGeom prst="ellipse">
            <a:avLst/>
          </a:prstGeom>
          <a:solidFill>
            <a:srgbClr val="F2F8EF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1768" y="1563624"/>
            <a:ext cx="420624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25C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8" y="1536192"/>
            <a:ext cx="2194560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8407" y="2298556"/>
            <a:ext cx="2715768" cy="8032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Taxpayers struggle to interpret changing rules and identify applicable reliefs and deductions.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71600"/>
            <a:ext cx="3383280" cy="205740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371600"/>
            <a:ext cx="82296" cy="2057400"/>
          </a:xfrm>
          <a:prstGeom prst="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85048" y="1536192"/>
            <a:ext cx="420624" cy="420624"/>
          </a:xfrm>
          <a:prstGeom prst="ellipse">
            <a:avLst/>
          </a:prstGeom>
          <a:solidFill>
            <a:srgbClr val="F2F8EF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1563624"/>
            <a:ext cx="420624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287D49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1536192"/>
            <a:ext cx="2423160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287D49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LIMITATIONS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36292"/>
            <a:ext cx="2944368" cy="8032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calculators focus mainly on tax payable, not personalized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3657600"/>
            <a:ext cx="6766560" cy="2240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00600" y="3657600"/>
            <a:ext cx="82296" cy="224028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01768" y="3822191"/>
            <a:ext cx="420624" cy="420624"/>
          </a:xfrm>
          <a:prstGeom prst="ellipse">
            <a:avLst/>
          </a:prstGeom>
          <a:solidFill>
            <a:srgbClr val="F2F8EF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3849624"/>
            <a:ext cx="420624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9BCC4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0408" y="3822191"/>
            <a:ext cx="58064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9BCC4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325112"/>
            <a:ext cx="6327648" cy="8494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Generic advice may overlook financial circumstances or lack clear legal evidence. A reliable system should connect transactions, tax rules, tailored recommendations, and grounded explanations.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30" name="Oval 29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Asian Business Woman or Accountant do math and analyze with calculator and paperwork on desk, account, audit and saving concept">
            <a:extLst>
              <a:ext uri="{FF2B5EF4-FFF2-40B4-BE49-F238E27FC236}">
                <a16:creationId xmlns:a16="http://schemas.microsoft.com/office/drawing/2014/main" id="{62F42748-BC3E-9842-05FB-CD3FA6CD6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16" y="2021836"/>
            <a:ext cx="3208800" cy="160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173736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238211"/>
            <a:ext cx="530352" cy="21852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3712" y="1147572"/>
            <a:ext cx="4251960" cy="49834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82296" cy="4983480"/>
          </a:xfrm>
          <a:prstGeom prst="rect">
            <a:avLst/>
          </a:prstGeom>
          <a:solidFill>
            <a:srgbClr val="AD3D33"/>
          </a:solidFill>
          <a:ln>
            <a:solidFill>
              <a:srgbClr val="AD3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1399032"/>
            <a:ext cx="420624" cy="420624"/>
          </a:xfrm>
          <a:prstGeom prst="ellipse">
            <a:avLst/>
          </a:prstGeom>
          <a:solidFill>
            <a:srgbClr val="F2F8EF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26464"/>
            <a:ext cx="420624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AD3D33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2206" y="1399032"/>
            <a:ext cx="392789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AD3D33"/>
                </a:solidFill>
                <a:latin typeface="Aptos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01952"/>
            <a:ext cx="3813048" cy="373743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 transaction interpretation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Complex, year-dependent tax rules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Generic recommendations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Answers without clear legal evidence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uncertain or unsuitable tax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965960"/>
            <a:ext cx="1965960" cy="1965960"/>
          </a:xfrm>
          <a:prstGeom prst="round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2766059"/>
            <a:ext cx="1600200" cy="4031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rPr sz="1900">
                <a:latin typeface="Times New Roman" panose="02020603050405020304" pitchFamily="18" charset="0"/>
                <a:cs typeface="Times New Roman" panose="02020603050405020304" pitchFamily="18" charset="0"/>
              </a:rPr>
              <a:t>AI + RULES</a:t>
            </a:r>
          </a:p>
        </p:txBody>
      </p:sp>
      <p:sp>
        <p:nvSpPr>
          <p:cNvPr id="15" name="Chevron 14"/>
          <p:cNvSpPr/>
          <p:nvPr/>
        </p:nvSpPr>
        <p:spPr>
          <a:xfrm>
            <a:off x="7223760" y="2560320"/>
            <a:ext cx="594360" cy="777240"/>
          </a:xfrm>
          <a:prstGeom prst="chevron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01000" y="1234440"/>
            <a:ext cx="3657600" cy="49834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8001000" y="1234440"/>
            <a:ext cx="82296" cy="498348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02168" y="1399032"/>
            <a:ext cx="420624" cy="420624"/>
          </a:xfrm>
          <a:prstGeom prst="ellipse">
            <a:avLst/>
          </a:prstGeom>
          <a:solidFill>
            <a:srgbClr val="F2F8EF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2168" y="1426464"/>
            <a:ext cx="420624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25C3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1410224"/>
            <a:ext cx="3218688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01952"/>
            <a:ext cx="3218688" cy="43222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Classify financial transactions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Calculate tax using versioned rules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Rank eligible strategies by profile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Answer questions with cited legal sources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personalized, traceable decisions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24" name="Oval 23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8969" y="-50786"/>
            <a:ext cx="12191695" cy="1179576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Transaction Semantic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173736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39987" y="187452"/>
            <a:ext cx="530352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58727"/>
            <a:ext cx="10972800" cy="5314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400"/>
              </a:spcAft>
              <a:defRPr sz="1200" b="0" i="1">
                <a:solidFill>
                  <a:srgbClr val="647468"/>
                </a:solidFill>
                <a:latin typeface="Aptos"/>
              </a:defRPr>
            </a:pPr>
            <a:r>
              <a:rPr dirty="0"/>
              <a:t>Member A  •  IT22118936  •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Samarasinghe K.A.E.H.N</a:t>
            </a:r>
          </a:p>
          <a:p>
            <a:pPr>
              <a:spcAft>
                <a:spcPts val="400"/>
              </a:spcAft>
              <a:defRPr sz="1200" b="0" i="1">
                <a:solidFill>
                  <a:srgbClr val="647468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70197" y="1424441"/>
            <a:ext cx="7086600" cy="4526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82296" cy="452628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2299" y="1686574"/>
            <a:ext cx="6675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&amp; KEY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1"/>
            <a:ext cx="6647688" cy="308597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transaction descriptions from bank statements and income documents into structured, tax-relevant records.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Transaction category classification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Taxability flag generation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Inland Revenue reference association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Structured outputs for other components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 TF-IDF + Logistic Regression, XLM-</a:t>
            </a:r>
            <a:r>
              <a:rPr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multilingual </a:t>
            </a:r>
            <a:r>
              <a:rPr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611880"/>
            <a:ext cx="3474720" cy="2240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3611880"/>
            <a:ext cx="82296" cy="224028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3776472"/>
            <a:ext cx="306323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9BCC4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4142260"/>
            <a:ext cx="3035808" cy="17830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interpretation of raw transaction text and provides structured inputs for tax computation and advisory.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latest held-out F1 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20" name="Oval 19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C4AB2D3-EC2C-0E15-4222-0C87105ED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6661" y="-26304"/>
            <a:ext cx="1176425" cy="11764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BBD784A-66C1-FAC8-767C-7D7C5BE55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588" y="1341766"/>
            <a:ext cx="3356694" cy="195321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A20473A-47B4-385A-1EAE-233A778E8D9F}"/>
              </a:ext>
            </a:extLst>
          </p:cNvPr>
          <p:cNvSpPr txBox="1"/>
          <p:nvPr/>
        </p:nvSpPr>
        <p:spPr>
          <a:xfrm>
            <a:off x="11490282" y="5443708"/>
            <a:ext cx="530352" cy="21852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6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173C910-6EE0-DD27-97FD-DB989EF30AC3}"/>
              </a:ext>
            </a:extLst>
          </p:cNvPr>
          <p:cNvSpPr/>
          <p:nvPr/>
        </p:nvSpPr>
        <p:spPr>
          <a:xfrm>
            <a:off x="11490282" y="6131343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05</a:t>
            </a: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2388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Tax Strategy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6126480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58952" y="1070840"/>
            <a:ext cx="10972800" cy="5314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400"/>
              </a:spcAft>
              <a:defRPr sz="1200" b="0" i="1">
                <a:solidFill>
                  <a:srgbClr val="647468"/>
                </a:solidFill>
                <a:latin typeface="Aptos"/>
              </a:defRPr>
            </a:pPr>
            <a:r>
              <a:rPr dirty="0"/>
              <a:t>Member B  •  IT22064486</a:t>
            </a:r>
            <a:r>
              <a:rPr lang="en-GB" dirty="0"/>
              <a:t>  •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Chalanika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A.V</a:t>
            </a:r>
          </a:p>
          <a:p>
            <a:pPr algn="l">
              <a:spcAft>
                <a:spcPts val="400"/>
              </a:spcAft>
              <a:defRPr sz="1200" b="0" i="1">
                <a:solidFill>
                  <a:srgbClr val="647468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7086600" cy="4526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82296" cy="452628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490472"/>
            <a:ext cx="6675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OVERVIEW &amp; KEY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1"/>
            <a:ext cx="6647688" cy="33988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Sri Lankan income tax using assessment-year-specific rules and provides explanations supported by legal evidence.</a:t>
            </a:r>
          </a:p>
          <a:p>
            <a:pPr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RAG-based retrieval of Inland Revenue Act passages</a:t>
            </a:r>
          </a:p>
          <a:p>
            <a:pPr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GPT-4o tax-rule extraction with quote-gate verification</a:t>
            </a:r>
          </a:p>
          <a:p>
            <a:pPr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Year-specific rules for reliefs, rates and limits</a:t>
            </a:r>
          </a:p>
          <a:p>
            <a:pPr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Deterministic Python tax calculation</a:t>
            </a:r>
          </a:p>
          <a:p>
            <a:pPr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Explainable results linked to relevant legal provisions</a:t>
            </a:r>
          </a:p>
          <a:p>
            <a:pPr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Technologies: Python, </a:t>
            </a:r>
            <a:r>
              <a:rPr lang="en-GB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PostgreSQL, OpenAI GPT-4o and text-embedding-3-small.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92440" y="3611880"/>
            <a:ext cx="3474720" cy="2240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092440" y="3611880"/>
            <a:ext cx="82296" cy="224028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3776472"/>
            <a:ext cx="306323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9BCC4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DESIGN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1737" y="4160520"/>
            <a:ext cx="3336571" cy="14188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rule engine calculates taxes, while RAG retrieves legal evidence. GPT-4o extracts tax rules, which are verified through a quote gate and human review before approval.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20" name="Oval 19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72BADE9-F888-590E-D27A-49B3BA668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517" y="1287382"/>
            <a:ext cx="3659659" cy="212950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C41BE33-D4CD-7CD5-D7FD-E8B4DACA5DBF}"/>
              </a:ext>
            </a:extLst>
          </p:cNvPr>
          <p:cNvSpPr txBox="1"/>
          <p:nvPr/>
        </p:nvSpPr>
        <p:spPr>
          <a:xfrm>
            <a:off x="11564874" y="6194551"/>
            <a:ext cx="530352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06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7D281EC-B21E-C27D-E40B-F762E00A0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714" y="0"/>
            <a:ext cx="1092388" cy="10923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1695" cy="10561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Tax Advisory Language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9698" y="6007608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74552" y="6091730"/>
            <a:ext cx="530352" cy="21852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2668" y="1056131"/>
            <a:ext cx="109728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 i="1">
                <a:solidFill>
                  <a:srgbClr val="647468"/>
                </a:solidFill>
                <a:latin typeface="Aptos"/>
              </a:defRPr>
            </a:pPr>
            <a:r>
              <a:t>Member C  •  IT22896186  •  Hewagama S.R.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7086600" cy="4526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82296" cy="452628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490472"/>
            <a:ext cx="6675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&amp; KEY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1"/>
            <a:ext cx="6647688" cy="251145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 tax questions in natural language, including informal Sinhala-English, using retrieved Inland Revenue material.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Query intent classification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Retrieval and legal-source reranking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Grounded natural-language answers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Think Twice checks for supported figures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Proof Map connecting answers to legal sections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611880"/>
            <a:ext cx="3474720" cy="2240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3611880"/>
            <a:ext cx="82296" cy="224028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3776472"/>
            <a:ext cx="306323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9BCC4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79392"/>
            <a:ext cx="3035808" cy="115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traceability by showing supporting legal passages and validation results instead of relying on fluent text alone.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20" name="Oval 19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62C371C-0E35-A9D1-E004-9D81A25B8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409" y="1333331"/>
            <a:ext cx="4028495" cy="203897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08FC618-B2ED-7857-DA96-48A72EC6E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252" y="-1"/>
            <a:ext cx="1031747" cy="10704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1695" cy="1018197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0994"/>
            <a:ext cx="12130887" cy="45719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 &amp; Predictive Impact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Modeling Engine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507230" y="6085332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80292" y="6188978"/>
            <a:ext cx="530352" cy="21852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2668" y="1082205"/>
            <a:ext cx="109728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 i="1">
                <a:solidFill>
                  <a:srgbClr val="647468"/>
                </a:solidFill>
                <a:latin typeface="Aptos"/>
              </a:defRPr>
            </a:pPr>
            <a:r>
              <a:rPr dirty="0"/>
              <a:t>Member D  •  IT22238580  •  Pihillegedara S.N.M.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7086600" cy="4526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82296" cy="452628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490472"/>
            <a:ext cx="6675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OVERVIEW &amp; KEY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1"/>
            <a:ext cx="6647688" cy="33988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Ranks eligible tax-saving strategies for each taxpayer based on their financial profile.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Strategy ranking by tax fit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Feasibility and risk assessment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Adoption likelihood estimation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SHAP-based explanations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Monte Carlo outcome ranges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LambdaMART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adoption classifier, SHAP and Monte Carlo simulation.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611880"/>
            <a:ext cx="3474720" cy="2240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3611880"/>
            <a:ext cx="82296" cy="224028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3776472"/>
            <a:ext cx="306323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9BCC4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79392"/>
            <a:ext cx="3035808" cy="14188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taxpayers compare strategies using personal priorities and a range of potential outcomes, not one falsely precise forecast.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20" name="Oval 19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8E63EE9-2F79-E9B7-9F11-29E887DDF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251" y="-19791"/>
            <a:ext cx="1011233" cy="11465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7BCD5F8-AC5B-F09B-47DA-A8791BF4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374813"/>
            <a:ext cx="3146476" cy="18452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173736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30352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280160"/>
            <a:ext cx="3383280" cy="1828800"/>
          </a:xfrm>
          <a:prstGeom prst="round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66759" y="2011679"/>
            <a:ext cx="301752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 PLATFORM FOR TAX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80160"/>
            <a:ext cx="3520440" cy="448056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1280160"/>
            <a:ext cx="82296" cy="448056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1"/>
            <a:ext cx="3108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47672"/>
            <a:ext cx="3081528" cy="28756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Individual taxpayers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Salaried employees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Self-employed professionals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Small business owners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6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Tax consultants and accountants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520440" cy="448056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82296" cy="448056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444751"/>
            <a:ext cx="3108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9BCC4D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947672"/>
            <a:ext cx="3081528" cy="22498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service combining: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• Transaction analysis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• Tax computation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Personalized strategies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• Future-impact projections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• Grounded tax Q&amp;A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3337560"/>
            <a:ext cx="3383280" cy="242316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3337560"/>
            <a:ext cx="82296" cy="242316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3502152"/>
            <a:ext cx="2971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POTENTIAL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005072"/>
            <a:ext cx="2944368" cy="18856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Free basic guidance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Premium personalized features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plans for practitioners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endParaRPr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Pricing requires validation.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24" name="Oval 23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173736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30352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24" name="Oval 23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A9E57E2-C2ED-3297-F659-EB389698F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739" y="231505"/>
            <a:ext cx="4701549" cy="61153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&amp;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173736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30352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3" y="1211580"/>
            <a:ext cx="3474720" cy="4526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" y="1444751"/>
            <a:ext cx="3063239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59" y="2218181"/>
            <a:ext cx="3035808" cy="193694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actual screenshots of: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Taxpayer profile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Tax computation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Eligible strategies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Tax question and Proof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827" y="1280160"/>
            <a:ext cx="3474720" cy="452628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444751"/>
            <a:ext cx="306323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9BCC4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TESTING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47672"/>
            <a:ext cx="3035808" cy="21985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genuine outputs: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Rule-engine test cases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Transaction classification results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Recommendation examples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Retrieval and answer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474720"/>
            <a:ext cx="3520440" cy="233172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3474720"/>
            <a:ext cx="82296" cy="233172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3639312"/>
            <a:ext cx="3108960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/ EXPERT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13253"/>
            <a:ext cx="3081528" cy="115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 feedback with permission. If external evaluation has not been conducted, state that clearly.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24" name="Oval 23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0859"/>
            <a:ext cx="10561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173736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30352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257800" cy="123444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73152" cy="123444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219456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64746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Recall@8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1508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25C37"/>
                </a:solidFill>
                <a:latin typeface="Aptos"/>
              </a:defRPr>
            </a:pPr>
            <a:r>
              <a:t>0.91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709928"/>
            <a:ext cx="306324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with Lex Specialis reranking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257800" cy="123444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73152" cy="123444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371600"/>
            <a:ext cx="219456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64746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1508760" cy="5262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25C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0.74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09928"/>
            <a:ext cx="306324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with reranking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97480"/>
            <a:ext cx="5257800" cy="123444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73152" cy="123444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2834640"/>
            <a:ext cx="219456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647468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Intent macro-F1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54680"/>
            <a:ext cx="1508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25C37"/>
                </a:solidFill>
                <a:latin typeface="Aptos"/>
              </a:defRPr>
            </a:pPr>
            <a:r>
              <a:t>0.82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172968"/>
            <a:ext cx="306324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eight intent classes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697480"/>
            <a:ext cx="5257800" cy="123444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63640" y="2697480"/>
            <a:ext cx="73152" cy="123444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834640"/>
            <a:ext cx="219456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64746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Twice precision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54680"/>
            <a:ext cx="1508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25C37"/>
                </a:solidFill>
                <a:latin typeface="Aptos"/>
              </a:defRPr>
            </a:pPr>
            <a:r>
              <a:t>0.975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172968"/>
            <a:ext cx="306324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4342A"/>
                </a:solidFill>
                <a:latin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40-item adversarial 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89120"/>
            <a:ext cx="5257800" cy="141732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0080" y="4389120"/>
            <a:ext cx="82296" cy="141732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553712"/>
            <a:ext cx="48463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25C37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56631"/>
            <a:ext cx="4818888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30% without retrieval  →  10% with retrieval  →  5% with retrieval + Think Twice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389120"/>
            <a:ext cx="5257800" cy="1417320"/>
          </a:xfrm>
          <a:prstGeom prst="roundRect">
            <a:avLst/>
          </a:prstGeom>
          <a:solidFill>
            <a:srgbClr val="FFFEF8"/>
          </a:solidFill>
          <a:ln>
            <a:solidFill>
              <a:srgbClr val="D4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172200" y="4389120"/>
            <a:ext cx="82296" cy="1417320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553712"/>
            <a:ext cx="48463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9BCC4D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OTHER COMPONENTS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056631"/>
            <a:ext cx="4818888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Add actual transaction F1, rule-engine pass/fail counts and independent ranking evaluation.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989320"/>
            <a:ext cx="10972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 i="1">
                <a:solidFill>
                  <a:srgbClr val="647468"/>
                </a:solidFill>
                <a:latin typeface="Aptos"/>
              </a:defRPr>
            </a:pPr>
            <a:r>
              <a:t>Evaluation notes: 55 retrieval queries; Think Twice precision measured on 40 adversarial items. Verify before presenting.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39" name="Oval 38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3165"/>
            <a:ext cx="10561320" cy="51090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sz="2500" dirty="0"/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201400" y="173736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30352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6698" y="1606799"/>
            <a:ext cx="9514702" cy="332706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Limitations: 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availability of labelled real-world transaction and taxpayer data affects model evaluation.</a:t>
            </a:r>
          </a:p>
          <a:p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Coverage: 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rules and reliefs must be maintained as Sri Lankan tax legislation changes.</a:t>
            </a:r>
          </a:p>
          <a:p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Reliability: 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adoption and future tax-saving outcomes require further validation.</a:t>
            </a:r>
          </a:p>
          <a:p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Accuracy: 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legal references and generated explanations need continuous verification.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24342A"/>
                </a:solidFill>
                <a:latin typeface="Aptos"/>
              </a:defRPr>
            </a:pP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19" name="Oval 18"/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E844C-AD49-F351-5373-CA16542C5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8DCE76-0790-F86F-57A3-56FAEAFD2ECD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Future Improvements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7DAD3F-3F7F-5C3B-1665-2332C2A13A67}"/>
              </a:ext>
            </a:extLst>
          </p:cNvPr>
          <p:cNvSpPr/>
          <p:nvPr/>
        </p:nvSpPr>
        <p:spPr>
          <a:xfrm>
            <a:off x="0" y="850392"/>
            <a:ext cx="12191695" cy="41148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0165ED-13E0-A8B2-DF05-C864158F0FF8}"/>
              </a:ext>
            </a:extLst>
          </p:cNvPr>
          <p:cNvSpPr/>
          <p:nvPr/>
        </p:nvSpPr>
        <p:spPr>
          <a:xfrm>
            <a:off x="11201400" y="173736"/>
            <a:ext cx="530352" cy="420624"/>
          </a:xfrm>
          <a:prstGeom prst="roundRect">
            <a:avLst/>
          </a:prstGeom>
          <a:solidFill>
            <a:srgbClr val="287D49"/>
          </a:solidFill>
          <a:ln>
            <a:solidFill>
              <a:srgbClr val="287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C3F59-C544-80F7-561C-45CAAEF7E767}"/>
              </a:ext>
            </a:extLst>
          </p:cNvPr>
          <p:cNvSpPr txBox="1"/>
          <p:nvPr/>
        </p:nvSpPr>
        <p:spPr>
          <a:xfrm>
            <a:off x="11201400" y="238211"/>
            <a:ext cx="530352" cy="21852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A5AA33-B2B2-2C76-F6F0-39BB584CD897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2BCDA7-64B9-C0C9-5BB0-F9DAE28DC1CC}"/>
              </a:ext>
            </a:extLst>
          </p:cNvPr>
          <p:cNvSpPr txBox="1"/>
          <p:nvPr/>
        </p:nvSpPr>
        <p:spPr>
          <a:xfrm>
            <a:off x="411480" y="6611112"/>
            <a:ext cx="112471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CFA1860-9DD6-3468-4688-1A02777516C1}"/>
              </a:ext>
            </a:extLst>
          </p:cNvPr>
          <p:cNvSpPr/>
          <p:nvPr/>
        </p:nvSpPr>
        <p:spPr>
          <a:xfrm>
            <a:off x="11384280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1706156-8FA8-3B57-E377-2E79EECA32CA}"/>
              </a:ext>
            </a:extLst>
          </p:cNvPr>
          <p:cNvSpPr/>
          <p:nvPr/>
        </p:nvSpPr>
        <p:spPr>
          <a:xfrm>
            <a:off x="11539728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51F56E-88D7-40DB-3AA7-F3FB58DEF777}"/>
              </a:ext>
            </a:extLst>
          </p:cNvPr>
          <p:cNvSpPr/>
          <p:nvPr/>
        </p:nvSpPr>
        <p:spPr>
          <a:xfrm>
            <a:off x="11695176" y="6661404"/>
            <a:ext cx="50292" cy="50292"/>
          </a:xfrm>
          <a:prstGeom prst="ellipse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DA00F-B4FA-1836-3D5C-662B8280540E}"/>
              </a:ext>
            </a:extLst>
          </p:cNvPr>
          <p:cNvSpPr txBox="1"/>
          <p:nvPr/>
        </p:nvSpPr>
        <p:spPr>
          <a:xfrm>
            <a:off x="1025611" y="1188720"/>
            <a:ext cx="1071985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Validation: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tax auditors and professionals to validate real-world tax cases.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Datasets: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transaction datasets and obtain verified taxpayer examples with appropriate consent.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Tax Rules: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coverage across assessment years and automate rule-update verification.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Personalization: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recommendation rankings and adoption predictions using real user feedback.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Explainability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Improve legal citation verification and ensure responses remain consistent with authoritative sources.</a:t>
            </a:r>
          </a:p>
        </p:txBody>
      </p:sp>
    </p:spTree>
    <p:extLst>
      <p:ext uri="{BB962C8B-B14F-4D97-AF65-F5344CB8AC3E}">
        <p14:creationId xmlns:p14="http://schemas.microsoft.com/office/powerpoint/2010/main" val="1713681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92F1F"/>
          </a:solidFill>
          <a:ln>
            <a:solidFill>
              <a:srgbClr val="092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5C37"/>
          </a:solidFill>
          <a:ln>
            <a:solidFill>
              <a:srgbClr val="125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4864"/>
          </a:xfrm>
          <a:prstGeom prst="rect">
            <a:avLst/>
          </a:prstGeom>
          <a:solidFill>
            <a:srgbClr val="9BCC4D"/>
          </a:solidFill>
          <a:ln>
            <a:solidFill>
              <a:srgbClr val="9B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0" y="2568309"/>
            <a:ext cx="6400800" cy="103412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Aptos"/>
              </a:defRPr>
            </a:pPr>
            <a:r>
              <a:rPr sz="6000" dirty="0"/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5029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DCEBDE"/>
                </a:solidFill>
                <a:latin typeface="Aptos"/>
              </a:defRPr>
            </a:pPr>
            <a:r>
              <a:t>R26-DS-004  •  SLIIT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5806440"/>
            <a:ext cx="548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731</TotalTime>
  <Words>1044</Words>
  <Application>Microsoft Macintosh PowerPoint</Application>
  <PresentationFormat>Widescreen</PresentationFormat>
  <Paragraphs>228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Franklin Gothic Book</vt:lpstr>
      <vt:lpstr>Times New Roman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Supuni Pihillegedara</cp:lastModifiedBy>
  <cp:revision>3</cp:revision>
  <dcterms:created xsi:type="dcterms:W3CDTF">2013-01-27T09:14:16Z</dcterms:created>
  <dcterms:modified xsi:type="dcterms:W3CDTF">2026-10-18T19:12:55Z</dcterms:modified>
  <cp:category/>
</cp:coreProperties>
</file>